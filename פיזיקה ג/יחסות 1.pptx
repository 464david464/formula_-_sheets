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04"/>
  </p:notesMasterIdLst>
  <p:sldIdLst>
    <p:sldId id="256" r:id="rId2"/>
    <p:sldId id="291" r:id="rId3"/>
    <p:sldId id="327" r:id="rId4"/>
    <p:sldId id="361" r:id="rId5"/>
    <p:sldId id="362" r:id="rId6"/>
    <p:sldId id="364" r:id="rId7"/>
    <p:sldId id="363" r:id="rId8"/>
    <p:sldId id="365" r:id="rId9"/>
    <p:sldId id="292" r:id="rId10"/>
    <p:sldId id="366" r:id="rId11"/>
    <p:sldId id="257" r:id="rId12"/>
    <p:sldId id="367" r:id="rId13"/>
    <p:sldId id="368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369" r:id="rId26"/>
    <p:sldId id="370" r:id="rId27"/>
    <p:sldId id="371" r:id="rId28"/>
    <p:sldId id="269" r:id="rId29"/>
    <p:sldId id="270" r:id="rId30"/>
    <p:sldId id="372" r:id="rId31"/>
    <p:sldId id="373" r:id="rId32"/>
    <p:sldId id="271" r:id="rId33"/>
    <p:sldId id="374" r:id="rId34"/>
    <p:sldId id="375" r:id="rId35"/>
    <p:sldId id="272" r:id="rId36"/>
    <p:sldId id="376" r:id="rId37"/>
    <p:sldId id="273" r:id="rId38"/>
    <p:sldId id="274" r:id="rId39"/>
    <p:sldId id="275" r:id="rId40"/>
    <p:sldId id="377" r:id="rId41"/>
    <p:sldId id="276" r:id="rId42"/>
    <p:sldId id="378" r:id="rId43"/>
    <p:sldId id="293" r:id="rId44"/>
    <p:sldId id="277" r:id="rId45"/>
    <p:sldId id="379" r:id="rId46"/>
    <p:sldId id="278" r:id="rId47"/>
    <p:sldId id="279" r:id="rId48"/>
    <p:sldId id="280" r:id="rId49"/>
    <p:sldId id="281" r:id="rId50"/>
    <p:sldId id="282" r:id="rId51"/>
    <p:sldId id="284" r:id="rId52"/>
    <p:sldId id="285" r:id="rId53"/>
    <p:sldId id="286" r:id="rId54"/>
    <p:sldId id="287" r:id="rId55"/>
    <p:sldId id="381" r:id="rId56"/>
    <p:sldId id="382" r:id="rId57"/>
    <p:sldId id="380" r:id="rId58"/>
    <p:sldId id="288" r:id="rId59"/>
    <p:sldId id="289" r:id="rId60"/>
    <p:sldId id="294" r:id="rId61"/>
    <p:sldId id="383" r:id="rId62"/>
    <p:sldId id="384" r:id="rId63"/>
    <p:sldId id="295" r:id="rId64"/>
    <p:sldId id="296" r:id="rId65"/>
    <p:sldId id="298" r:id="rId66"/>
    <p:sldId id="297" r:id="rId67"/>
    <p:sldId id="385" r:id="rId68"/>
    <p:sldId id="354" r:id="rId69"/>
    <p:sldId id="299" r:id="rId70"/>
    <p:sldId id="386" r:id="rId71"/>
    <p:sldId id="355" r:id="rId72"/>
    <p:sldId id="300" r:id="rId73"/>
    <p:sldId id="301" r:id="rId74"/>
    <p:sldId id="304" r:id="rId75"/>
    <p:sldId id="302" r:id="rId76"/>
    <p:sldId id="303" r:id="rId77"/>
    <p:sldId id="387" r:id="rId78"/>
    <p:sldId id="305" r:id="rId79"/>
    <p:sldId id="307" r:id="rId80"/>
    <p:sldId id="388" r:id="rId81"/>
    <p:sldId id="308" r:id="rId82"/>
    <p:sldId id="309" r:id="rId83"/>
    <p:sldId id="310" r:id="rId84"/>
    <p:sldId id="311" r:id="rId85"/>
    <p:sldId id="315" r:id="rId86"/>
    <p:sldId id="313" r:id="rId87"/>
    <p:sldId id="314" r:id="rId88"/>
    <p:sldId id="316" r:id="rId89"/>
    <p:sldId id="317" r:id="rId90"/>
    <p:sldId id="318" r:id="rId91"/>
    <p:sldId id="319" r:id="rId92"/>
    <p:sldId id="321" r:id="rId93"/>
    <p:sldId id="320" r:id="rId94"/>
    <p:sldId id="323" r:id="rId95"/>
    <p:sldId id="290" r:id="rId96"/>
    <p:sldId id="389" r:id="rId97"/>
    <p:sldId id="390" r:id="rId98"/>
    <p:sldId id="391" r:id="rId99"/>
    <p:sldId id="392" r:id="rId100"/>
    <p:sldId id="324" r:id="rId101"/>
    <p:sldId id="325" r:id="rId102"/>
    <p:sldId id="393" r:id="rId103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483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8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0406B61B-609E-48C2-B3B7-59EE47678FE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US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FF3BDF17-F784-4E5C-A190-AD7D66C22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949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38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CD1BD-AFE9-04F4-830C-CED501D79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5FC3E386-A241-7977-C007-5D1A5730B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96A4230E-7F29-3CF6-021C-65868F85E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FD85931-7B06-D439-26DA-7948F05C1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890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CD1BD-AFE9-04F4-830C-CED501D79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5FC3E386-A241-7977-C007-5D1A5730B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96A4230E-7F29-3CF6-021C-65868F85E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FD85931-7B06-D439-26DA-7948F05C1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059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CD1BD-AFE9-04F4-830C-CED501D79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5FC3E386-A241-7977-C007-5D1A5730B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96A4230E-7F29-3CF6-021C-65868F85E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FD85931-7B06-D439-26DA-7948F05C1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73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CD1BD-AFE9-04F4-830C-CED501D79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5FC3E386-A241-7977-C007-5D1A5730B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96A4230E-7F29-3CF6-021C-65868F85E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FD85931-7B06-D439-26DA-7948F05C1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260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CD1BD-AFE9-04F4-830C-CED501D79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5FC3E386-A241-7977-C007-5D1A5730B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96A4230E-7F29-3CF6-021C-65868F85E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FD85931-7B06-D439-26DA-7948F05C1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786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CD1BD-AFE9-04F4-830C-CED501D79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5FC3E386-A241-7977-C007-5D1A5730B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96A4230E-7F29-3CF6-021C-65868F85E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FD85931-7B06-D439-26DA-7948F05C1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41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543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6735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4162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8969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B6D30-B15E-8B93-9481-8E0122B27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90685F2B-07E1-2F30-8610-5BC0B9F650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EF6C3C00-F136-04D7-84EE-BD2FCA44F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0F4BC9CA-7FB7-E688-1C1A-A16245855A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55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9367-D13A-2EB4-476C-5E1D0EA4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63DA929-A89E-48ED-0BAD-123FF801E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D58FF8A-C3C6-BE66-5F8E-FA07B447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37D6610-C14F-EEF5-46AF-C329492C4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846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9367-D13A-2EB4-476C-5E1D0EA4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63DA929-A89E-48ED-0BAD-123FF801E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D58FF8A-C3C6-BE66-5F8E-FA07B447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37D6610-C14F-EEF5-46AF-C329492C4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133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9367-D13A-2EB4-476C-5E1D0EA4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63DA929-A89E-48ED-0BAD-123FF801E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D58FF8A-C3C6-BE66-5F8E-FA07B447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37D6610-C14F-EEF5-46AF-C329492C4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7474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9367-D13A-2EB4-476C-5E1D0EA4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63DA929-A89E-48ED-0BAD-123FF801E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D58FF8A-C3C6-BE66-5F8E-FA07B447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37D6610-C14F-EEF5-46AF-C329492C4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4003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9367-D13A-2EB4-476C-5E1D0EA4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63DA929-A89E-48ED-0BAD-123FF801E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D58FF8A-C3C6-BE66-5F8E-FA07B447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37D6610-C14F-EEF5-46AF-C329492C4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240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9367-D13A-2EB4-476C-5E1D0EA4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63DA929-A89E-48ED-0BAD-123FF801E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D58FF8A-C3C6-BE66-5F8E-FA07B447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37D6610-C14F-EEF5-46AF-C329492C4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977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9367-D13A-2EB4-476C-5E1D0EA4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63DA929-A89E-48ED-0BAD-123FF801E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D58FF8A-C3C6-BE66-5F8E-FA07B447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37D6610-C14F-EEF5-46AF-C329492C4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2036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9367-D13A-2EB4-476C-5E1D0EA4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63DA929-A89E-48ED-0BAD-123FF801E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D58FF8A-C3C6-BE66-5F8E-FA07B447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37D6610-C14F-EEF5-46AF-C329492C4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2494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9367-D13A-2EB4-476C-5E1D0EA4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63DA929-A89E-48ED-0BAD-123FF801E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D58FF8A-C3C6-BE66-5F8E-FA07B447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37D6610-C14F-EEF5-46AF-C329492C4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2773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DA65C-4560-55DB-869E-FE33FE803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0340B49-C605-6502-E1D7-DEB0FA737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22A89735-2A31-831C-93C9-E3B91DE94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00E3292-0563-2573-6FBE-8A72EACC3B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0594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9367-D13A-2EB4-476C-5E1D0EA4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63DA929-A89E-48ED-0BAD-123FF801E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D58FF8A-C3C6-BE66-5F8E-FA07B447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37D6610-C14F-EEF5-46AF-C329492C4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317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9367-D13A-2EB4-476C-5E1D0EA4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63DA929-A89E-48ED-0BAD-123FF801E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D58FF8A-C3C6-BE66-5F8E-FA07B447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37D6610-C14F-EEF5-46AF-C329492C4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239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C0CAD-C889-5D6C-904A-7DF53A747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0813F8D4-991E-8D95-68EE-C8D786194C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A1BB0B52-4465-400C-5C8D-09A70C15E8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9F8B8FA-264E-016E-C452-010DA86B1C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514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9367-D13A-2EB4-476C-5E1D0EA4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63DA929-A89E-48ED-0BAD-123FF801E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D58FF8A-C3C6-BE66-5F8E-FA07B447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37D6610-C14F-EEF5-46AF-C329492C4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434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9367-D13A-2EB4-476C-5E1D0EA4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63DA929-A89E-48ED-0BAD-123FF801E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D58FF8A-C3C6-BE66-5F8E-FA07B447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37D6610-C14F-EEF5-46AF-C329492C4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3654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9367-D13A-2EB4-476C-5E1D0EA4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63DA929-A89E-48ED-0BAD-123FF801E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D58FF8A-C3C6-BE66-5F8E-FA07B447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37D6610-C14F-EEF5-46AF-C329492C4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8983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9367-D13A-2EB4-476C-5E1D0EA4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63DA929-A89E-48ED-0BAD-123FF801E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D58FF8A-C3C6-BE66-5F8E-FA07B447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37D6610-C14F-EEF5-46AF-C329492C4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628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9367-D13A-2EB4-476C-5E1D0EA4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63DA929-A89E-48ED-0BAD-123FF801E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D58FF8A-C3C6-BE66-5F8E-FA07B447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37D6610-C14F-EEF5-46AF-C329492C4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795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9367-D13A-2EB4-476C-5E1D0EA4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63DA929-A89E-48ED-0BAD-123FF801E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D58FF8A-C3C6-BE66-5F8E-FA07B447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37D6610-C14F-EEF5-46AF-C329492C4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3805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9367-D13A-2EB4-476C-5E1D0EA4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63DA929-A89E-48ED-0BAD-123FF801E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D58FF8A-C3C6-BE66-5F8E-FA07B447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37D6610-C14F-EEF5-46AF-C329492C4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3963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9367-D13A-2EB4-476C-5E1D0EA4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63DA929-A89E-48ED-0BAD-123FF801E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D58FF8A-C3C6-BE66-5F8E-FA07B447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37D6610-C14F-EEF5-46AF-C329492C4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5108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9367-D13A-2EB4-476C-5E1D0EA4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63DA929-A89E-48ED-0BAD-123FF801E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D58FF8A-C3C6-BE66-5F8E-FA07B447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37D6610-C14F-EEF5-46AF-C329492C4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0548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9367-D13A-2EB4-476C-5E1D0EA4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63DA929-A89E-48ED-0BAD-123FF801E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D58FF8A-C3C6-BE66-5F8E-FA07B447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37D6610-C14F-EEF5-46AF-C329492C4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5521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9367-D13A-2EB4-476C-5E1D0EA4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63DA929-A89E-48ED-0BAD-123FF801E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D58FF8A-C3C6-BE66-5F8E-FA07B447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37D6610-C14F-EEF5-46AF-C329492C4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8139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9367-D13A-2EB4-476C-5E1D0EA4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63DA929-A89E-48ED-0BAD-123FF801E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D58FF8A-C3C6-BE66-5F8E-FA07B447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37D6610-C14F-EEF5-46AF-C329492C4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2204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BDF17-F784-4E5C-A190-AD7D66C22A29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59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F1881B5-01E8-3DDF-4FD7-46EEC2F8C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176BDEA2-73E6-EAC4-8EE2-58ED78CE6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30D2CB7-6943-D536-9A03-922490B96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C7D4A-F8DA-4B0C-A30B-14562CF9DFAC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5F03719-4ECD-83F4-C0B4-EB23A8AEC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A8E6EF9-1352-04F8-1F27-3A5233DF0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2B59-57D0-412A-8A62-672670F92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174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B0F4B61-CC26-50A2-E38D-DCEA37BCD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5959F17-7FD6-A6BE-A14E-7323C30D8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43E0B72-F261-25E5-8F51-63F6D90A0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C7D4A-F8DA-4B0C-A30B-14562CF9DFAC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325896E-35AB-902E-FAE6-9C28E750D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E4A9825-F80F-B935-4041-9414D3ADD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2B59-57D0-412A-8A62-672670F92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6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8BB3B17-948C-759A-4DBA-EE1BAD1DB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F59A2A1-F618-4B81-7A0B-F283CF92D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DB3D3F1-4626-8CB0-0169-C3F86161D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C7D4A-F8DA-4B0C-A30B-14562CF9DFAC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84BF664-F60D-B929-E9E3-06F242020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D81615C-0051-6958-8730-D3F2F0B5C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2B59-57D0-412A-8A62-672670F92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026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184F415-368B-BF21-7E74-8C3BA028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CAA8BCB-2706-E9B6-06EA-98338C0D12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C42C6C6-D071-8E59-7E61-7B8A56D22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FF6DD93-AF86-7936-635C-79C57BB00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C7D4A-F8DA-4B0C-A30B-14562CF9DFAC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DF9BA12-276B-CF6F-98E8-57F7412E0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BBEE81F-2273-F2E4-3B57-7698454B0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2B59-57D0-412A-8A62-672670F92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419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42587ED-937D-259B-17D9-493FDDFF4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5291FF2-EC1C-8C18-B3A8-2F5217DB9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6770214F-72A6-5AA0-2BD0-85495AC172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92FF9E63-CE29-E180-B6CB-2AC9519B28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A28302B7-7C47-E57C-121E-C370A2EDDC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3E957208-43C3-CA7B-BCF1-B60F33426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C7D4A-F8DA-4B0C-A30B-14562CF9DFAC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5AD4DF14-A8EA-294A-4145-43FC0F045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99845CB2-2F4F-E25D-B85A-E71E6C757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2B59-57D0-412A-8A62-672670F92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658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C8EB1E7-8503-35A0-8702-C4711FB88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51544CAB-7C89-0630-BBAE-0837BAFA9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C7D4A-F8DA-4B0C-A30B-14562CF9DFAC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2CE8E506-A472-F415-DD55-21409E5BB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943CCAF8-AFB6-075E-686C-0F110453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2B59-57D0-412A-8A62-672670F92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814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82A1F6C7-E073-21D9-7511-85B11563B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C7D4A-F8DA-4B0C-A30B-14562CF9DFAC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56FB3A3C-C3D1-F0AF-C19D-2D4F4F598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0E06CCFD-11FA-520A-C3A5-7FD5C9405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2B59-57D0-412A-8A62-672670F92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530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8079F71-0C16-ADAC-1C08-EA277327B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A24E635-6013-4E3F-9264-224EFBE13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A7A56F2-AA7B-B5A3-BA95-49C503091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119DF10-7E1D-81B7-39E2-0747313E7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C7D4A-F8DA-4B0C-A30B-14562CF9DFAC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1325785-1760-05A9-AC5A-84F05663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6B2517F-BDD0-D24F-29B1-A48495541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2B59-57D0-412A-8A62-672670F92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48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4100B5D-C435-C7B3-4DB0-210949517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90737677-259D-384D-8736-26F422579A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E3DB6AD-15F3-AB8A-C63A-E8DDA59BE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7808FA8-76FE-9FF7-2CB6-076315C2E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C7D4A-F8DA-4B0C-A30B-14562CF9DFAC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AD10FBC-F4E5-863A-FA34-7C7527C9A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C73CDB5-F9BC-4600-65EF-D04C6CDF3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2B59-57D0-412A-8A62-672670F92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17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DE6B9C8-3044-CD68-F4E1-23F5EF4D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FA9C156E-5D04-29A0-A313-C0D10577D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09D3517-B7D8-48D5-C61C-816D0B460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C7D4A-F8DA-4B0C-A30B-14562CF9DFAC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8EFE18C-DE98-07EF-BF3D-016888B84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A995C73-7A78-393C-0254-2598BCEA5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2B59-57D0-412A-8A62-672670F92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397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83A8C71F-F0A5-0772-8EB4-9D7A6C0592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F9B43246-CD5D-9704-0DD7-90590ECDB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F003569-17A1-56B2-79BE-B43880B80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C7D4A-F8DA-4B0C-A30B-14562CF9DFAC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52FAB96-EF53-7501-8202-A5DDF4636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1E9AA86-528F-111C-B236-4ADDC8FD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2B59-57D0-412A-8A62-672670F92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958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4740FCC3-52F6-ABE4-E8EF-F93E1D534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04B0C92-8046-66F5-AD3A-018C82F2F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6E31CB4-8B0A-5E50-AB9A-84AED613D6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EC7D4A-F8DA-4B0C-A30B-14562CF9DFAC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DA63B2E-288B-BB84-9702-06C94B17E2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20F9DB2-7A38-831D-B257-BCCB250686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E82B59-57D0-412A-8A62-672670F92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135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3.png"/><Relationship Id="rId4" Type="http://schemas.openxmlformats.org/officeDocument/2006/relationships/image" Target="../media/image3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3.png"/><Relationship Id="rId4" Type="http://schemas.openxmlformats.org/officeDocument/2006/relationships/image" Target="../media/image3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40.png"/><Relationship Id="rId4" Type="http://schemas.openxmlformats.org/officeDocument/2006/relationships/image" Target="../media/image2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40.png"/><Relationship Id="rId4" Type="http://schemas.openxmlformats.org/officeDocument/2006/relationships/image" Target="../media/image2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40.png"/><Relationship Id="rId4" Type="http://schemas.openxmlformats.org/officeDocument/2006/relationships/image" Target="../media/image2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40.png"/><Relationship Id="rId4" Type="http://schemas.openxmlformats.org/officeDocument/2006/relationships/image" Target="../media/image2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40.png"/><Relationship Id="rId4" Type="http://schemas.openxmlformats.org/officeDocument/2006/relationships/image" Target="../media/image2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40.png"/><Relationship Id="rId4" Type="http://schemas.openxmlformats.org/officeDocument/2006/relationships/image" Target="../media/image25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965A0DF-FB34-458E-698F-A14CCB9EFB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 smtClean="0"/>
              <a:t>שיעור 1 יחסות פרטית </a:t>
            </a:r>
            <a:endParaRPr lang="en-US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DACFF6DE-9807-BEE5-B89D-A62E3A2F2D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379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9DAE3-9E32-21BD-B234-E29146F57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8AC3A12-7CB7-430E-FF63-9C9AD160E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מדידת מהירות האור ע"י </a:t>
            </a:r>
            <a:r>
              <a:rPr lang="he-IL" dirty="0" err="1">
                <a:cs typeface="+mn-cs"/>
              </a:rPr>
              <a:t>רומר</a:t>
            </a:r>
            <a:r>
              <a:rPr lang="he-IL" dirty="0">
                <a:cs typeface="+mn-cs"/>
              </a:rPr>
              <a:t> (1675)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62A9FDBC-1A68-8560-00D7-718E192689ED}"/>
                  </a:ext>
                </a:extLst>
              </p:cNvPr>
              <p:cNvSpPr/>
              <p:nvPr/>
            </p:nvSpPr>
            <p:spPr>
              <a:xfrm>
                <a:off x="4600756" y="1826857"/>
                <a:ext cx="7308012" cy="479822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>
                  <a:lnSpc>
                    <a:spcPct val="150000"/>
                  </a:lnSpc>
                </a:pPr>
                <a:r>
                  <a:rPr lang="he-IL" sz="2400" dirty="0">
                    <a:latin typeface="Calibri" panose="020F0502020204030204" pitchFamily="34" charset="0"/>
                    <a:ea typeface="Calibri" panose="020F0502020204030204" pitchFamily="34" charset="0"/>
                  </a:rPr>
                  <a:t>רומר ראה שיש הבדל במרווח בין הליקויים של </a:t>
                </a:r>
                <a:r>
                  <a:rPr lang="he-IL" sz="2400" dirty="0" err="1">
                    <a:latin typeface="Calibri" panose="020F0502020204030204" pitchFamily="34" charset="0"/>
                    <a:ea typeface="Calibri" panose="020F0502020204030204" pitchFamily="34" charset="0"/>
                  </a:rPr>
                  <a:t>איו</a:t>
                </a:r>
                <a:r>
                  <a:rPr lang="he-IL" sz="2400" dirty="0">
                    <a:latin typeface="Calibri" panose="020F0502020204030204" pitchFamily="34" charset="0"/>
                    <a:ea typeface="Calibri" panose="020F0502020204030204" pitchFamily="34" charset="0"/>
                  </a:rPr>
                  <a:t>.</a:t>
                </a:r>
              </a:p>
              <a:p>
                <a:pPr lvl="0">
                  <a:lnSpc>
                    <a:spcPct val="150000"/>
                  </a:lnSpc>
                </a:pPr>
                <a:r>
                  <a:rPr lang="he-IL" sz="2400" dirty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ההפרש =  22 דקות בין הליקוי שמתרחש כאשר </a:t>
                </a:r>
                <a:r>
                  <a:rPr lang="he-IL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כדוה"א</a:t>
                </a:r>
                <a:r>
                  <a:rPr lang="he-IL" sz="2400" dirty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נמצא בין השמש לצדק ובין הליקוי שמתרחש  </a:t>
                </a:r>
                <a:r>
                  <a:rPr lang="he-IL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שכדוה"א</a:t>
                </a:r>
                <a:r>
                  <a:rPr lang="he-IL" sz="2400" dirty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נמצא בצד של השמש הרחוק מצדק. </a:t>
                </a:r>
              </a:p>
              <a:p>
                <a:pPr lvl="0">
                  <a:lnSpc>
                    <a:spcPct val="150000"/>
                  </a:lnSpc>
                </a:pPr>
                <a:r>
                  <a:rPr lang="he-IL" sz="2400" dirty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הוא הבין שב 22 הדקות האלה האור צריך לעבור את קוטר הסיבוב של </a:t>
                </a:r>
                <a:r>
                  <a:rPr lang="he-IL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כדוה"א</a:t>
                </a:r>
                <a:r>
                  <a:rPr lang="he-IL" sz="2400" dirty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סביב השמש </a:t>
                </a:r>
              </a:p>
              <a:p>
                <a:pPr lvl="0">
                  <a:lnSpc>
                    <a:spcPct val="150000"/>
                  </a:lnSpc>
                </a:pPr>
                <a:r>
                  <a:rPr lang="he-IL" sz="2400" dirty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קוטר הסיבוב שהיה ידוע </a:t>
                </a:r>
                <a:r>
                  <a:rPr lang="he-IL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לרומר</a:t>
                </a:r>
                <a:r>
                  <a:rPr lang="he-IL" sz="2400" dirty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:r>
                  <a:rPr lang="he-IL" sz="2400" dirty="0"/>
                  <a:t>276,000,000 ק"מ </a:t>
                </a:r>
              </a:p>
              <a:p>
                <a:pPr lvl="0"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𝐶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he-IL" sz="2400" dirty="0"/>
                          <m:t>276,000,000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60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220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000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𝑘𝑚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he-IL" sz="2400" dirty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62A9FDBC-1A68-8560-00D7-718E192689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756" y="1826857"/>
                <a:ext cx="7308012" cy="4798229"/>
              </a:xfrm>
              <a:prstGeom prst="roundRect">
                <a:avLst/>
              </a:prstGeom>
              <a:blipFill>
                <a:blip r:embed="rId3"/>
                <a:stretch>
                  <a:fillRect b="-38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תמונה 3">
            <a:extLst>
              <a:ext uri="{FF2B5EF4-FFF2-40B4-BE49-F238E27FC236}">
                <a16:creationId xmlns:a16="http://schemas.microsoft.com/office/drawing/2014/main" id="{73FB5419-00EE-6C9B-6CE4-69ED81AB2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490" y="2474343"/>
            <a:ext cx="3903453" cy="278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588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4ED15-D99D-403C-7E26-9C03173E0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862CFA4-FB5D-8845-DD8A-B23FCA14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מדידת מהירות האור ע"י </a:t>
            </a:r>
            <a:r>
              <a:rPr lang="he-IL" dirty="0" err="1">
                <a:cs typeface="+mn-cs"/>
              </a:rPr>
              <a:t>ברדלי</a:t>
            </a:r>
            <a:r>
              <a:rPr lang="he-IL" dirty="0">
                <a:cs typeface="+mn-cs"/>
              </a:rPr>
              <a:t> (1675)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BA36F47A-F158-4649-AF2D-C791966B4C82}"/>
              </a:ext>
            </a:extLst>
          </p:cNvPr>
          <p:cNvSpPr/>
          <p:nvPr/>
        </p:nvSpPr>
        <p:spPr>
          <a:xfrm>
            <a:off x="6640425" y="1890346"/>
            <a:ext cx="5288160" cy="4798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>
              <a:lnSpc>
                <a:spcPct val="150000"/>
              </a:lnSpc>
            </a:pPr>
            <a:r>
              <a:rPr lang="he-IL" sz="2400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ברדלי</a:t>
            </a:r>
            <a:r>
              <a:rPr lang="he-IL" sz="24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מנסה להוכיח שכדור הארץ מסתובב סביב השמש .</a:t>
            </a:r>
          </a:p>
          <a:p>
            <a:pPr lvl="0">
              <a:lnSpc>
                <a:spcPct val="150000"/>
              </a:lnSpc>
            </a:pPr>
            <a:r>
              <a:rPr lang="he-IL" sz="2400" dirty="0" err="1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ברדלי</a:t>
            </a:r>
            <a:r>
              <a:rPr lang="he-IL" sz="24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מבין שאם אכן כדור הארץ מסתובב סביב השמש אז אם נסתכל על כוכב מרוחק הוא ייראה במקומות שונים על רקע הכוכבים הרחוקים בכל עונה של השנה . כפי שניתן לראות באיור 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669" y="2092567"/>
            <a:ext cx="6140940" cy="394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354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4ED15-D99D-403C-7E26-9C03173E0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862CFA4-FB5D-8845-DD8A-B23FCA14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מדידת מהירות האור ע"י </a:t>
            </a:r>
            <a:r>
              <a:rPr lang="he-IL" dirty="0" err="1">
                <a:cs typeface="+mn-cs"/>
              </a:rPr>
              <a:t>ברדלי</a:t>
            </a:r>
            <a:r>
              <a:rPr lang="he-IL" dirty="0">
                <a:cs typeface="+mn-cs"/>
              </a:rPr>
              <a:t> (1675)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BA36F47A-F158-4649-AF2D-C791966B4C82}"/>
                  </a:ext>
                </a:extLst>
              </p:cNvPr>
              <p:cNvSpPr/>
              <p:nvPr/>
            </p:nvSpPr>
            <p:spPr>
              <a:xfrm>
                <a:off x="6640425" y="1890346"/>
                <a:ext cx="5288160" cy="479822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lvl="0">
                  <a:lnSpc>
                    <a:spcPct val="150000"/>
                  </a:lnSpc>
                </a:pPr>
                <a:r>
                  <a:rPr lang="he-IL" sz="2400" dirty="0" smtClean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אלא שכאש</a:t>
                </a:r>
                <a:r>
                  <a:rPr lang="he-IL" sz="2400" dirty="0" smtClean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ר </a:t>
                </a:r>
                <a:r>
                  <a:rPr lang="he-IL" sz="2400" dirty="0" err="1" smtClean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ברדלי</a:t>
                </a:r>
                <a:r>
                  <a:rPr lang="he-IL" sz="2400" dirty="0" smtClean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התבונן מבעד לטלסקופ הכוכב לא היה במקום לו הוא ציפה והוא היה מסובב בזווית של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L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he-IL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90</m:t>
                        </m:r>
                      </m:e>
                      <m:sup>
                        <m:r>
                          <a:rPr lang="he-IL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p>
                    </m:sSup>
                  </m:oMath>
                </a14:m>
                <a:endParaRPr lang="he-IL" sz="2400" dirty="0" smtClean="0">
                  <a:latin typeface="Calibri" panose="020F0502020204030204" pitchFamily="34" charset="0"/>
                  <a:cs typeface="Arial" panose="020B0604020202020204" pitchFamily="34" charset="0"/>
                </a:endParaRPr>
              </a:p>
              <a:p>
                <a:pPr lvl="0">
                  <a:lnSpc>
                    <a:spcPct val="150000"/>
                  </a:lnSpc>
                </a:pPr>
                <a:endParaRPr lang="he-IL" sz="2400" dirty="0" smtClean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lvl="0" algn="ctr">
                  <a:lnSpc>
                    <a:spcPct val="150000"/>
                  </a:lnSpc>
                </a:pPr>
                <a:endParaRPr lang="en-US" sz="3600" b="1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BA36F47A-F158-4649-AF2D-C791966B4C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425" y="1890346"/>
                <a:ext cx="5288160" cy="4798229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669" y="2092567"/>
            <a:ext cx="6140940" cy="3947747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3780693" y="1890346"/>
            <a:ext cx="1899138" cy="1099038"/>
            <a:chOff x="4589585" y="1987062"/>
            <a:chExt cx="1345223" cy="660098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5"/>
            <a:srcRect l="30852" t="9369" r="44697" b="21275"/>
            <a:stretch/>
          </p:blipFill>
          <p:spPr>
            <a:xfrm>
              <a:off x="4624754" y="1995853"/>
              <a:ext cx="1310054" cy="651307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4589585" y="1987062"/>
              <a:ext cx="272561" cy="2110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29883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4ED15-D99D-403C-7E26-9C03173E0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862CFA4-FB5D-8845-DD8A-B23FCA14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מדידת מהירות האור ע"י </a:t>
            </a:r>
            <a:r>
              <a:rPr lang="he-IL" dirty="0" err="1">
                <a:cs typeface="+mn-cs"/>
              </a:rPr>
              <a:t>ברדלי</a:t>
            </a:r>
            <a:r>
              <a:rPr lang="he-IL" dirty="0">
                <a:cs typeface="+mn-cs"/>
              </a:rPr>
              <a:t> (1675)</a:t>
            </a:r>
            <a:endParaRPr lang="en-US" dirty="0"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477" y="3057620"/>
            <a:ext cx="6830722" cy="239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697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4ED15-D99D-403C-7E26-9C03173E0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862CFA4-FB5D-8845-DD8A-B23FCA14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מדידת מהירות האור ע"י </a:t>
            </a:r>
            <a:r>
              <a:rPr lang="he-IL" dirty="0" err="1">
                <a:cs typeface="+mn-cs"/>
              </a:rPr>
              <a:t>ברדלי</a:t>
            </a:r>
            <a:r>
              <a:rPr lang="he-IL" dirty="0">
                <a:cs typeface="+mn-cs"/>
              </a:rPr>
              <a:t> (1675)</a:t>
            </a:r>
            <a:endParaRPr lang="en-US" dirty="0"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53" y="2268328"/>
            <a:ext cx="4029075" cy="39719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77" y="3057620"/>
            <a:ext cx="6830722" cy="239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616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4ED15-D99D-403C-7E26-9C03173E0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862CFA4-FB5D-8845-DD8A-B23FCA14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מדידת מהירות האור ע"י </a:t>
            </a:r>
            <a:r>
              <a:rPr lang="he-IL" dirty="0" err="1">
                <a:cs typeface="+mn-cs"/>
              </a:rPr>
              <a:t>ברדלי</a:t>
            </a:r>
            <a:r>
              <a:rPr lang="he-IL" dirty="0">
                <a:cs typeface="+mn-cs"/>
              </a:rPr>
              <a:t> (1675)</a:t>
            </a:r>
            <a:endParaRPr lang="en-US" dirty="0"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93" y="1459436"/>
            <a:ext cx="2992400" cy="29499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949" y="1459436"/>
            <a:ext cx="4393364" cy="483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996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4ED15-D99D-403C-7E26-9C03173E0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862CFA4-FB5D-8845-DD8A-B23FCA14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מדידת מהירות האור ע"י </a:t>
            </a:r>
            <a:r>
              <a:rPr lang="he-IL" dirty="0" err="1">
                <a:cs typeface="+mn-cs"/>
              </a:rPr>
              <a:t>ברדלי</a:t>
            </a:r>
            <a:r>
              <a:rPr lang="he-IL" dirty="0">
                <a:cs typeface="+mn-cs"/>
              </a:rPr>
              <a:t> (1675)</a:t>
            </a:r>
            <a:endParaRPr lang="en-US" dirty="0"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93" y="1459436"/>
            <a:ext cx="2992400" cy="29499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949" y="1459436"/>
            <a:ext cx="4393364" cy="483027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5"/>
          <a:srcRect t="3076"/>
          <a:stretch/>
        </p:blipFill>
        <p:spPr>
          <a:xfrm>
            <a:off x="7800313" y="2532185"/>
            <a:ext cx="3409950" cy="240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607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E84C6-801D-E8F0-7EE2-533F1B241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מלבן 13">
            <a:extLst>
              <a:ext uri="{FF2B5EF4-FFF2-40B4-BE49-F238E27FC236}">
                <a16:creationId xmlns:a16="http://schemas.microsoft.com/office/drawing/2014/main" id="{76CB33BF-FC73-27F4-DB04-1F7F9C0386C9}"/>
              </a:ext>
            </a:extLst>
          </p:cNvPr>
          <p:cNvSpPr/>
          <p:nvPr/>
        </p:nvSpPr>
        <p:spPr>
          <a:xfrm>
            <a:off x="391886" y="1769135"/>
            <a:ext cx="7101763" cy="3762563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5687557A-10CA-1226-D576-9B2BC97BF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82" y="443572"/>
            <a:ext cx="10515600" cy="1325563"/>
          </a:xfrm>
        </p:spPr>
        <p:txBody>
          <a:bodyPr/>
          <a:lstStyle/>
          <a:p>
            <a:pPr algn="ctr"/>
            <a:r>
              <a:rPr lang="he-IL" dirty="0" err="1">
                <a:cs typeface="+mn-cs"/>
              </a:rPr>
              <a:t>טרנספורמצית</a:t>
            </a:r>
            <a:r>
              <a:rPr lang="he-IL" dirty="0">
                <a:cs typeface="+mn-cs"/>
              </a:rPr>
              <a:t> גלילאו</a:t>
            </a:r>
            <a:endParaRPr lang="en-US" dirty="0">
              <a:cs typeface="+mn-cs"/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0DBB9906-63B9-5831-8871-698E340A7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82" y="1945152"/>
            <a:ext cx="6275716" cy="3246560"/>
          </a:xfrm>
          <a:prstGeom prst="rect">
            <a:avLst/>
          </a:prstGeom>
          <a:noFill/>
        </p:spPr>
      </p:pic>
      <p:grpSp>
        <p:nvGrpSpPr>
          <p:cNvPr id="12" name="קבוצה 11">
            <a:extLst>
              <a:ext uri="{FF2B5EF4-FFF2-40B4-BE49-F238E27FC236}">
                <a16:creationId xmlns:a16="http://schemas.microsoft.com/office/drawing/2014/main" id="{6D5819BE-D109-8077-BAD3-BD8023EC95BC}"/>
              </a:ext>
            </a:extLst>
          </p:cNvPr>
          <p:cNvGrpSpPr/>
          <p:nvPr/>
        </p:nvGrpSpPr>
        <p:grpSpPr>
          <a:xfrm>
            <a:off x="8919713" y="2403824"/>
            <a:ext cx="2196859" cy="2050351"/>
            <a:chOff x="8471140" y="2041626"/>
            <a:chExt cx="2196859" cy="20503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תיבת טקסט 5">
                  <a:extLst>
                    <a:ext uri="{FF2B5EF4-FFF2-40B4-BE49-F238E27FC236}">
                      <a16:creationId xmlns:a16="http://schemas.microsoft.com/office/drawing/2014/main" id="{32E42C14-3558-A994-DF82-CA8876F3FFA8}"/>
                    </a:ext>
                  </a:extLst>
                </p:cNvPr>
                <p:cNvSpPr txBox="1"/>
                <p:nvPr/>
              </p:nvSpPr>
              <p:spPr>
                <a:xfrm>
                  <a:off x="8746278" y="2041626"/>
                  <a:ext cx="1921721" cy="70788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he-IL" sz="28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he-IL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he-IL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𝑣𝑡</m:t>
                        </m:r>
                      </m:oMath>
                    </m:oMathPara>
                  </a14:m>
                  <a:endParaRPr lang="en-US" sz="2800" b="0" dirty="0">
                    <a:solidFill>
                      <a:schemeClr val="bg1"/>
                    </a:solidFill>
                  </a:endParaRPr>
                </a:p>
                <a:p>
                  <a:endParaRPr lang="en-US" b="0" dirty="0"/>
                </a:p>
              </p:txBody>
            </p:sp>
          </mc:Choice>
          <mc:Fallback xmlns="">
            <p:sp>
              <p:nvSpPr>
                <p:cNvPr id="6" name="תיבת טקסט 5">
                  <a:extLst>
                    <a:ext uri="{FF2B5EF4-FFF2-40B4-BE49-F238E27FC236}">
                      <a16:creationId xmlns:a16="http://schemas.microsoft.com/office/drawing/2014/main" id="{32E42C14-3558-A994-DF82-CA8876F3FF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6278" y="2041626"/>
                  <a:ext cx="1921721" cy="70788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תיבת טקסט 8">
                  <a:extLst>
                    <a:ext uri="{FF2B5EF4-FFF2-40B4-BE49-F238E27FC236}">
                      <a16:creationId xmlns:a16="http://schemas.microsoft.com/office/drawing/2014/main" id="{5AAAC073-0033-3A35-9269-00876C6BAB7F}"/>
                    </a:ext>
                  </a:extLst>
                </p:cNvPr>
                <p:cNvSpPr txBox="1"/>
                <p:nvPr/>
              </p:nvSpPr>
              <p:spPr>
                <a:xfrm>
                  <a:off x="8746278" y="2474332"/>
                  <a:ext cx="119135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he-IL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he-IL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he-IL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800" i="1" dirty="0">
                    <a:solidFill>
                      <a:schemeClr val="bg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" name="תיבת טקסט 8">
                  <a:extLst>
                    <a:ext uri="{FF2B5EF4-FFF2-40B4-BE49-F238E27FC236}">
                      <a16:creationId xmlns:a16="http://schemas.microsoft.com/office/drawing/2014/main" id="{5AAAC073-0033-3A35-9269-00876C6BAB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6278" y="2474332"/>
                  <a:ext cx="1191352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תיבת טקסט 9">
                  <a:extLst>
                    <a:ext uri="{FF2B5EF4-FFF2-40B4-BE49-F238E27FC236}">
                      <a16:creationId xmlns:a16="http://schemas.microsoft.com/office/drawing/2014/main" id="{41725710-3BEB-8CD2-F0A1-9A0C2619BBA5}"/>
                    </a:ext>
                  </a:extLst>
                </p:cNvPr>
                <p:cNvSpPr txBox="1"/>
                <p:nvPr/>
              </p:nvSpPr>
              <p:spPr>
                <a:xfrm>
                  <a:off x="8471140" y="3568757"/>
                  <a:ext cx="159543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he-IL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he-IL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he-IL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sz="2800" i="1" dirty="0">
                    <a:solidFill>
                      <a:schemeClr val="bg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" name="תיבת טקסט 9">
                  <a:extLst>
                    <a:ext uri="{FF2B5EF4-FFF2-40B4-BE49-F238E27FC236}">
                      <a16:creationId xmlns:a16="http://schemas.microsoft.com/office/drawing/2014/main" id="{41725710-3BEB-8CD2-F0A1-9A0C2619BB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1140" y="3568757"/>
                  <a:ext cx="1595432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תיבת טקסט 10">
                  <a:extLst>
                    <a:ext uri="{FF2B5EF4-FFF2-40B4-BE49-F238E27FC236}">
                      <a16:creationId xmlns:a16="http://schemas.microsoft.com/office/drawing/2014/main" id="{5DB78748-5A34-846B-9DFE-B03B6DBE5A15}"/>
                    </a:ext>
                  </a:extLst>
                </p:cNvPr>
                <p:cNvSpPr txBox="1"/>
                <p:nvPr/>
              </p:nvSpPr>
              <p:spPr>
                <a:xfrm>
                  <a:off x="8662889" y="2997552"/>
                  <a:ext cx="135813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he-IL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he-IL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he-IL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2800" i="1" dirty="0">
                    <a:solidFill>
                      <a:schemeClr val="bg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תיבת טקסט 10">
                  <a:extLst>
                    <a:ext uri="{FF2B5EF4-FFF2-40B4-BE49-F238E27FC236}">
                      <a16:creationId xmlns:a16="http://schemas.microsoft.com/office/drawing/2014/main" id="{5DB78748-5A34-846B-9DFE-B03B6DBE5A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2889" y="2997552"/>
                  <a:ext cx="1358130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מלבן 2">
            <a:extLst>
              <a:ext uri="{FF2B5EF4-FFF2-40B4-BE49-F238E27FC236}">
                <a16:creationId xmlns:a16="http://schemas.microsoft.com/office/drawing/2014/main" id="{16E68BFB-B1FA-DBE3-7C3C-D5A9AEF69367}"/>
              </a:ext>
            </a:extLst>
          </p:cNvPr>
          <p:cNvSpPr/>
          <p:nvPr/>
        </p:nvSpPr>
        <p:spPr>
          <a:xfrm>
            <a:off x="391886" y="5579683"/>
            <a:ext cx="11535571" cy="1171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/>
              <a:t>המיקום של האירוע על ציר ה- </a:t>
            </a:r>
            <a:r>
              <a:rPr lang="en-US" sz="2400" dirty="0"/>
              <a:t>X</a:t>
            </a:r>
            <a:r>
              <a:rPr lang="he-IL" sz="2400" dirty="0"/>
              <a:t> מנקודת מבטו של הצופה הנע </a:t>
            </a:r>
            <a:r>
              <a:rPr lang="en-US" sz="2400" dirty="0"/>
              <a:t>X’ </a:t>
            </a:r>
            <a:r>
              <a:rPr lang="he-IL" sz="2400" dirty="0"/>
              <a:t> </a:t>
            </a:r>
            <a:r>
              <a:rPr lang="en-US" sz="2400" dirty="0"/>
              <a:t> </a:t>
            </a:r>
            <a:endParaRPr lang="he-IL" sz="2400" dirty="0"/>
          </a:p>
          <a:p>
            <a:pPr algn="ctr"/>
            <a:r>
              <a:rPr lang="he-IL" sz="2400" dirty="0"/>
              <a:t>שווה למיקום שלו בעיני הצופה הנייח </a:t>
            </a:r>
            <a:r>
              <a:rPr lang="en-US" sz="2400" dirty="0"/>
              <a:t>X</a:t>
            </a:r>
            <a:r>
              <a:rPr lang="he-IL" sz="2400" dirty="0"/>
              <a:t> </a:t>
            </a:r>
            <a:r>
              <a:rPr lang="en-US" sz="2400" dirty="0"/>
              <a:t> </a:t>
            </a:r>
            <a:r>
              <a:rPr lang="he-IL" sz="2400" dirty="0"/>
              <a:t>פחות המרחק שהצופה הנע כבר הספיק לעבור </a:t>
            </a:r>
            <a:r>
              <a:rPr lang="en-US" sz="2400" dirty="0" err="1"/>
              <a:t>vt</a:t>
            </a:r>
            <a:r>
              <a:rPr lang="he-IL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17064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E84C6-801D-E8F0-7EE2-533F1B241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מלבן 13">
            <a:extLst>
              <a:ext uri="{FF2B5EF4-FFF2-40B4-BE49-F238E27FC236}">
                <a16:creationId xmlns:a16="http://schemas.microsoft.com/office/drawing/2014/main" id="{76CB33BF-FC73-27F4-DB04-1F7F9C0386C9}"/>
              </a:ext>
            </a:extLst>
          </p:cNvPr>
          <p:cNvSpPr/>
          <p:nvPr/>
        </p:nvSpPr>
        <p:spPr>
          <a:xfrm>
            <a:off x="391886" y="1769135"/>
            <a:ext cx="7101763" cy="3762563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D6CF5AB5-5A6C-841B-7BD2-7B729D81E20B}"/>
              </a:ext>
            </a:extLst>
          </p:cNvPr>
          <p:cNvSpPr/>
          <p:nvPr/>
        </p:nvSpPr>
        <p:spPr>
          <a:xfrm>
            <a:off x="8763473" y="1874236"/>
            <a:ext cx="3021496" cy="30214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5687557A-10CA-1226-D576-9B2BC97BF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82" y="443572"/>
            <a:ext cx="10515600" cy="1325563"/>
          </a:xfrm>
        </p:spPr>
        <p:txBody>
          <a:bodyPr/>
          <a:lstStyle/>
          <a:p>
            <a:pPr algn="ctr"/>
            <a:r>
              <a:rPr lang="he-IL" dirty="0" err="1">
                <a:cs typeface="+mn-cs"/>
              </a:rPr>
              <a:t>טרנספורמצית</a:t>
            </a:r>
            <a:r>
              <a:rPr lang="he-IL" dirty="0">
                <a:cs typeface="+mn-cs"/>
              </a:rPr>
              <a:t> גלילאו</a:t>
            </a:r>
            <a:endParaRPr lang="en-US" dirty="0">
              <a:cs typeface="+mn-cs"/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0DBB9906-63B9-5831-8871-698E340A7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82" y="1945152"/>
            <a:ext cx="6275716" cy="3246560"/>
          </a:xfrm>
          <a:prstGeom prst="rect">
            <a:avLst/>
          </a:prstGeom>
          <a:noFill/>
        </p:spPr>
      </p:pic>
      <p:grpSp>
        <p:nvGrpSpPr>
          <p:cNvPr id="12" name="קבוצה 11">
            <a:extLst>
              <a:ext uri="{FF2B5EF4-FFF2-40B4-BE49-F238E27FC236}">
                <a16:creationId xmlns:a16="http://schemas.microsoft.com/office/drawing/2014/main" id="{6D5819BE-D109-8077-BAD3-BD8023EC95BC}"/>
              </a:ext>
            </a:extLst>
          </p:cNvPr>
          <p:cNvGrpSpPr/>
          <p:nvPr/>
        </p:nvGrpSpPr>
        <p:grpSpPr>
          <a:xfrm>
            <a:off x="8919713" y="2403824"/>
            <a:ext cx="2196859" cy="2050351"/>
            <a:chOff x="8471140" y="2041626"/>
            <a:chExt cx="2196859" cy="20503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תיבת טקסט 5">
                  <a:extLst>
                    <a:ext uri="{FF2B5EF4-FFF2-40B4-BE49-F238E27FC236}">
                      <a16:creationId xmlns:a16="http://schemas.microsoft.com/office/drawing/2014/main" id="{32E42C14-3558-A994-DF82-CA8876F3FFA8}"/>
                    </a:ext>
                  </a:extLst>
                </p:cNvPr>
                <p:cNvSpPr txBox="1"/>
                <p:nvPr/>
              </p:nvSpPr>
              <p:spPr>
                <a:xfrm>
                  <a:off x="8746278" y="2041626"/>
                  <a:ext cx="1921721" cy="70788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he-IL" sz="28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he-IL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he-IL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𝑣𝑡</m:t>
                        </m:r>
                      </m:oMath>
                    </m:oMathPara>
                  </a14:m>
                  <a:endParaRPr lang="en-US" sz="2800" b="0" dirty="0">
                    <a:solidFill>
                      <a:schemeClr val="bg1"/>
                    </a:solidFill>
                  </a:endParaRPr>
                </a:p>
                <a:p>
                  <a:endParaRPr lang="en-US" b="0" dirty="0"/>
                </a:p>
              </p:txBody>
            </p:sp>
          </mc:Choice>
          <mc:Fallback xmlns="">
            <p:sp>
              <p:nvSpPr>
                <p:cNvPr id="6" name="תיבת טקסט 5">
                  <a:extLst>
                    <a:ext uri="{FF2B5EF4-FFF2-40B4-BE49-F238E27FC236}">
                      <a16:creationId xmlns:a16="http://schemas.microsoft.com/office/drawing/2014/main" id="{32E42C14-3558-A994-DF82-CA8876F3FF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6278" y="2041626"/>
                  <a:ext cx="1921721" cy="70788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תיבת טקסט 8">
                  <a:extLst>
                    <a:ext uri="{FF2B5EF4-FFF2-40B4-BE49-F238E27FC236}">
                      <a16:creationId xmlns:a16="http://schemas.microsoft.com/office/drawing/2014/main" id="{5AAAC073-0033-3A35-9269-00876C6BAB7F}"/>
                    </a:ext>
                  </a:extLst>
                </p:cNvPr>
                <p:cNvSpPr txBox="1"/>
                <p:nvPr/>
              </p:nvSpPr>
              <p:spPr>
                <a:xfrm>
                  <a:off x="8746278" y="2474332"/>
                  <a:ext cx="119135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he-IL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he-IL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he-IL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800" i="1" dirty="0">
                    <a:solidFill>
                      <a:schemeClr val="bg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" name="תיבת טקסט 8">
                  <a:extLst>
                    <a:ext uri="{FF2B5EF4-FFF2-40B4-BE49-F238E27FC236}">
                      <a16:creationId xmlns:a16="http://schemas.microsoft.com/office/drawing/2014/main" id="{5AAAC073-0033-3A35-9269-00876C6BAB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6278" y="2474332"/>
                  <a:ext cx="1191352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תיבת טקסט 9">
                  <a:extLst>
                    <a:ext uri="{FF2B5EF4-FFF2-40B4-BE49-F238E27FC236}">
                      <a16:creationId xmlns:a16="http://schemas.microsoft.com/office/drawing/2014/main" id="{41725710-3BEB-8CD2-F0A1-9A0C2619BBA5}"/>
                    </a:ext>
                  </a:extLst>
                </p:cNvPr>
                <p:cNvSpPr txBox="1"/>
                <p:nvPr/>
              </p:nvSpPr>
              <p:spPr>
                <a:xfrm>
                  <a:off x="8471140" y="3568757"/>
                  <a:ext cx="159543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he-IL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he-IL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he-IL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sz="2800" i="1" dirty="0">
                    <a:solidFill>
                      <a:schemeClr val="bg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" name="תיבת טקסט 9">
                  <a:extLst>
                    <a:ext uri="{FF2B5EF4-FFF2-40B4-BE49-F238E27FC236}">
                      <a16:creationId xmlns:a16="http://schemas.microsoft.com/office/drawing/2014/main" id="{41725710-3BEB-8CD2-F0A1-9A0C2619BB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1140" y="3568757"/>
                  <a:ext cx="1595432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תיבת טקסט 10">
                  <a:extLst>
                    <a:ext uri="{FF2B5EF4-FFF2-40B4-BE49-F238E27FC236}">
                      <a16:creationId xmlns:a16="http://schemas.microsoft.com/office/drawing/2014/main" id="{5DB78748-5A34-846B-9DFE-B03B6DBE5A15}"/>
                    </a:ext>
                  </a:extLst>
                </p:cNvPr>
                <p:cNvSpPr txBox="1"/>
                <p:nvPr/>
              </p:nvSpPr>
              <p:spPr>
                <a:xfrm>
                  <a:off x="8662889" y="2997552"/>
                  <a:ext cx="135813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he-IL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he-IL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he-IL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2800" i="1" dirty="0">
                    <a:solidFill>
                      <a:schemeClr val="bg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תיבת טקסט 10">
                  <a:extLst>
                    <a:ext uri="{FF2B5EF4-FFF2-40B4-BE49-F238E27FC236}">
                      <a16:creationId xmlns:a16="http://schemas.microsoft.com/office/drawing/2014/main" id="{5DB78748-5A34-846B-9DFE-B03B6DBE5A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2889" y="2997552"/>
                  <a:ext cx="1358130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מלבן 2">
            <a:extLst>
              <a:ext uri="{FF2B5EF4-FFF2-40B4-BE49-F238E27FC236}">
                <a16:creationId xmlns:a16="http://schemas.microsoft.com/office/drawing/2014/main" id="{16E68BFB-B1FA-DBE3-7C3C-D5A9AEF69367}"/>
              </a:ext>
            </a:extLst>
          </p:cNvPr>
          <p:cNvSpPr/>
          <p:nvPr/>
        </p:nvSpPr>
        <p:spPr>
          <a:xfrm>
            <a:off x="391886" y="5579683"/>
            <a:ext cx="11535571" cy="1171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/>
              <a:t>המיקום של האירוע על ציר ה- </a:t>
            </a:r>
            <a:r>
              <a:rPr lang="en-US" sz="2400" dirty="0"/>
              <a:t>X</a:t>
            </a:r>
            <a:r>
              <a:rPr lang="he-IL" sz="2400" dirty="0"/>
              <a:t> מנקודת מבטו של הצופה הנע </a:t>
            </a:r>
            <a:r>
              <a:rPr lang="en-US" sz="2400" dirty="0"/>
              <a:t>X’ </a:t>
            </a:r>
            <a:r>
              <a:rPr lang="he-IL" sz="2400" dirty="0"/>
              <a:t> </a:t>
            </a:r>
            <a:r>
              <a:rPr lang="en-US" sz="2400" dirty="0"/>
              <a:t> </a:t>
            </a:r>
            <a:endParaRPr lang="he-IL" sz="2400" dirty="0"/>
          </a:p>
          <a:p>
            <a:pPr algn="ctr"/>
            <a:r>
              <a:rPr lang="he-IL" sz="2400" dirty="0"/>
              <a:t>שווה למיקום שלו בעיני הצופה הנייח </a:t>
            </a:r>
            <a:r>
              <a:rPr lang="en-US" sz="2400" dirty="0"/>
              <a:t>X</a:t>
            </a:r>
            <a:r>
              <a:rPr lang="he-IL" sz="2400" dirty="0"/>
              <a:t> </a:t>
            </a:r>
            <a:r>
              <a:rPr lang="en-US" sz="2400" dirty="0"/>
              <a:t> </a:t>
            </a:r>
            <a:r>
              <a:rPr lang="he-IL" sz="2400" dirty="0"/>
              <a:t>פחות המרחק שהצופה הנע כבר הספיק לעבור </a:t>
            </a:r>
            <a:r>
              <a:rPr lang="en-US" sz="2400" dirty="0" err="1"/>
              <a:t>vt</a:t>
            </a:r>
            <a:r>
              <a:rPr lang="he-IL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8682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382B522-D23A-9847-4A12-E01DB48E7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מערכות ייחוס</a:t>
            </a:r>
            <a:endParaRPr lang="en-US" dirty="0">
              <a:cs typeface="+mn-cs"/>
            </a:endParaRPr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74088E92-D9B5-45E2-6772-1E6A28C54BB8}"/>
              </a:ext>
            </a:extLst>
          </p:cNvPr>
          <p:cNvSpPr/>
          <p:nvPr/>
        </p:nvSpPr>
        <p:spPr>
          <a:xfrm>
            <a:off x="950977" y="1259455"/>
            <a:ext cx="10558272" cy="163132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endParaRPr lang="he-IL" dirty="0"/>
          </a:p>
          <a:p>
            <a:pPr algn="ctr"/>
            <a:r>
              <a:rPr lang="he-IL" sz="3200" dirty="0"/>
              <a:t>הגדרה</a:t>
            </a:r>
            <a:endParaRPr lang="he-IL" dirty="0"/>
          </a:p>
          <a:p>
            <a:r>
              <a:rPr lang="he-IL" sz="2400" dirty="0"/>
              <a:t>אזור במרחב שבו אנחנו צופים במערכת ומודדים גדלים כמותיים כמו מהירות ותאוצה</a:t>
            </a:r>
          </a:p>
          <a:p>
            <a:r>
              <a:rPr lang="he-IL" sz="2400" dirty="0"/>
              <a:t>ז"א </a:t>
            </a:r>
          </a:p>
          <a:p>
            <a:r>
              <a:rPr lang="he-IL" sz="2400" dirty="0"/>
              <a:t> "מערכת הצירים" שאתה בוחר לעמוד בה כדי למדוד מה קורה מסביבך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187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382B522-D23A-9847-4A12-E01DB48E7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מערכות ייחוס</a:t>
            </a:r>
            <a:endParaRPr lang="en-US" dirty="0">
              <a:cs typeface="+mn-cs"/>
            </a:endParaRPr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74088E92-D9B5-45E2-6772-1E6A28C54BB8}"/>
              </a:ext>
            </a:extLst>
          </p:cNvPr>
          <p:cNvSpPr/>
          <p:nvPr/>
        </p:nvSpPr>
        <p:spPr>
          <a:xfrm>
            <a:off x="950977" y="1259455"/>
            <a:ext cx="10558272" cy="163132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endParaRPr lang="he-IL" dirty="0"/>
          </a:p>
          <a:p>
            <a:pPr algn="ctr"/>
            <a:r>
              <a:rPr lang="he-IL" sz="3200" dirty="0"/>
              <a:t>הגדרה</a:t>
            </a:r>
            <a:endParaRPr lang="he-IL" dirty="0"/>
          </a:p>
          <a:p>
            <a:r>
              <a:rPr lang="he-IL" sz="2400" dirty="0"/>
              <a:t>אזור במרחב שבו אנחנו צופים במערכת ומודדים גדלים כמותיים כמו מהירות ותאוצה</a:t>
            </a:r>
          </a:p>
          <a:p>
            <a:r>
              <a:rPr lang="he-IL" sz="2400" dirty="0"/>
              <a:t>ז"א </a:t>
            </a:r>
          </a:p>
          <a:p>
            <a:r>
              <a:rPr lang="he-IL" sz="2400" dirty="0"/>
              <a:t> "מערכת הצירים" שאתה בוחר לעמוד בה כדי למדוד מה קורה מסביבך</a:t>
            </a:r>
          </a:p>
          <a:p>
            <a:pPr algn="ctr"/>
            <a:endParaRPr lang="en-US" dirty="0"/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55E674AF-C932-F00F-9BA1-55BFFFFBC210}"/>
              </a:ext>
            </a:extLst>
          </p:cNvPr>
          <p:cNvSpPr/>
          <p:nvPr/>
        </p:nvSpPr>
        <p:spPr>
          <a:xfrm>
            <a:off x="5083834" y="2925287"/>
            <a:ext cx="6425415" cy="38221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50000"/>
              </a:lnSpc>
            </a:pPr>
            <a:r>
              <a:rPr lang="he-IL" sz="2400" b="1" dirty="0">
                <a:latin typeface="Calibri" panose="020F0502020204030204" pitchFamily="34" charset="0"/>
                <a:ea typeface="Calibri" panose="020F0502020204030204" pitchFamily="34" charset="0"/>
              </a:rPr>
              <a:t>מערכת ייחוס אינרציאלית</a:t>
            </a:r>
            <a:r>
              <a:rPr lang="he-IL" sz="24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</a:p>
          <a:p>
            <a:pPr lvl="0">
              <a:lnSpc>
                <a:spcPct val="150000"/>
              </a:lnSpc>
            </a:pPr>
            <a:r>
              <a:rPr lang="he-IL" sz="2400" dirty="0">
                <a:latin typeface="Calibri" panose="020F0502020204030204" pitchFamily="34" charset="0"/>
                <a:ea typeface="Calibri" panose="020F0502020204030204" pitchFamily="34" charset="0"/>
              </a:rPr>
              <a:t>זוהי מערכת ייחוס שבה החוק הראשון של ניוטון תקף. ז"א מערכת שבה כאשר לא פועלים כוחות על גוף הוא נשאר במנוחה או במהירות קבועה . מערכת ייחוס כזו צריכה להיות במנוחה או במהירות קבועה 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266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382B522-D23A-9847-4A12-E01DB48E7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מערכות ייחוס</a:t>
            </a:r>
            <a:endParaRPr lang="en-US" dirty="0">
              <a:cs typeface="+mn-cs"/>
            </a:endParaRPr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74088E92-D9B5-45E2-6772-1E6A28C54BB8}"/>
              </a:ext>
            </a:extLst>
          </p:cNvPr>
          <p:cNvSpPr/>
          <p:nvPr/>
        </p:nvSpPr>
        <p:spPr>
          <a:xfrm>
            <a:off x="950977" y="1259455"/>
            <a:ext cx="10558272" cy="163132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endParaRPr lang="he-IL" dirty="0"/>
          </a:p>
          <a:p>
            <a:pPr algn="ctr"/>
            <a:r>
              <a:rPr lang="he-IL" sz="3200" dirty="0"/>
              <a:t>הגדרה</a:t>
            </a:r>
            <a:endParaRPr lang="he-IL" dirty="0"/>
          </a:p>
          <a:p>
            <a:r>
              <a:rPr lang="he-IL" sz="2400" dirty="0"/>
              <a:t>אזור במרחב שבו אנחנו צופים במערכת ומודדים גדלים כמותיים כמו מהירות ותאוצה</a:t>
            </a:r>
          </a:p>
          <a:p>
            <a:r>
              <a:rPr lang="he-IL" sz="2400" dirty="0"/>
              <a:t>ז"א </a:t>
            </a:r>
          </a:p>
          <a:p>
            <a:r>
              <a:rPr lang="he-IL" sz="2400" dirty="0"/>
              <a:t> "מערכת הצירים" שאתה בוחר לעמוד בה כדי למדוד מה קורה מסביבך</a:t>
            </a:r>
          </a:p>
          <a:p>
            <a:pPr algn="ctr"/>
            <a:endParaRPr lang="en-US" dirty="0"/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F52BC649-6C5C-60EA-636B-9DBC43F3D8EC}"/>
              </a:ext>
            </a:extLst>
          </p:cNvPr>
          <p:cNvSpPr/>
          <p:nvPr/>
        </p:nvSpPr>
        <p:spPr>
          <a:xfrm>
            <a:off x="838201" y="2967488"/>
            <a:ext cx="3929332" cy="37799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>
              <a:lnSpc>
                <a:spcPct val="150000"/>
              </a:lnSpc>
            </a:pPr>
            <a:r>
              <a:rPr lang="he-IL" sz="2400" b="1" dirty="0">
                <a:latin typeface="Calibri" panose="020F0502020204030204" pitchFamily="34" charset="0"/>
                <a:ea typeface="Calibri" panose="020F0502020204030204" pitchFamily="34" charset="0"/>
              </a:rPr>
              <a:t>מערכת ייחוס לא אינרציאלית</a:t>
            </a:r>
            <a:r>
              <a:rPr lang="he-IL" sz="24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</a:p>
          <a:p>
            <a:pPr lvl="0">
              <a:lnSpc>
                <a:spcPct val="150000"/>
              </a:lnSpc>
              <a:spcAft>
                <a:spcPts val="1000"/>
              </a:spcAft>
            </a:pPr>
            <a:r>
              <a:rPr lang="he-IL" sz="2400" dirty="0">
                <a:latin typeface="Calibri" panose="020F0502020204030204" pitchFamily="34" charset="0"/>
                <a:ea typeface="Calibri" panose="020F0502020204030204" pitchFamily="34" charset="0"/>
              </a:rPr>
              <a:t>מערכת ייחוס  שמאיצה בקו ישר או נמצאת בתנועה לאורך קו עקום 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55E674AF-C932-F00F-9BA1-55BFFFFBC210}"/>
              </a:ext>
            </a:extLst>
          </p:cNvPr>
          <p:cNvSpPr/>
          <p:nvPr/>
        </p:nvSpPr>
        <p:spPr>
          <a:xfrm>
            <a:off x="5083834" y="2925287"/>
            <a:ext cx="6425415" cy="38221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50000"/>
              </a:lnSpc>
            </a:pPr>
            <a:r>
              <a:rPr lang="he-IL" sz="2400" b="1" dirty="0">
                <a:latin typeface="Calibri" panose="020F0502020204030204" pitchFamily="34" charset="0"/>
                <a:ea typeface="Calibri" panose="020F0502020204030204" pitchFamily="34" charset="0"/>
              </a:rPr>
              <a:t>מערכת ייחוס אינרציאלית</a:t>
            </a:r>
            <a:r>
              <a:rPr lang="he-IL" sz="24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</a:p>
          <a:p>
            <a:pPr lvl="0">
              <a:lnSpc>
                <a:spcPct val="150000"/>
              </a:lnSpc>
            </a:pPr>
            <a:r>
              <a:rPr lang="he-IL" sz="2400" dirty="0">
                <a:latin typeface="Calibri" panose="020F0502020204030204" pitchFamily="34" charset="0"/>
                <a:ea typeface="Calibri" panose="020F0502020204030204" pitchFamily="34" charset="0"/>
              </a:rPr>
              <a:t>זוהי מערכת ייחוס שבה החוק הראשון של ניוטון תקף. ז"א מערכת שבה כאשר לא פועלים כוחות על גוף הוא נשאר במנוחה או במהירות קבועה . מערכת ייחוס כזו צריכה להיות במנוחה או במהירות קבועה 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451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D1D64-9E76-F9E6-75A1-0E3879EE4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A8CE28C-9CE2-BFEF-F873-82CBF3EF2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דוגמאות למערכות ייחוס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BFEC0263-70EC-2447-715C-10317EBBAE70}"/>
              </a:ext>
            </a:extLst>
          </p:cNvPr>
          <p:cNvSpPr/>
          <p:nvPr/>
        </p:nvSpPr>
        <p:spPr>
          <a:xfrm>
            <a:off x="838200" y="1671607"/>
            <a:ext cx="10335768" cy="45642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400" dirty="0"/>
              <a:t>רכבת שנעה במהירות קבועה : זוהי מערכת ייחוס אינרציאלית </a:t>
            </a:r>
            <a:endParaRPr lang="en-US" sz="24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400" dirty="0"/>
              <a:t>קרוסלה : מערכת ייחוס לא אינרציאלית . שכן היא נעה בתנועה מואצת. כאשר נשים במערכת זו גוף במנוחה הוא לא יישאר במנוחה ביחס למערכת למרות שלא פועל עליו שום כוח </a:t>
            </a:r>
            <a:endParaRPr lang="en-US" sz="24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400" dirty="0"/>
              <a:t>רכב שנעה בסיבוב במהירות קבועה : זוהי מערת לא אינרציאלית </a:t>
            </a:r>
            <a:endParaRPr lang="en-US" sz="24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400" dirty="0"/>
              <a:t>כדור הארץ שסובב סביב צירו : </a:t>
            </a:r>
            <a:r>
              <a:rPr lang="he-IL" sz="2400" dirty="0" err="1"/>
              <a:t>זוה</a:t>
            </a:r>
            <a:r>
              <a:rPr lang="he-IL" sz="2400" dirty="0"/>
              <a:t> מערכת לא אינרציאלית למרות שהרבה פעמים אנחנו מתייחסים אליו ככזה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51289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6024D-3CAC-E9BF-2D4F-0F99A6127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E1CA4CE-4348-BA59-3081-6A57D1BD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מערכת ייחוס מוחלטת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3D6F6825-BD44-DDA4-B504-DE1A62DFC33B}"/>
              </a:ext>
            </a:extLst>
          </p:cNvPr>
          <p:cNvSpPr/>
          <p:nvPr/>
        </p:nvSpPr>
        <p:spPr>
          <a:xfrm>
            <a:off x="838200" y="1671607"/>
            <a:ext cx="10335768" cy="45642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he-IL" sz="2400" dirty="0"/>
              <a:t>ניוטון וכל הבאים אחריו עד המאה ה-19 הניחו שאין דבר כזה מערכת ייחוס מוחלטת </a:t>
            </a:r>
            <a:r>
              <a:rPr lang="he-IL" sz="2400" dirty="0" err="1"/>
              <a:t>שהכל</a:t>
            </a:r>
            <a:r>
              <a:rPr lang="he-IL" sz="2400" dirty="0"/>
              <a:t> נמדד ביחס אליה ושהיא במנוחה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ולכן כל מערכת אינרציאלית (מערכת שלא פועלים עליה כוחות ) יכולה לטעון שהיא במנוחה וכולם נעים ביחס אליה.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he-IL" sz="2400" dirty="0"/>
              <a:t>יכולנו לחשוב שאולי חוקי הפיסיקה יוכלו ללמד אותנו מי היא מערכת הייחוס המוחלטת – אך אין זה כך לפי ניוטון, וחוקי הפיסיקה מתקיימים בכל המערכות האינרציאליות באותו אופן.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61188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22D2F-F564-A13A-019F-C2E3275F1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DEE57F1-7C25-2C4D-C925-F940A41D1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מערכת ייחוס מוחלטת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FE674FD3-CD6A-FCDE-7877-F3F5560E3C1C}"/>
              </a:ext>
            </a:extLst>
          </p:cNvPr>
          <p:cNvSpPr/>
          <p:nvPr/>
        </p:nvSpPr>
        <p:spPr>
          <a:xfrm>
            <a:off x="838200" y="1671607"/>
            <a:ext cx="10335768" cy="45642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he-IL" sz="2400" dirty="0"/>
              <a:t>כשמדמיינים מערכת אינרציאלית מדברים על גופים בחלל, הרחוקים מכל הכוכבים. </a:t>
            </a:r>
          </a:p>
          <a:p>
            <a:pPr>
              <a:lnSpc>
                <a:spcPct val="200000"/>
              </a:lnSpc>
            </a:pPr>
            <a:r>
              <a:rPr lang="he-IL" sz="2400" dirty="0"/>
              <a:t>כאשר  2 חלליות נעות בחלל אחת לקראת השנייה – כל אחת מהן רואה את השנייה נעה באותה מהירות ביחס אליה רק שבכיוון ההפוך. </a:t>
            </a:r>
            <a:endParaRPr lang="en-US" sz="2400" dirty="0"/>
          </a:p>
          <a:p>
            <a:pPr>
              <a:lnSpc>
                <a:spcPct val="200000"/>
              </a:lnSpc>
            </a:pPr>
            <a:r>
              <a:rPr lang="he-IL" sz="2400" dirty="0"/>
              <a:t>אף חללית לא תוכל לדעת האם היא עצמה נחה והשנייה נעה ביחס אליה או להפך. אין גם אף ניסוי שיבוצע בתוך החללית שיוכל ללמד האם המערכת נעה או עומדת.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29639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AD28A-45AD-3B99-9D7C-366393D08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C7E16BF-8185-5F52-745D-D6193100A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מדידת מהירות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97831807-6A39-7896-8CE5-C5E02906FEF6}"/>
              </a:ext>
            </a:extLst>
          </p:cNvPr>
          <p:cNvSpPr/>
          <p:nvPr/>
        </p:nvSpPr>
        <p:spPr>
          <a:xfrm>
            <a:off x="928116" y="2606198"/>
            <a:ext cx="10335768" cy="16456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e-IL" sz="3200" dirty="0"/>
              <a:t>איך בכלל כל חללית מודדת את המהירות של החללית השנייה?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71641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C4BF9-3D9D-B347-0326-1C04B627D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829325F-FA5D-63C2-6306-07F4C26E6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מדידת מהירות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A29D0A37-F6C6-0360-343A-A7D7212EBD11}"/>
                  </a:ext>
                </a:extLst>
              </p:cNvPr>
              <p:cNvSpPr/>
              <p:nvPr/>
            </p:nvSpPr>
            <p:spPr>
              <a:xfrm>
                <a:off x="411480" y="1671606"/>
                <a:ext cx="11173968" cy="518639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200000"/>
                  </a:lnSpc>
                </a:pPr>
                <a:endParaRPr lang="he-IL" sz="2000" dirty="0"/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בקצות חללית א' :מותקנים חיישנים שמנצנצים ברגע שפוגעת בהם קרן אור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כמו כן אורך החללית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he-IL" sz="2400" dirty="0"/>
                  <a:t>  ידוע לאנשי חללית זו.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חללית ב' : משדרת כל הזמן קרני אור.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חללית א' יודעת את הזמן שבו גלאי 1 נצנץ ואת הזמן שבו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גלאי  2 נצנץ לכן מהירות חללית ב' היא: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den>
                    </m:f>
                  </m:oMath>
                </a14:m>
                <a:r>
                  <a:rPr lang="he-IL" sz="2400" dirty="0"/>
                  <a:t>. </a:t>
                </a:r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וכן להפך – חללית ב' תוכל למדוד את מהירות חללית א'.</a:t>
                </a:r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המהירויות </a:t>
                </a:r>
                <a:r>
                  <a:rPr lang="he-IL" sz="2400" dirty="0" err="1"/>
                  <a:t>שתמדדנה</a:t>
                </a:r>
                <a:r>
                  <a:rPr lang="he-IL" sz="2400" dirty="0"/>
                  <a:t> הן כמובן זהות</a:t>
                </a:r>
              </a:p>
              <a:p>
                <a:pPr>
                  <a:lnSpc>
                    <a:spcPct val="200000"/>
                  </a:lnSpc>
                </a:pPr>
                <a:r>
                  <a:rPr lang="he-IL" sz="2400" dirty="0"/>
                  <a:t>למרות ש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he-IL" sz="2400" dirty="0"/>
                  <a:t> שונה מ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he-IL" sz="2400" dirty="0"/>
                  <a:t> וגם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he-IL" sz="2400" dirty="0"/>
                  <a:t> שונה מ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he-IL" sz="2400" dirty="0"/>
                  <a:t>). </a:t>
                </a:r>
                <a:endParaRPr lang="en-US" sz="2400" dirty="0"/>
              </a:p>
              <a:p>
                <a:pPr>
                  <a:lnSpc>
                    <a:spcPct val="200000"/>
                  </a:lnSpc>
                </a:pPr>
                <a:endParaRPr lang="en-US" sz="2000" dirty="0"/>
              </a:p>
            </p:txBody>
          </p:sp>
        </mc:Choice>
        <mc:Fallback xmlns="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A29D0A37-F6C6-0360-343A-A7D7212EBD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671606"/>
                <a:ext cx="11173968" cy="518639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קבוצה 20">
            <a:extLst>
              <a:ext uri="{FF2B5EF4-FFF2-40B4-BE49-F238E27FC236}">
                <a16:creationId xmlns:a16="http://schemas.microsoft.com/office/drawing/2014/main" id="{5186B563-FF15-A4A8-8AF1-15C87B6C756F}"/>
              </a:ext>
            </a:extLst>
          </p:cNvPr>
          <p:cNvGrpSpPr/>
          <p:nvPr/>
        </p:nvGrpSpPr>
        <p:grpSpPr>
          <a:xfrm>
            <a:off x="669579" y="2464278"/>
            <a:ext cx="3265734" cy="1746505"/>
            <a:chOff x="0" y="0"/>
            <a:chExt cx="2509114" cy="943661"/>
          </a:xfrm>
        </p:grpSpPr>
        <p:sp>
          <p:nvSpPr>
            <p:cNvPr id="23" name="מלבן 22">
              <a:extLst>
                <a:ext uri="{FF2B5EF4-FFF2-40B4-BE49-F238E27FC236}">
                  <a16:creationId xmlns:a16="http://schemas.microsoft.com/office/drawing/2014/main" id="{031DB66A-D889-2AB7-15FE-40FFA856AF38}"/>
                </a:ext>
              </a:extLst>
            </p:cNvPr>
            <p:cNvSpPr/>
            <p:nvPr/>
          </p:nvSpPr>
          <p:spPr>
            <a:xfrm>
              <a:off x="0" y="0"/>
              <a:ext cx="2509114" cy="9436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grpSp>
          <p:nvGrpSpPr>
            <p:cNvPr id="22" name="קבוצה 21">
              <a:extLst>
                <a:ext uri="{FF2B5EF4-FFF2-40B4-BE49-F238E27FC236}">
                  <a16:creationId xmlns:a16="http://schemas.microsoft.com/office/drawing/2014/main" id="{3D82F457-A789-DF44-3136-120C8DC18CD0}"/>
                </a:ext>
              </a:extLst>
            </p:cNvPr>
            <p:cNvGrpSpPr/>
            <p:nvPr/>
          </p:nvGrpSpPr>
          <p:grpSpPr>
            <a:xfrm>
              <a:off x="95098" y="102413"/>
              <a:ext cx="2282191" cy="657860"/>
              <a:chOff x="0" y="0"/>
              <a:chExt cx="2282343" cy="658369"/>
            </a:xfrm>
          </p:grpSpPr>
          <p:grpSp>
            <p:nvGrpSpPr>
              <p:cNvPr id="24" name="קבוצה 23">
                <a:extLst>
                  <a:ext uri="{FF2B5EF4-FFF2-40B4-BE49-F238E27FC236}">
                    <a16:creationId xmlns:a16="http://schemas.microsoft.com/office/drawing/2014/main" id="{4E8A468C-2CC8-5AA5-4C1E-1ACB83B296CC}"/>
                  </a:ext>
                </a:extLst>
              </p:cNvPr>
              <p:cNvGrpSpPr/>
              <p:nvPr/>
            </p:nvGrpSpPr>
            <p:grpSpPr>
              <a:xfrm>
                <a:off x="0" y="0"/>
                <a:ext cx="2282343" cy="658369"/>
                <a:chOff x="0" y="0"/>
                <a:chExt cx="2282343" cy="658369"/>
              </a:xfrm>
            </p:grpSpPr>
            <p:grpSp>
              <p:nvGrpSpPr>
                <p:cNvPr id="26" name="קבוצה 25">
                  <a:extLst>
                    <a:ext uri="{FF2B5EF4-FFF2-40B4-BE49-F238E27FC236}">
                      <a16:creationId xmlns:a16="http://schemas.microsoft.com/office/drawing/2014/main" id="{7D6EE039-7927-25AC-E43A-4C03110A88DE}"/>
                    </a:ext>
                  </a:extLst>
                </p:cNvPr>
                <p:cNvGrpSpPr/>
                <p:nvPr/>
              </p:nvGrpSpPr>
              <p:grpSpPr>
                <a:xfrm>
                  <a:off x="784251" y="424282"/>
                  <a:ext cx="1498092" cy="234087"/>
                  <a:chOff x="0" y="0"/>
                  <a:chExt cx="1498092" cy="234087"/>
                </a:xfrm>
              </p:grpSpPr>
              <p:sp>
                <p:nvSpPr>
                  <p:cNvPr id="33" name="מלבן 32">
                    <a:extLst>
                      <a:ext uri="{FF2B5EF4-FFF2-40B4-BE49-F238E27FC236}">
                        <a16:creationId xmlns:a16="http://schemas.microsoft.com/office/drawing/2014/main" id="{14C55E14-A7C0-2BF5-6994-2E1CEE92ABA8}"/>
                      </a:ext>
                    </a:extLst>
                  </p:cNvPr>
                  <p:cNvSpPr/>
                  <p:nvPr/>
                </p:nvSpPr>
                <p:spPr>
                  <a:xfrm>
                    <a:off x="327660" y="0"/>
                    <a:ext cx="1170432" cy="23408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 rtl="1">
                      <a:lnSpc>
                        <a:spcPct val="115000"/>
                      </a:lnSpc>
                      <a:spcAft>
                        <a:spcPts val="1000"/>
                      </a:spcAft>
                      <a:buNone/>
                    </a:pPr>
                    <a:r>
                      <a:rPr lang="he-IL" sz="1400" dirty="0">
                        <a:effectLst/>
                        <a:ea typeface="Calibri" panose="020F0502020204030204" pitchFamily="34" charset="0"/>
                        <a:cs typeface="Arial" panose="020B0604020202020204" pitchFamily="34" charset="0"/>
                      </a:rPr>
                      <a:t>חללית ב</a:t>
                    </a:r>
                    <a:endParaRPr lang="en-US" sz="2000" dirty="0">
                      <a:effectLst/>
                      <a:ea typeface="Calibri" panose="020F050202020403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34" name="מחבר חץ ישר 33">
                    <a:extLst>
                      <a:ext uri="{FF2B5EF4-FFF2-40B4-BE49-F238E27FC236}">
                        <a16:creationId xmlns:a16="http://schemas.microsoft.com/office/drawing/2014/main" id="{6146D822-D93B-1580-FF42-AEC711F7ECC8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0" y="127407"/>
                    <a:ext cx="336499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" name="קבוצה 26">
                  <a:extLst>
                    <a:ext uri="{FF2B5EF4-FFF2-40B4-BE49-F238E27FC236}">
                      <a16:creationId xmlns:a16="http://schemas.microsoft.com/office/drawing/2014/main" id="{8FFCE4CF-9459-0520-70A0-66739A46515D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1258215" cy="299923"/>
                  <a:chOff x="0" y="0"/>
                  <a:chExt cx="1258215" cy="299923"/>
                </a:xfrm>
              </p:grpSpPr>
              <p:grpSp>
                <p:nvGrpSpPr>
                  <p:cNvPr id="28" name="קבוצה 27">
                    <a:extLst>
                      <a:ext uri="{FF2B5EF4-FFF2-40B4-BE49-F238E27FC236}">
                        <a16:creationId xmlns:a16="http://schemas.microsoft.com/office/drawing/2014/main" id="{19B661EC-6921-B1CA-5015-6801937772A6}"/>
                      </a:ext>
                    </a:extLst>
                  </p:cNvPr>
                  <p:cNvGrpSpPr/>
                  <p:nvPr/>
                </p:nvGrpSpPr>
                <p:grpSpPr>
                  <a:xfrm>
                    <a:off x="21946" y="0"/>
                    <a:ext cx="1236269" cy="263347"/>
                    <a:chOff x="0" y="0"/>
                    <a:chExt cx="1236269" cy="263347"/>
                  </a:xfrm>
                </p:grpSpPr>
                <p:sp>
                  <p:nvSpPr>
                    <p:cNvPr id="31" name="מלבן: פינות מעוגלות 30">
                      <a:extLst>
                        <a:ext uri="{FF2B5EF4-FFF2-40B4-BE49-F238E27FC236}">
                          <a16:creationId xmlns:a16="http://schemas.microsoft.com/office/drawing/2014/main" id="{19266584-1F50-8269-0AE8-9D487011A5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899770" cy="263347"/>
                    </a:xfrm>
                    <a:prstGeom prst="round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he-IL" sz="1400" dirty="0">
                          <a:effectLst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חללית א</a:t>
                      </a:r>
                      <a:endParaRPr lang="en-US" sz="2000" dirty="0">
                        <a:effectLst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32" name="מחבר חץ ישר 31">
                      <a:extLst>
                        <a:ext uri="{FF2B5EF4-FFF2-40B4-BE49-F238E27FC236}">
                          <a16:creationId xmlns:a16="http://schemas.microsoft.com/office/drawing/2014/main" id="{21EBBFD2-A044-D30F-318A-70FF5000FB0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99770" y="142036"/>
                      <a:ext cx="336499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9" name="אליפסה 28">
                    <a:extLst>
                      <a:ext uri="{FF2B5EF4-FFF2-40B4-BE49-F238E27FC236}">
                        <a16:creationId xmlns:a16="http://schemas.microsoft.com/office/drawing/2014/main" id="{AF297F0D-0ABB-893B-9E5F-8C754AEB46E3}"/>
                      </a:ext>
                    </a:extLst>
                  </p:cNvPr>
                  <p:cNvSpPr/>
                  <p:nvPr/>
                </p:nvSpPr>
                <p:spPr>
                  <a:xfrm>
                    <a:off x="848564" y="175564"/>
                    <a:ext cx="72745" cy="102413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0" name="אליפסה 29">
                    <a:extLst>
                      <a:ext uri="{FF2B5EF4-FFF2-40B4-BE49-F238E27FC236}">
                        <a16:creationId xmlns:a16="http://schemas.microsoft.com/office/drawing/2014/main" id="{8610F03A-9319-4E22-43EF-4C3E33792CE6}"/>
                      </a:ext>
                    </a:extLst>
                  </p:cNvPr>
                  <p:cNvSpPr/>
                  <p:nvPr/>
                </p:nvSpPr>
                <p:spPr>
                  <a:xfrm>
                    <a:off x="0" y="197510"/>
                    <a:ext cx="72745" cy="102413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25" name="משולש שווה-שוקיים 24">
                <a:extLst>
                  <a:ext uri="{FF2B5EF4-FFF2-40B4-BE49-F238E27FC236}">
                    <a16:creationId xmlns:a16="http://schemas.microsoft.com/office/drawing/2014/main" id="{C58964EA-6B2E-3DA8-8EEC-BD5540B1FF54}"/>
                  </a:ext>
                </a:extLst>
              </p:cNvPr>
              <p:cNvSpPr/>
              <p:nvPr/>
            </p:nvSpPr>
            <p:spPr>
              <a:xfrm>
                <a:off x="1119225" y="314553"/>
                <a:ext cx="137456" cy="109728"/>
              </a:xfrm>
              <a:prstGeom prst="triangl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96007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22771-8469-B85D-ABAC-28F5C194F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207211D-A56A-CF8B-1902-2F1D6C08C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משוואות </a:t>
            </a:r>
            <a:r>
              <a:rPr lang="he-IL" dirty="0" err="1">
                <a:cs typeface="+mn-cs"/>
              </a:rPr>
              <a:t>מקסוול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BD31F9C4-6699-9931-5848-54B6BBC9F8EA}"/>
              </a:ext>
            </a:extLst>
          </p:cNvPr>
          <p:cNvSpPr/>
          <p:nvPr/>
        </p:nvSpPr>
        <p:spPr>
          <a:xfrm>
            <a:off x="1847088" y="1671607"/>
            <a:ext cx="9738360" cy="46560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he-IL" sz="2000" dirty="0"/>
          </a:p>
          <a:p>
            <a:pPr>
              <a:lnSpc>
                <a:spcPct val="150000"/>
              </a:lnSpc>
            </a:pPr>
            <a:r>
              <a:rPr lang="he-IL" sz="2400" dirty="0"/>
              <a:t>במהלך המאה ה- 19 השתנתה התפיסה, בעיקר תודות לתופעות </a:t>
            </a:r>
            <a:r>
              <a:rPr lang="he-IL" sz="2400" dirty="0" err="1"/>
              <a:t>אלמ"ג</a:t>
            </a:r>
            <a:r>
              <a:rPr lang="he-IL" sz="2400" dirty="0"/>
              <a:t>. 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he-IL" sz="2400" dirty="0" err="1"/>
              <a:t>מקסוול</a:t>
            </a:r>
            <a:r>
              <a:rPr lang="he-IL" sz="2400" dirty="0"/>
              <a:t> הגיע למסקנה ממשואותיו שבתנאים מסוימים נוצר גל אלקטרו מגנטי שמהירותו היא 300,000 ק"מ </a:t>
            </a:r>
            <a:r>
              <a:rPr lang="he-IL" sz="2400" dirty="0" err="1"/>
              <a:t>לשניה</a:t>
            </a:r>
            <a:r>
              <a:rPr lang="he-IL" sz="2400" dirty="0"/>
              <a:t>. 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כמו כל גל שהיה ידוע עד אז (קול, גלי ים ועוד) הנחת העבודה של </a:t>
            </a:r>
            <a:r>
              <a:rPr lang="he-IL" sz="2400" dirty="0" err="1"/>
              <a:t>מקסוול</a:t>
            </a:r>
            <a:r>
              <a:rPr lang="he-IL" sz="2400" dirty="0"/>
              <a:t> היא שגל דורש תווך לנוע בו והתווך הזה נקרא "אתר" </a:t>
            </a:r>
            <a:r>
              <a:rPr lang="en-US" sz="2400" dirty="0"/>
              <a:t>(Aether)</a:t>
            </a:r>
            <a:r>
              <a:rPr lang="he-IL" sz="2400" dirty="0"/>
              <a:t>. 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האתר הוא חומר שקוף שלא ניתן </a:t>
            </a:r>
            <a:r>
              <a:rPr lang="he-IL" sz="2400" dirty="0" err="1"/>
              <a:t>לצפיה</a:t>
            </a:r>
            <a:r>
              <a:rPr lang="he-IL" sz="2400" dirty="0"/>
              <a:t> שנמצא בכל המרחב. </a:t>
            </a:r>
            <a:endParaRPr lang="en-US" sz="2400" dirty="0"/>
          </a:p>
          <a:p>
            <a:pPr>
              <a:lnSpc>
                <a:spcPct val="20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633523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99F2C-F205-A74F-E6B4-79B4815DE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5F8246F-5ACF-6ADB-05C2-AC9996B2A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האתר 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DDD5D63E-BFEF-56F1-58B6-1D57D31C84F1}"/>
              </a:ext>
            </a:extLst>
          </p:cNvPr>
          <p:cNvSpPr/>
          <p:nvPr/>
        </p:nvSpPr>
        <p:spPr>
          <a:xfrm>
            <a:off x="1847088" y="1671607"/>
            <a:ext cx="9738360" cy="46560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he-IL" sz="2800" dirty="0"/>
          </a:p>
          <a:p>
            <a:pPr>
              <a:lnSpc>
                <a:spcPct val="150000"/>
              </a:lnSpc>
            </a:pPr>
            <a:r>
              <a:rPr lang="he-IL" sz="2400" dirty="0"/>
              <a:t>ההנחה הייתה שהאתר ממלא את כל היקום, וכדור הארץ נע בתוכו בזמן שהוא מקיף את השמש. 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אם זה נכון, אמורה להיות "רוח אתר" (בדומה לרוח שמרגישים כשמוציאים יד מחלון מכונית נוסעת)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מכיוון שאין הבדל אם היד נעה מול האוויר או שהאוויר נע למול היד הרי </a:t>
            </a:r>
            <a:r>
              <a:rPr lang="he-IL" sz="2400" dirty="0">
                <a:solidFill>
                  <a:srgbClr val="FFFF00"/>
                </a:solidFill>
              </a:rPr>
              <a:t>שכשכדור הארץ עובר דרך האתר זה כמו רוח אתר שנעה </a:t>
            </a:r>
            <a:r>
              <a:rPr lang="he-IL" sz="2400" dirty="0" err="1">
                <a:solidFill>
                  <a:srgbClr val="FFFF00"/>
                </a:solidFill>
              </a:rPr>
              <a:t>למולו</a:t>
            </a:r>
            <a:r>
              <a:rPr lang="he-IL" sz="2400" dirty="0">
                <a:solidFill>
                  <a:srgbClr val="FFFF00"/>
                </a:solidFill>
              </a:rPr>
              <a:t> . </a:t>
            </a:r>
            <a:endParaRPr lang="en-US" sz="2400" dirty="0">
              <a:solidFill>
                <a:srgbClr val="FFFF00"/>
              </a:solidFill>
            </a:endParaRPr>
          </a:p>
          <a:p>
            <a:pPr>
              <a:lnSpc>
                <a:spcPct val="20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746740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39D20-32E7-A592-0DB9-085E05F35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82BBF41-4187-0591-C6F3-AD599F941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ניסוי </a:t>
            </a:r>
            <a:r>
              <a:rPr lang="he-IL" dirty="0" err="1">
                <a:cs typeface="+mn-cs"/>
              </a:rPr>
              <a:t>מייקלסון</a:t>
            </a:r>
            <a:r>
              <a:rPr lang="he-IL" dirty="0">
                <a:cs typeface="+mn-cs"/>
              </a:rPr>
              <a:t> מורלי-1887 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B07A4B98-B24F-BCE7-F41B-4A1E7010EC76}"/>
              </a:ext>
            </a:extLst>
          </p:cNvPr>
          <p:cNvSpPr/>
          <p:nvPr/>
        </p:nvSpPr>
        <p:spPr>
          <a:xfrm>
            <a:off x="1618488" y="1671607"/>
            <a:ext cx="9966960" cy="46560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he-IL" sz="3600" dirty="0"/>
          </a:p>
          <a:p>
            <a:pPr>
              <a:lnSpc>
                <a:spcPct val="150000"/>
              </a:lnSpc>
            </a:pPr>
            <a:r>
              <a:rPr lang="he-IL" sz="2400" dirty="0"/>
              <a:t>אלברט </a:t>
            </a:r>
            <a:r>
              <a:rPr lang="he-IL" sz="2400" dirty="0" err="1"/>
              <a:t>מייקלסון</a:t>
            </a:r>
            <a:r>
              <a:rPr lang="he-IL" sz="2400" dirty="0"/>
              <a:t> ואדוארד מורלי רצו למדוד את מהירות כדור הארץ ביחס לאתר. הם הניחו שמהירות האור תשתנה בהתאם לכיוון התנועה שלו ביחס ל"רוח" הזו</a:t>
            </a:r>
            <a:r>
              <a:rPr lang="en-US" sz="2400" dirty="0"/>
              <a:t>:</a:t>
            </a:r>
          </a:p>
          <a:p>
            <a:pPr lvl="0">
              <a:lnSpc>
                <a:spcPct val="150000"/>
              </a:lnSpc>
            </a:pPr>
            <a:r>
              <a:rPr lang="he-IL" sz="2400" dirty="0"/>
              <a:t>אור שנע עם כיוון הרוח אמור לנוע מהר יותר</a:t>
            </a:r>
            <a:r>
              <a:rPr lang="en-US" sz="2400" dirty="0"/>
              <a:t>.</a:t>
            </a:r>
            <a:r>
              <a:rPr lang="he-IL" sz="2400" dirty="0"/>
              <a:t> כמו גל </a:t>
            </a:r>
            <a:r>
              <a:rPr lang="he-IL" sz="2400" dirty="0" err="1"/>
              <a:t>במיים</a:t>
            </a:r>
            <a:r>
              <a:rPr lang="he-IL" sz="2400" dirty="0"/>
              <a:t> שנע מהר יותר עם </a:t>
            </a:r>
            <a:r>
              <a:rPr lang="he-IL" sz="2400" dirty="0" err="1"/>
              <a:t>המיים</a:t>
            </a:r>
            <a:r>
              <a:rPr lang="he-IL" sz="2400" dirty="0"/>
              <a:t> זורמים בכיוון ההתפשטות שלו. </a:t>
            </a:r>
            <a:endParaRPr lang="en-US" sz="2400" dirty="0"/>
          </a:p>
          <a:p>
            <a:pPr lvl="0">
              <a:lnSpc>
                <a:spcPct val="150000"/>
              </a:lnSpc>
            </a:pPr>
            <a:r>
              <a:rPr lang="he-IL" sz="2400" dirty="0"/>
              <a:t>אור שנע נגד כיוון הרוח אמור לנוע לאט יותר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088993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2B782-2536-08BA-CACB-A0E4E92FD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436182F-35DE-3847-3B99-A0C243C06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ניסוי </a:t>
            </a:r>
            <a:r>
              <a:rPr lang="he-IL" dirty="0" err="1">
                <a:cs typeface="+mn-cs"/>
              </a:rPr>
              <a:t>מייקלסון</a:t>
            </a:r>
            <a:r>
              <a:rPr lang="he-IL" dirty="0">
                <a:cs typeface="+mn-cs"/>
              </a:rPr>
              <a:t> מורלי-מערך הניסוי 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6733DEA0-79DC-14A3-4A71-3EEAC62F9060}"/>
              </a:ext>
            </a:extLst>
          </p:cNvPr>
          <p:cNvSpPr/>
          <p:nvPr/>
        </p:nvSpPr>
        <p:spPr>
          <a:xfrm>
            <a:off x="3593592" y="1552734"/>
            <a:ext cx="8375904" cy="50583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he-IL" sz="2400" dirty="0"/>
          </a:p>
          <a:p>
            <a:pPr>
              <a:lnSpc>
                <a:spcPct val="150000"/>
              </a:lnSpc>
            </a:pPr>
            <a:r>
              <a:rPr lang="he-IL" sz="2400" dirty="0"/>
              <a:t>הם בנו </a:t>
            </a:r>
            <a:r>
              <a:rPr lang="he-IL" sz="2400" dirty="0" err="1"/>
              <a:t>אינטרפרומטר</a:t>
            </a:r>
            <a:r>
              <a:rPr lang="en-US" sz="2400" dirty="0"/>
              <a:t>.</a:t>
            </a:r>
            <a:r>
              <a:rPr lang="he-IL" sz="2400" dirty="0"/>
              <a:t>שיודע למדוד הפרש דרכים אופטיות.</a:t>
            </a:r>
            <a:endParaRPr lang="en-US" sz="2400" dirty="0"/>
          </a:p>
          <a:p>
            <a:pPr lvl="0">
              <a:lnSpc>
                <a:spcPct val="150000"/>
              </a:lnSpc>
            </a:pPr>
            <a:r>
              <a:rPr lang="he-IL" sz="2400" dirty="0"/>
              <a:t>קרן אור אחת נשלחת ממקור אור</a:t>
            </a:r>
            <a:r>
              <a:rPr lang="en-US" sz="2400" dirty="0"/>
              <a:t>. </a:t>
            </a:r>
          </a:p>
          <a:p>
            <a:pPr lvl="0">
              <a:lnSpc>
                <a:spcPct val="150000"/>
              </a:lnSpc>
            </a:pPr>
            <a:r>
              <a:rPr lang="he-IL" sz="2400" dirty="0"/>
              <a:t>הקרן פוגעת במראה חצי-שקופה שמפצלת אותה לשתי קרניים בזוויות ישרות זו לזו</a:t>
            </a:r>
            <a:r>
              <a:rPr lang="en-US" sz="2400" dirty="0"/>
              <a:t>.</a:t>
            </a:r>
          </a:p>
          <a:p>
            <a:pPr lvl="0">
              <a:lnSpc>
                <a:spcPct val="150000"/>
              </a:lnSpc>
            </a:pPr>
            <a:r>
              <a:rPr lang="he-IL" sz="2400" dirty="0"/>
              <a:t>כל קרן נעה למרחק שווה, פוגעת במראה וחוזרת לנקודת המפגש</a:t>
            </a:r>
            <a:r>
              <a:rPr lang="en-US" sz="2400" dirty="0"/>
              <a:t>.</a:t>
            </a:r>
          </a:p>
          <a:p>
            <a:pPr lvl="0">
              <a:lnSpc>
                <a:spcPct val="150000"/>
              </a:lnSpc>
            </a:pPr>
            <a:r>
              <a:rPr lang="he-IL" sz="2400" dirty="0"/>
              <a:t>הקרניים מתאחדות שוב ויוצרות תבנית התאבכות (פסים של אור וחושך)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אם אחת הקרניים הייתה נעה לאט יותר בגלל "רוח האתר", היא הייתה חוזרת ב"איחור קל", ותבנית ההתאבכות הייתה משתנה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CE67A718-2DA8-4CB0-1623-EDA531139C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823083"/>
            <a:ext cx="3593592" cy="366614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2416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3ACF7-CE51-85B9-02F6-111444DD7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25E8CB2-D785-5938-B146-D9D54944E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ניסוי </a:t>
            </a:r>
            <a:r>
              <a:rPr lang="he-IL" dirty="0" err="1">
                <a:cs typeface="+mn-cs"/>
              </a:rPr>
              <a:t>מייקלסון</a:t>
            </a:r>
            <a:r>
              <a:rPr lang="he-IL" dirty="0">
                <a:cs typeface="+mn-cs"/>
              </a:rPr>
              <a:t> מורלי-מערך הניסוי 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FE122ED8-314C-8A3D-91FC-0A7056FB8DC5}"/>
                  </a:ext>
                </a:extLst>
              </p:cNvPr>
              <p:cNvSpPr/>
              <p:nvPr/>
            </p:nvSpPr>
            <p:spPr>
              <a:xfrm>
                <a:off x="1298448" y="1671607"/>
                <a:ext cx="10287000" cy="465604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he-IL" sz="2400" b="1" dirty="0"/>
                  <a:t>ננתח את התוצאות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ניתן לנתח את התוצאות במערכת של האתר הנייח </a:t>
                </a:r>
                <a:r>
                  <a:rPr lang="he-IL" sz="2400" dirty="0" err="1"/>
                  <a:t>שהאינטפרמרומטר</a:t>
                </a:r>
                <a:r>
                  <a:rPr lang="he-IL" sz="2400" dirty="0"/>
                  <a:t> נע בו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או במערכת המעבדה שהאתר נושב עליה . </a:t>
                </a:r>
                <a:r>
                  <a:rPr lang="he-IL" sz="2400" dirty="0">
                    <a:solidFill>
                      <a:srgbClr val="FFFF00"/>
                    </a:solidFill>
                  </a:rPr>
                  <a:t>אנחנו ננתח במערכת המעבדה. </a:t>
                </a:r>
                <a:endParaRPr lang="en-US" sz="2400" dirty="0">
                  <a:solidFill>
                    <a:srgbClr val="FFFF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יש שתי זרועות </a:t>
                </a:r>
                <a:r>
                  <a:rPr lang="he-IL" sz="2400" dirty="0" err="1"/>
                  <a:t>לאינטרפרומטר</a:t>
                </a:r>
                <a:r>
                  <a:rPr lang="he-IL" sz="2400" dirty="0"/>
                  <a:t> .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he-IL" sz="2400" dirty="0"/>
                  <a:t>נניח שזרוע אחת מקבילה לכיוון מזרח מערב ז"א היא נעה במקביל לרוח האתר  </a:t>
                </a:r>
                <a:endParaRPr lang="en-US" sz="2400" dirty="0"/>
              </a:p>
              <a:p>
                <a:pPr marL="34290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he-IL" sz="2400" dirty="0"/>
                  <a:t>ונניח שהזרוע </a:t>
                </a:r>
                <a:r>
                  <a:rPr lang="he-IL" sz="2400" dirty="0" err="1"/>
                  <a:t>השניה</a:t>
                </a:r>
                <a:r>
                  <a:rPr lang="he-IL" sz="2400" dirty="0"/>
                  <a:t> נצבת לראשונה </a:t>
                </a:r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נניח שמהירות כדור הארץ ביחס לאתר היא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he-IL" sz="2400" dirty="0"/>
                  <a:t>ולכן </a:t>
                </a:r>
                <a:r>
                  <a:rPr lang="he-IL" sz="2400" dirty="0" err="1"/>
                  <a:t>האינטרפרומטר</a:t>
                </a:r>
                <a:r>
                  <a:rPr lang="he-IL" sz="2400" dirty="0"/>
                  <a:t> נע דרך האתר ימינה (שרירותי) באותה המהירות . </a:t>
                </a:r>
                <a:endParaRPr lang="en-US" sz="2400" dirty="0"/>
              </a:p>
            </p:txBody>
          </p:sp>
        </mc:Choice>
        <mc:Fallback xmlns="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FE122ED8-314C-8A3D-91FC-0A7056FB8D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448" y="1671607"/>
                <a:ext cx="10287000" cy="4656042"/>
              </a:xfrm>
              <a:prstGeom prst="roundRect">
                <a:avLst/>
              </a:prstGeom>
              <a:blipFill>
                <a:blip r:embed="rId2"/>
                <a:stretch>
                  <a:fillRect b="-13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5160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BD31B-9822-524E-87D7-AEAED3430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0D159BC-90C8-EB22-72A6-B3C852642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ניסוי </a:t>
            </a:r>
            <a:r>
              <a:rPr lang="he-IL" dirty="0" err="1">
                <a:cs typeface="+mn-cs"/>
              </a:rPr>
              <a:t>מייקלסון</a:t>
            </a:r>
            <a:r>
              <a:rPr lang="he-IL" dirty="0">
                <a:cs typeface="+mn-cs"/>
              </a:rPr>
              <a:t> מורלי-תוצאות מצופות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243BAEB6-39E6-CEE4-38AF-861090F910B5}"/>
                  </a:ext>
                </a:extLst>
              </p:cNvPr>
              <p:cNvSpPr/>
              <p:nvPr/>
            </p:nvSpPr>
            <p:spPr>
              <a:xfrm>
                <a:off x="1298448" y="1671607"/>
                <a:ext cx="10287000" cy="465604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he-IL" sz="2400" b="1" dirty="0"/>
                  <a:t>הזרוע המקבילה </a:t>
                </a:r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he-IL" sz="2400" b="1" dirty="0"/>
                  <a:t>בהלוך</a:t>
                </a:r>
                <a:r>
                  <a:rPr lang="he-IL" sz="2400" dirty="0"/>
                  <a:t> : האור נע נגד הרוח במהירות </a:t>
                </a:r>
                <a:r>
                  <a:rPr lang="en-US" sz="2400" dirty="0"/>
                  <a:t>c </a:t>
                </a:r>
                <a:r>
                  <a:rPr lang="he-IL" sz="2400" dirty="0"/>
                  <a:t> לכן המהירות היחסית היא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he-IL" sz="2400" b="1" dirty="0"/>
                  <a:t>בחזור</a:t>
                </a:r>
                <a:r>
                  <a:rPr lang="en-US" sz="2400" b="1" dirty="0"/>
                  <a:t>:</a:t>
                </a:r>
                <a:r>
                  <a:rPr lang="en-US" sz="2400" dirty="0"/>
                  <a:t>  </a:t>
                </a:r>
                <a:r>
                  <a:rPr lang="he-IL" sz="2400" dirty="0"/>
                  <a:t> האור נע עם כיוון הרוח, ולכן המהירות היחסית היא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endParaRPr lang="en-US" sz="2400" dirty="0"/>
              </a:p>
              <a:p>
                <a:pPr>
                  <a:lnSpc>
                    <a:spcPct val="150000"/>
                  </a:lnSpc>
                </a:pPr>
                <a:endParaRPr lang="en-US" sz="4000" dirty="0"/>
              </a:p>
            </p:txBody>
          </p:sp>
        </mc:Choice>
        <mc:Fallback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243BAEB6-39E6-CEE4-38AF-861090F910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448" y="1671607"/>
                <a:ext cx="10287000" cy="465604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04149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BD31B-9822-524E-87D7-AEAED3430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0D159BC-90C8-EB22-72A6-B3C852642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ניסוי </a:t>
            </a:r>
            <a:r>
              <a:rPr lang="he-IL" dirty="0" err="1">
                <a:cs typeface="+mn-cs"/>
              </a:rPr>
              <a:t>מייקלסון</a:t>
            </a:r>
            <a:r>
              <a:rPr lang="he-IL" dirty="0">
                <a:cs typeface="+mn-cs"/>
              </a:rPr>
              <a:t> מורלי-תוצאות מצופות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243BAEB6-39E6-CEE4-38AF-861090F910B5}"/>
                  </a:ext>
                </a:extLst>
              </p:cNvPr>
              <p:cNvSpPr/>
              <p:nvPr/>
            </p:nvSpPr>
            <p:spPr>
              <a:xfrm>
                <a:off x="1298448" y="1671607"/>
                <a:ext cx="10287000" cy="465604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he-IL" sz="2400" b="1" dirty="0"/>
                  <a:t>הזרוע המקבילה </a:t>
                </a:r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he-IL" sz="2400" b="1" dirty="0"/>
                  <a:t>בהלוך</a:t>
                </a:r>
                <a:r>
                  <a:rPr lang="he-IL" sz="2400" dirty="0"/>
                  <a:t> : האור נע נגד הרוח במהירות </a:t>
                </a:r>
                <a:r>
                  <a:rPr lang="en-US" sz="2400" dirty="0"/>
                  <a:t>c </a:t>
                </a:r>
                <a:r>
                  <a:rPr lang="he-IL" sz="2400" dirty="0"/>
                  <a:t> לכן המהירות היחסית היא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he-IL" sz="2400" b="1" dirty="0"/>
                  <a:t>בחזור</a:t>
                </a:r>
                <a:r>
                  <a:rPr lang="en-US" sz="2400" b="1" dirty="0"/>
                  <a:t>:</a:t>
                </a:r>
                <a:r>
                  <a:rPr lang="en-US" sz="2400" dirty="0"/>
                  <a:t>  </a:t>
                </a:r>
                <a:r>
                  <a:rPr lang="he-IL" sz="2400" dirty="0"/>
                  <a:t> האור נע עם כיוון הרוח, ולכן המהירות היחסית היא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הזמן שלוקח לקרן האור לנוע הלוך וחזור הוא</a:t>
                </a:r>
                <a:r>
                  <a:rPr lang="en-US" sz="2400" dirty="0"/>
                  <a:t>:</a:t>
                </a:r>
                <a:r>
                  <a:rPr lang="he-IL" sz="2400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𝐿𝑐</m:t>
                        </m:r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endParaRPr lang="en-US" sz="4000" dirty="0"/>
              </a:p>
            </p:txBody>
          </p:sp>
        </mc:Choice>
        <mc:Fallback xmlns="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243BAEB6-39E6-CEE4-38AF-861090F910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448" y="1671607"/>
                <a:ext cx="10287000" cy="465604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4146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9AE43-C109-97C5-B610-EBB5A4BF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F5E906F-16AC-0AAB-0061-419FF7CC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ניסוי </a:t>
            </a:r>
            <a:r>
              <a:rPr lang="he-IL" dirty="0" err="1">
                <a:cs typeface="+mn-cs"/>
              </a:rPr>
              <a:t>מייקלסון</a:t>
            </a:r>
            <a:r>
              <a:rPr lang="he-IL" dirty="0">
                <a:cs typeface="+mn-cs"/>
              </a:rPr>
              <a:t> מורלי-תוצאות מצופות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712F70C9-7BA5-7EAB-8CC0-4AAD36B8C165}"/>
              </a:ext>
            </a:extLst>
          </p:cNvPr>
          <p:cNvSpPr/>
          <p:nvPr/>
        </p:nvSpPr>
        <p:spPr>
          <a:xfrm>
            <a:off x="1243584" y="1678819"/>
            <a:ext cx="10287000" cy="46560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he-IL" sz="2400" b="1" dirty="0"/>
              <a:t>הזרוע הניצבת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כאשר המכשיר נע ימינה והקרן נעה עם מהירות </a:t>
            </a:r>
            <a:r>
              <a:rPr lang="en-US" sz="2400" dirty="0"/>
              <a:t>C</a:t>
            </a:r>
            <a:r>
              <a:rPr lang="he-IL" sz="2400" dirty="0"/>
              <a:t> בניצב 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יש לקרן יש שני רכיבי מהירות שיוצרים תנועה באלכסון כמתואר באיור. </a:t>
            </a: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  <a:p>
            <a:endParaRPr lang="en-US" sz="2400" dirty="0"/>
          </a:p>
        </p:txBody>
      </p:sp>
      <p:grpSp>
        <p:nvGrpSpPr>
          <p:cNvPr id="18" name="קבוצה 17">
            <a:extLst>
              <a:ext uri="{FF2B5EF4-FFF2-40B4-BE49-F238E27FC236}">
                <a16:creationId xmlns:a16="http://schemas.microsoft.com/office/drawing/2014/main" id="{7B7DFE70-E5BC-A483-F3F9-DFD6A46A7AEA}"/>
              </a:ext>
            </a:extLst>
          </p:cNvPr>
          <p:cNvGrpSpPr/>
          <p:nvPr/>
        </p:nvGrpSpPr>
        <p:grpSpPr>
          <a:xfrm>
            <a:off x="1290495" y="2475230"/>
            <a:ext cx="1978358" cy="1907540"/>
            <a:chOff x="-99413" y="0"/>
            <a:chExt cx="1978759" cy="1908000"/>
          </a:xfrm>
          <a:solidFill>
            <a:schemeClr val="bg1"/>
          </a:solidFill>
        </p:grpSpPr>
        <p:sp>
          <p:nvSpPr>
            <p:cNvPr id="19" name="משולש שווה-שוקיים 18">
              <a:extLst>
                <a:ext uri="{FF2B5EF4-FFF2-40B4-BE49-F238E27FC236}">
                  <a16:creationId xmlns:a16="http://schemas.microsoft.com/office/drawing/2014/main" id="{376691B0-19B8-9FC9-0205-0B859FFF35AA}"/>
                </a:ext>
              </a:extLst>
            </p:cNvPr>
            <p:cNvSpPr/>
            <p:nvPr/>
          </p:nvSpPr>
          <p:spPr>
            <a:xfrm>
              <a:off x="402336" y="20422"/>
              <a:ext cx="1477010" cy="1879600"/>
            </a:xfrm>
            <a:prstGeom prst="triangl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20" name="מחבר ישר 19">
              <a:extLst>
                <a:ext uri="{FF2B5EF4-FFF2-40B4-BE49-F238E27FC236}">
                  <a16:creationId xmlns:a16="http://schemas.microsoft.com/office/drawing/2014/main" id="{9D152F44-B262-7CF5-B55F-922CACDA4CC2}"/>
                </a:ext>
              </a:extLst>
            </p:cNvPr>
            <p:cNvCxnSpPr/>
            <p:nvPr/>
          </p:nvCxnSpPr>
          <p:spPr>
            <a:xfrm>
              <a:off x="1141172" y="13107"/>
              <a:ext cx="0" cy="1886915"/>
            </a:xfrm>
            <a:prstGeom prst="line">
              <a:avLst/>
            </a:prstGeom>
            <a:grpFill/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מחבר חץ ישר 20">
              <a:extLst>
                <a:ext uri="{FF2B5EF4-FFF2-40B4-BE49-F238E27FC236}">
                  <a16:creationId xmlns:a16="http://schemas.microsoft.com/office/drawing/2014/main" id="{AEEDEAFB-67A8-65F2-4E70-95CBDCBE4BB0}"/>
                </a:ext>
              </a:extLst>
            </p:cNvPr>
            <p:cNvCxnSpPr/>
            <p:nvPr/>
          </p:nvCxnSpPr>
          <p:spPr>
            <a:xfrm flipV="1">
              <a:off x="266396" y="0"/>
              <a:ext cx="21946" cy="1908000"/>
            </a:xfrm>
            <a:prstGeom prst="straightConnector1">
              <a:avLst/>
            </a:prstGeom>
            <a:grpFill/>
            <a:ln>
              <a:solidFill>
                <a:schemeClr val="bg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תיבת טקסט 22">
              <a:extLst>
                <a:ext uri="{FF2B5EF4-FFF2-40B4-BE49-F238E27FC236}">
                  <a16:creationId xmlns:a16="http://schemas.microsoft.com/office/drawing/2014/main" id="{083AF7B7-E3E7-BEBA-8DF7-C49CD385319C}"/>
                </a:ext>
              </a:extLst>
            </p:cNvPr>
            <p:cNvSpPr txBox="1"/>
            <p:nvPr/>
          </p:nvSpPr>
          <p:spPr>
            <a:xfrm>
              <a:off x="-99413" y="624816"/>
              <a:ext cx="321869" cy="329184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480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9AE43-C109-97C5-B610-EBB5A4BF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F5E906F-16AC-0AAB-0061-419FF7CC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ניסוי </a:t>
            </a:r>
            <a:r>
              <a:rPr lang="he-IL" dirty="0" err="1">
                <a:cs typeface="+mn-cs"/>
              </a:rPr>
              <a:t>מייקלסון</a:t>
            </a:r>
            <a:r>
              <a:rPr lang="he-IL" dirty="0">
                <a:cs typeface="+mn-cs"/>
              </a:rPr>
              <a:t> מורלי-תוצאות מצופות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712F70C9-7BA5-7EAB-8CC0-4AAD36B8C165}"/>
                  </a:ext>
                </a:extLst>
              </p:cNvPr>
              <p:cNvSpPr/>
              <p:nvPr/>
            </p:nvSpPr>
            <p:spPr>
              <a:xfrm>
                <a:off x="1243584" y="1678819"/>
                <a:ext cx="10287000" cy="465604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150000"/>
                  </a:lnSpc>
                </a:pPr>
                <a:r>
                  <a:rPr lang="he-IL" sz="2400" b="1" dirty="0"/>
                  <a:t>הזרוע הניצבת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כאשר המכשיר נע ימינה והקרן נעה עם מהירות </a:t>
                </a:r>
                <a:r>
                  <a:rPr lang="en-US" sz="2400" dirty="0"/>
                  <a:t>C</a:t>
                </a:r>
                <a:r>
                  <a:rPr lang="he-IL" sz="2400" dirty="0"/>
                  <a:t> בניצב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יש לקרן יש שני רכיבי מהירות שיוצרים תנועה באלכסון כמתואר באיור. </a:t>
                </a:r>
                <a:r>
                  <a:rPr lang="en-US" sz="2400" dirty="0"/>
                  <a:t/>
                </a:r>
                <a:br>
                  <a:rPr lang="en-US" sz="2400" dirty="0"/>
                </a:br>
                <a:r>
                  <a:rPr lang="he-IL" sz="2400" dirty="0"/>
                  <a:t>הזמן שלוקח לקרן לנוע עד המראה ומהמראה יסומן ב: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endParaRPr lang="en-US" sz="2400" dirty="0"/>
              </a:p>
              <a:p>
                <a:r>
                  <a:rPr lang="he-IL" sz="2400" dirty="0"/>
                  <a:t>חצי הבסיס שווה ל: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712F70C9-7BA5-7EAB-8CC0-4AAD36B8C1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584" y="1678819"/>
                <a:ext cx="10287000" cy="465604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קבוצה 17">
            <a:extLst>
              <a:ext uri="{FF2B5EF4-FFF2-40B4-BE49-F238E27FC236}">
                <a16:creationId xmlns:a16="http://schemas.microsoft.com/office/drawing/2014/main" id="{7B7DFE70-E5BC-A483-F3F9-DFD6A46A7AEA}"/>
              </a:ext>
            </a:extLst>
          </p:cNvPr>
          <p:cNvGrpSpPr/>
          <p:nvPr/>
        </p:nvGrpSpPr>
        <p:grpSpPr>
          <a:xfrm>
            <a:off x="1290495" y="2475230"/>
            <a:ext cx="1978358" cy="1907540"/>
            <a:chOff x="-99413" y="0"/>
            <a:chExt cx="1978759" cy="1908000"/>
          </a:xfrm>
          <a:solidFill>
            <a:schemeClr val="bg1"/>
          </a:solidFill>
        </p:grpSpPr>
        <p:sp>
          <p:nvSpPr>
            <p:cNvPr id="19" name="משולש שווה-שוקיים 18">
              <a:extLst>
                <a:ext uri="{FF2B5EF4-FFF2-40B4-BE49-F238E27FC236}">
                  <a16:creationId xmlns:a16="http://schemas.microsoft.com/office/drawing/2014/main" id="{376691B0-19B8-9FC9-0205-0B859FFF35AA}"/>
                </a:ext>
              </a:extLst>
            </p:cNvPr>
            <p:cNvSpPr/>
            <p:nvPr/>
          </p:nvSpPr>
          <p:spPr>
            <a:xfrm>
              <a:off x="402336" y="20422"/>
              <a:ext cx="1477010" cy="1879600"/>
            </a:xfrm>
            <a:prstGeom prst="triangl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20" name="מחבר ישר 19">
              <a:extLst>
                <a:ext uri="{FF2B5EF4-FFF2-40B4-BE49-F238E27FC236}">
                  <a16:creationId xmlns:a16="http://schemas.microsoft.com/office/drawing/2014/main" id="{9D152F44-B262-7CF5-B55F-922CACDA4CC2}"/>
                </a:ext>
              </a:extLst>
            </p:cNvPr>
            <p:cNvCxnSpPr/>
            <p:nvPr/>
          </p:nvCxnSpPr>
          <p:spPr>
            <a:xfrm>
              <a:off x="1141172" y="13107"/>
              <a:ext cx="0" cy="1886915"/>
            </a:xfrm>
            <a:prstGeom prst="line">
              <a:avLst/>
            </a:prstGeom>
            <a:grpFill/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מחבר חץ ישר 20">
              <a:extLst>
                <a:ext uri="{FF2B5EF4-FFF2-40B4-BE49-F238E27FC236}">
                  <a16:creationId xmlns:a16="http://schemas.microsoft.com/office/drawing/2014/main" id="{AEEDEAFB-67A8-65F2-4E70-95CBDCBE4BB0}"/>
                </a:ext>
              </a:extLst>
            </p:cNvPr>
            <p:cNvCxnSpPr/>
            <p:nvPr/>
          </p:nvCxnSpPr>
          <p:spPr>
            <a:xfrm flipV="1">
              <a:off x="266396" y="0"/>
              <a:ext cx="21946" cy="1908000"/>
            </a:xfrm>
            <a:prstGeom prst="straightConnector1">
              <a:avLst/>
            </a:prstGeom>
            <a:grpFill/>
            <a:ln>
              <a:solidFill>
                <a:schemeClr val="bg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תיבת טקסט 22">
              <a:extLst>
                <a:ext uri="{FF2B5EF4-FFF2-40B4-BE49-F238E27FC236}">
                  <a16:creationId xmlns:a16="http://schemas.microsoft.com/office/drawing/2014/main" id="{083AF7B7-E3E7-BEBA-8DF7-C49CD385319C}"/>
                </a:ext>
              </a:extLst>
            </p:cNvPr>
            <p:cNvSpPr txBox="1"/>
            <p:nvPr/>
          </p:nvSpPr>
          <p:spPr>
            <a:xfrm>
              <a:off x="-99413" y="624816"/>
              <a:ext cx="321869" cy="329184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8160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9AE43-C109-97C5-B610-EBB5A4BF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F5E906F-16AC-0AAB-0061-419FF7CC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ניסוי </a:t>
            </a:r>
            <a:r>
              <a:rPr lang="he-IL" dirty="0" err="1">
                <a:cs typeface="+mn-cs"/>
              </a:rPr>
              <a:t>מייקלסון</a:t>
            </a:r>
            <a:r>
              <a:rPr lang="he-IL" dirty="0">
                <a:cs typeface="+mn-cs"/>
              </a:rPr>
              <a:t> מורלי-תוצאות מצופות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712F70C9-7BA5-7EAB-8CC0-4AAD36B8C165}"/>
                  </a:ext>
                </a:extLst>
              </p:cNvPr>
              <p:cNvSpPr/>
              <p:nvPr/>
            </p:nvSpPr>
            <p:spPr>
              <a:xfrm>
                <a:off x="1243584" y="1678819"/>
                <a:ext cx="10287000" cy="465604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150000"/>
                  </a:lnSpc>
                </a:pPr>
                <a:r>
                  <a:rPr lang="he-IL" sz="2400" b="1" dirty="0"/>
                  <a:t>הזרוע הניצבת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כאשר המכשיר נע ימינה והקרן נעה עם מהירות </a:t>
                </a:r>
                <a:r>
                  <a:rPr lang="en-US" sz="2400" dirty="0"/>
                  <a:t>C</a:t>
                </a:r>
                <a:r>
                  <a:rPr lang="he-IL" sz="2400" dirty="0"/>
                  <a:t> בניצב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יש לקרן יש שני רכיבי מהירות שיוצרים תנועה באלכסון כמתואר באיור. </a:t>
                </a:r>
                <a:r>
                  <a:rPr lang="en-US" sz="2400" dirty="0"/>
                  <a:t/>
                </a:r>
                <a:br>
                  <a:rPr lang="en-US" sz="2400" dirty="0"/>
                </a:br>
                <a:r>
                  <a:rPr lang="he-IL" sz="2400" dirty="0"/>
                  <a:t>הזמן שלוקח לקרן לנוע עד המראה ומהמראה יסומן ב: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endParaRPr lang="en-US" sz="2400" dirty="0"/>
              </a:p>
              <a:p>
                <a:r>
                  <a:rPr lang="he-IL" sz="2400" dirty="0"/>
                  <a:t>חצי הבסיס שווה ל: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endParaRPr lang="en-US" sz="2400" dirty="0"/>
              </a:p>
              <a:p>
                <a:r>
                  <a:rPr lang="he-IL" sz="2400" dirty="0"/>
                  <a:t>היתר: האור נע במהירות </a:t>
                </a:r>
                <a:r>
                  <a:rPr lang="en-US" sz="2400" dirty="0"/>
                  <a:t>C  </a:t>
                </a:r>
                <a:r>
                  <a:rPr lang="he-IL" sz="2400" dirty="0"/>
                  <a:t> במשך זמן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he-IL" sz="2400" dirty="0"/>
                  <a:t> לכן אורך המסלול האלכסוני הוא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𝑐𝑇</m:t>
                        </m:r>
                      </m:e>
                      <m:sub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endParaRPr lang="en-US" sz="2400" dirty="0"/>
              </a:p>
              <a:p>
                <a:r>
                  <a:rPr lang="he-IL" sz="2400" dirty="0"/>
                  <a:t>ע"י </a:t>
                </a:r>
                <a:r>
                  <a:rPr lang="he-IL" sz="2400" dirty="0" err="1"/>
                  <a:t>פתגורס</a:t>
                </a:r>
                <a:r>
                  <a:rPr lang="he-IL" sz="2400" dirty="0"/>
                  <a:t> נחלץ את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he-IL" sz="2400" dirty="0"/>
                  <a:t>: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𝑐𝑇</m:t>
                                </m:r>
                              </m:e>
                              <m:sub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712F70C9-7BA5-7EAB-8CC0-4AAD36B8C1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584" y="1678819"/>
                <a:ext cx="10287000" cy="465604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קבוצה 17">
            <a:extLst>
              <a:ext uri="{FF2B5EF4-FFF2-40B4-BE49-F238E27FC236}">
                <a16:creationId xmlns:a16="http://schemas.microsoft.com/office/drawing/2014/main" id="{7B7DFE70-E5BC-A483-F3F9-DFD6A46A7AEA}"/>
              </a:ext>
            </a:extLst>
          </p:cNvPr>
          <p:cNvGrpSpPr/>
          <p:nvPr/>
        </p:nvGrpSpPr>
        <p:grpSpPr>
          <a:xfrm>
            <a:off x="1290495" y="2475230"/>
            <a:ext cx="1978358" cy="1907540"/>
            <a:chOff x="-99413" y="0"/>
            <a:chExt cx="1978759" cy="1908000"/>
          </a:xfrm>
          <a:solidFill>
            <a:schemeClr val="bg1"/>
          </a:solidFill>
        </p:grpSpPr>
        <p:sp>
          <p:nvSpPr>
            <p:cNvPr id="19" name="משולש שווה-שוקיים 18">
              <a:extLst>
                <a:ext uri="{FF2B5EF4-FFF2-40B4-BE49-F238E27FC236}">
                  <a16:creationId xmlns:a16="http://schemas.microsoft.com/office/drawing/2014/main" id="{376691B0-19B8-9FC9-0205-0B859FFF35AA}"/>
                </a:ext>
              </a:extLst>
            </p:cNvPr>
            <p:cNvSpPr/>
            <p:nvPr/>
          </p:nvSpPr>
          <p:spPr>
            <a:xfrm>
              <a:off x="402336" y="20422"/>
              <a:ext cx="1477010" cy="1879600"/>
            </a:xfrm>
            <a:prstGeom prst="triangl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20" name="מחבר ישר 19">
              <a:extLst>
                <a:ext uri="{FF2B5EF4-FFF2-40B4-BE49-F238E27FC236}">
                  <a16:creationId xmlns:a16="http://schemas.microsoft.com/office/drawing/2014/main" id="{9D152F44-B262-7CF5-B55F-922CACDA4CC2}"/>
                </a:ext>
              </a:extLst>
            </p:cNvPr>
            <p:cNvCxnSpPr/>
            <p:nvPr/>
          </p:nvCxnSpPr>
          <p:spPr>
            <a:xfrm>
              <a:off x="1141172" y="13107"/>
              <a:ext cx="0" cy="1886915"/>
            </a:xfrm>
            <a:prstGeom prst="line">
              <a:avLst/>
            </a:prstGeom>
            <a:grpFill/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מחבר חץ ישר 20">
              <a:extLst>
                <a:ext uri="{FF2B5EF4-FFF2-40B4-BE49-F238E27FC236}">
                  <a16:creationId xmlns:a16="http://schemas.microsoft.com/office/drawing/2014/main" id="{AEEDEAFB-67A8-65F2-4E70-95CBDCBE4BB0}"/>
                </a:ext>
              </a:extLst>
            </p:cNvPr>
            <p:cNvCxnSpPr/>
            <p:nvPr/>
          </p:nvCxnSpPr>
          <p:spPr>
            <a:xfrm flipV="1">
              <a:off x="266396" y="0"/>
              <a:ext cx="21946" cy="1908000"/>
            </a:xfrm>
            <a:prstGeom prst="straightConnector1">
              <a:avLst/>
            </a:prstGeom>
            <a:grpFill/>
            <a:ln>
              <a:solidFill>
                <a:schemeClr val="bg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תיבת טקסט 22">
              <a:extLst>
                <a:ext uri="{FF2B5EF4-FFF2-40B4-BE49-F238E27FC236}">
                  <a16:creationId xmlns:a16="http://schemas.microsoft.com/office/drawing/2014/main" id="{083AF7B7-E3E7-BEBA-8DF7-C49CD385319C}"/>
                </a:ext>
              </a:extLst>
            </p:cNvPr>
            <p:cNvSpPr txBox="1"/>
            <p:nvPr/>
          </p:nvSpPr>
          <p:spPr>
            <a:xfrm>
              <a:off x="-99413" y="624816"/>
              <a:ext cx="321869" cy="329184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6864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68B5C-5F37-252B-5F81-4B6AD2A37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00BF200-A7A7-D442-4C7F-BEF0B1649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ניסוי </a:t>
            </a:r>
            <a:r>
              <a:rPr lang="he-IL" dirty="0" err="1">
                <a:cs typeface="+mn-cs"/>
              </a:rPr>
              <a:t>מייקלסון</a:t>
            </a:r>
            <a:r>
              <a:rPr lang="he-IL" dirty="0">
                <a:cs typeface="+mn-cs"/>
              </a:rPr>
              <a:t> מורלי-תוצאות מצופות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E543C047-E6A8-3EF3-2EE9-3F0C3B849A80}"/>
                  </a:ext>
                </a:extLst>
              </p:cNvPr>
              <p:cNvSpPr/>
              <p:nvPr/>
            </p:nvSpPr>
            <p:spPr>
              <a:xfrm>
                <a:off x="1243584" y="1678818"/>
                <a:ext cx="10287000" cy="506945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he-IL" sz="2400" dirty="0"/>
                  <a:t>הזמן שלוקח לקרן האור לנוע מהמראה החצי מעבירה וחזרה :</a:t>
                </a:r>
              </a:p>
              <a:p>
                <a:endParaRPr lang="he-IL" sz="2400" dirty="0"/>
              </a:p>
              <a:p>
                <a:r>
                  <a:rPr lang="he-IL" sz="2400" dirty="0"/>
                  <a:t>		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he-I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E543C047-E6A8-3EF3-2EE9-3F0C3B849A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584" y="1678818"/>
                <a:ext cx="10287000" cy="506945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811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68B5C-5F37-252B-5F81-4B6AD2A37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00BF200-A7A7-D442-4C7F-BEF0B1649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ניסוי </a:t>
            </a:r>
            <a:r>
              <a:rPr lang="he-IL" dirty="0" err="1">
                <a:cs typeface="+mn-cs"/>
              </a:rPr>
              <a:t>מייקלסון</a:t>
            </a:r>
            <a:r>
              <a:rPr lang="he-IL" dirty="0">
                <a:cs typeface="+mn-cs"/>
              </a:rPr>
              <a:t> מורלי-תוצאות מצופות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E543C047-E6A8-3EF3-2EE9-3F0C3B849A80}"/>
                  </a:ext>
                </a:extLst>
              </p:cNvPr>
              <p:cNvSpPr/>
              <p:nvPr/>
            </p:nvSpPr>
            <p:spPr>
              <a:xfrm>
                <a:off x="1243584" y="1678818"/>
                <a:ext cx="10287000" cy="506945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he-IL" sz="2400" dirty="0"/>
                  <a:t>הזמן שלוקח לקרן האור לנוע מהמראה החצי מעבירה וחזרה :</a:t>
                </a:r>
              </a:p>
              <a:p>
                <a:endParaRPr lang="he-IL" sz="2400" dirty="0"/>
              </a:p>
              <a:p>
                <a:r>
                  <a:rPr lang="he-IL" sz="2400" dirty="0"/>
                  <a:t>		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</m:oMath>
                </a14:m>
                <a:endParaRPr lang="en-US" sz="2400" dirty="0"/>
              </a:p>
              <a:p>
                <a:r>
                  <a:rPr lang="he-IL" sz="2400" dirty="0"/>
                  <a:t>ניתן לראות שיש הפרש בין שתי הדרכים</a:t>
                </a:r>
                <a:r>
                  <a:rPr lang="he-IL" sz="2400" b="1" dirty="0"/>
                  <a:t> :    	 </a:t>
                </a:r>
                <a14:m>
                  <m:oMath xmlns:m="http://schemas.openxmlformats.org/officeDocument/2006/math">
                    <m:r>
                      <a:rPr lang="he-IL" sz="240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lang="he-IL" sz="2400" dirty="0"/>
              </a:p>
              <a:p>
                <a:endParaRPr lang="he-IL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E543C047-E6A8-3EF3-2EE9-3F0C3B849A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584" y="1678818"/>
                <a:ext cx="10287000" cy="506945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505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68B5C-5F37-252B-5F81-4B6AD2A37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00BF200-A7A7-D442-4C7F-BEF0B1649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ניסוי </a:t>
            </a:r>
            <a:r>
              <a:rPr lang="he-IL" dirty="0" err="1">
                <a:cs typeface="+mn-cs"/>
              </a:rPr>
              <a:t>מייקלסון</a:t>
            </a:r>
            <a:r>
              <a:rPr lang="he-IL" dirty="0">
                <a:cs typeface="+mn-cs"/>
              </a:rPr>
              <a:t> מורלי-תוצאות מצופות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E543C047-E6A8-3EF3-2EE9-3F0C3B849A80}"/>
                  </a:ext>
                </a:extLst>
              </p:cNvPr>
              <p:cNvSpPr/>
              <p:nvPr/>
            </p:nvSpPr>
            <p:spPr>
              <a:xfrm>
                <a:off x="1243584" y="1678818"/>
                <a:ext cx="10287000" cy="506945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he-IL" sz="2400" dirty="0"/>
                  <a:t>הזמן שלוקח לקרן האור לנוע מהמראה החצי מעבירה וחזרה :</a:t>
                </a:r>
              </a:p>
              <a:p>
                <a:endParaRPr lang="he-IL" sz="2400" dirty="0"/>
              </a:p>
              <a:p>
                <a:r>
                  <a:rPr lang="he-IL" sz="2400" dirty="0"/>
                  <a:t>		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</m:oMath>
                </a14:m>
                <a:endParaRPr lang="en-US" sz="2400" dirty="0"/>
              </a:p>
              <a:p>
                <a:r>
                  <a:rPr lang="he-IL" sz="2400" dirty="0"/>
                  <a:t>ניתן לראות שיש הפרש בין שתי הדרכים</a:t>
                </a:r>
                <a:r>
                  <a:rPr lang="he-IL" sz="2400" b="1" dirty="0"/>
                  <a:t> :    	 </a:t>
                </a:r>
                <a14:m>
                  <m:oMath xmlns:m="http://schemas.openxmlformats.org/officeDocument/2006/math">
                    <m:r>
                      <a:rPr lang="he-IL" sz="240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lang="he-IL" sz="2400" dirty="0"/>
              </a:p>
              <a:p>
                <a:endParaRPr lang="he-IL" dirty="0"/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כדי לקבל קרוב טוב להפרש הזמן הזה נשתמש בקירוב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he-IL" sz="2400" dirty="0"/>
                  <a:t>  ולכן</a:t>
                </a:r>
                <a:r>
                  <a:rPr lang="he-IL" sz="2400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he-I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E543C047-E6A8-3EF3-2EE9-3F0C3B849A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584" y="1678818"/>
                <a:ext cx="10287000" cy="506945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1113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BAFCE-79C2-1DE8-ACDA-E001F61DE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480A437-722E-15D1-A488-53BD723C6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ניסוי </a:t>
            </a:r>
            <a:r>
              <a:rPr lang="he-IL" dirty="0" err="1">
                <a:cs typeface="+mn-cs"/>
              </a:rPr>
              <a:t>מייקלסון</a:t>
            </a:r>
            <a:r>
              <a:rPr lang="he-IL" dirty="0">
                <a:cs typeface="+mn-cs"/>
              </a:rPr>
              <a:t> מורלי-הפרש הדרכים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B5B7BCDC-B562-0045-23EF-61E0A648CEDE}"/>
                  </a:ext>
                </a:extLst>
              </p:cNvPr>
              <p:cNvSpPr/>
              <p:nvPr/>
            </p:nvSpPr>
            <p:spPr>
              <a:xfrm>
                <a:off x="1243584" y="1508760"/>
                <a:ext cx="10287000" cy="527160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he-IL" sz="2400" dirty="0"/>
              </a:p>
              <a:p>
                <a:r>
                  <a:rPr lang="he-IL" sz="2400" dirty="0"/>
                  <a:t>ועל פי קרוב טיילור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he-IL" sz="2400" dirty="0"/>
                  <a:t>   וכן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/>
              </a:p>
              <a:p>
                <a:endParaRPr lang="he-IL" sz="2400" dirty="0"/>
              </a:p>
              <a:p>
                <a:endParaRPr lang="he-IL" sz="2400" dirty="0"/>
              </a:p>
            </p:txBody>
          </p:sp>
        </mc:Choice>
        <mc:Fallback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B5B7BCDC-B562-0045-23EF-61E0A648CE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584" y="1508760"/>
                <a:ext cx="10287000" cy="527160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7773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BAFCE-79C2-1DE8-ACDA-E001F61DE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480A437-722E-15D1-A488-53BD723C6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ניסוי </a:t>
            </a:r>
            <a:r>
              <a:rPr lang="he-IL" dirty="0" err="1">
                <a:cs typeface="+mn-cs"/>
              </a:rPr>
              <a:t>מייקלסון</a:t>
            </a:r>
            <a:r>
              <a:rPr lang="he-IL" dirty="0">
                <a:cs typeface="+mn-cs"/>
              </a:rPr>
              <a:t> מורלי-הפרש הדרכים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B5B7BCDC-B562-0045-23EF-61E0A648CEDE}"/>
                  </a:ext>
                </a:extLst>
              </p:cNvPr>
              <p:cNvSpPr/>
              <p:nvPr/>
            </p:nvSpPr>
            <p:spPr>
              <a:xfrm>
                <a:off x="1243584" y="1508760"/>
                <a:ext cx="10287000" cy="527160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he-IL" sz="2400" dirty="0"/>
              </a:p>
              <a:p>
                <a:r>
                  <a:rPr lang="he-IL" sz="2400" dirty="0"/>
                  <a:t>ועל פי קרוב טיילור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he-IL" sz="2400" dirty="0"/>
                  <a:t>   וכן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/>
              </a:p>
              <a:p>
                <a:r>
                  <a:rPr lang="he-IL" sz="2400" dirty="0"/>
                  <a:t>נציב בנוסחת ההפרש ונקבל :</a:t>
                </a:r>
              </a:p>
              <a:p>
                <a:endParaRPr lang="he-IL" sz="2400" dirty="0"/>
              </a:p>
              <a:p>
                <a:r>
                  <a:rPr lang="he-IL" sz="2400" dirty="0"/>
                  <a:t>	 </a:t>
                </a:r>
                <a14:m>
                  <m:oMath xmlns:m="http://schemas.openxmlformats.org/officeDocument/2006/math">
                    <m:r>
                      <a:rPr lang="he-IL" sz="240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∙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𝐿𝑣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endParaRPr lang="he-IL" sz="2400" dirty="0"/>
              </a:p>
              <a:p>
                <a:endParaRPr lang="he-IL" sz="2400" dirty="0"/>
              </a:p>
            </p:txBody>
          </p:sp>
        </mc:Choice>
        <mc:Fallback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B5B7BCDC-B562-0045-23EF-61E0A648CE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584" y="1508760"/>
                <a:ext cx="10287000" cy="527160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2918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BAFCE-79C2-1DE8-ACDA-E001F61DE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480A437-722E-15D1-A488-53BD723C6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ניסוי </a:t>
            </a:r>
            <a:r>
              <a:rPr lang="he-IL" dirty="0" err="1">
                <a:cs typeface="+mn-cs"/>
              </a:rPr>
              <a:t>מייקלסון</a:t>
            </a:r>
            <a:r>
              <a:rPr lang="he-IL" dirty="0">
                <a:cs typeface="+mn-cs"/>
              </a:rPr>
              <a:t> מורלי-הפרש הדרכים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B5B7BCDC-B562-0045-23EF-61E0A648CEDE}"/>
                  </a:ext>
                </a:extLst>
              </p:cNvPr>
              <p:cNvSpPr/>
              <p:nvPr/>
            </p:nvSpPr>
            <p:spPr>
              <a:xfrm>
                <a:off x="1243584" y="1508760"/>
                <a:ext cx="10287000" cy="527160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he-IL" sz="2400" dirty="0"/>
              </a:p>
              <a:p>
                <a:r>
                  <a:rPr lang="he-IL" sz="2400" dirty="0"/>
                  <a:t>ועל פי קרוב טיילור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he-IL" sz="2400" dirty="0"/>
                  <a:t>   וכן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/>
              </a:p>
              <a:p>
                <a:r>
                  <a:rPr lang="he-IL" sz="2400" dirty="0"/>
                  <a:t>נציב בנוסחת ההפרש ונקבל :</a:t>
                </a:r>
              </a:p>
              <a:p>
                <a:endParaRPr lang="he-IL" sz="2400" dirty="0"/>
              </a:p>
              <a:p>
                <a:r>
                  <a:rPr lang="he-IL" sz="2400" dirty="0"/>
                  <a:t>	 </a:t>
                </a:r>
                <a14:m>
                  <m:oMath xmlns:m="http://schemas.openxmlformats.org/officeDocument/2006/math">
                    <m:r>
                      <a:rPr lang="he-IL" sz="240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∙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𝐿𝑣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endParaRPr lang="he-IL" sz="2400" dirty="0"/>
              </a:p>
              <a:p>
                <a:r>
                  <a:rPr lang="he-IL" sz="2400" dirty="0"/>
                  <a:t>ובהתאם הפרש הדרכים האופטיות   :    </a:t>
                </a:r>
                <a14:m>
                  <m:oMath xmlns:m="http://schemas.openxmlformats.org/officeDocument/2006/math">
                    <m:r>
                      <a:rPr lang="he-IL" sz="240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he-IL" sz="240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𝐿𝑣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𝐿𝑣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he-IL" sz="2400" dirty="0"/>
              </a:p>
            </p:txBody>
          </p:sp>
        </mc:Choice>
        <mc:Fallback xmlns="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B5B7BCDC-B562-0045-23EF-61E0A648CE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584" y="1508760"/>
                <a:ext cx="10287000" cy="527160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4954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64662-C830-7871-2A86-9BEFF92D5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667654D-49C7-67CA-5E1B-B3D314D3D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ניסוי </a:t>
            </a:r>
            <a:r>
              <a:rPr lang="he-IL" dirty="0" err="1">
                <a:cs typeface="+mn-cs"/>
              </a:rPr>
              <a:t>מייקלסון</a:t>
            </a:r>
            <a:r>
              <a:rPr lang="he-IL" dirty="0">
                <a:cs typeface="+mn-cs"/>
              </a:rPr>
              <a:t> מורלי-פסי התאבכות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9C7BC9EE-019D-20F5-3476-AC62A6EF6EB6}"/>
                  </a:ext>
                </a:extLst>
              </p:cNvPr>
              <p:cNvSpPr/>
              <p:nvPr/>
            </p:nvSpPr>
            <p:spPr>
              <a:xfrm>
                <a:off x="1179576" y="1508760"/>
                <a:ext cx="10287000" cy="479145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he-IL" sz="2400" dirty="0"/>
                  <a:t>וניתן לחשב כמה פסי התאבכות יזוזו :		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𝐿𝑣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dirty="0" err="1"/>
                  <a:t>מייקלסון</a:t>
                </a:r>
                <a:r>
                  <a:rPr lang="he-IL" sz="2400" dirty="0"/>
                  <a:t> דאג שתהיה לו זרוע של 11 מטר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ובהתאם היה מצופה שהוא ייראה שינוי של 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𝐿𝑣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𝝀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𝟒𝟎𝟎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𝟗</m:t>
                            </m:r>
                          </m:sup>
                        </m:s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16</m:t>
                            </m:r>
                          </m:sup>
                        </m:sSup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275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endParaRPr lang="en-US" sz="2400" dirty="0"/>
              </a:p>
            </p:txBody>
          </p:sp>
        </mc:Choice>
        <mc:Fallback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9C7BC9EE-019D-20F5-3476-AC62A6EF6E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576" y="1508760"/>
                <a:ext cx="10287000" cy="479145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03013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64662-C830-7871-2A86-9BEFF92D5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667654D-49C7-67CA-5E1B-B3D314D3D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ניסוי </a:t>
            </a:r>
            <a:r>
              <a:rPr lang="he-IL" dirty="0" err="1">
                <a:cs typeface="+mn-cs"/>
              </a:rPr>
              <a:t>מייקלסון</a:t>
            </a:r>
            <a:r>
              <a:rPr lang="he-IL" dirty="0">
                <a:cs typeface="+mn-cs"/>
              </a:rPr>
              <a:t> מורלי-פסי התאבכות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9C7BC9EE-019D-20F5-3476-AC62A6EF6EB6}"/>
                  </a:ext>
                </a:extLst>
              </p:cNvPr>
              <p:cNvSpPr/>
              <p:nvPr/>
            </p:nvSpPr>
            <p:spPr>
              <a:xfrm>
                <a:off x="1179576" y="1508760"/>
                <a:ext cx="10287000" cy="479145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he-IL" sz="2400" dirty="0"/>
                  <a:t>וניתן לחשב כמה פסי התאבכות יזוזו :		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𝐿𝑣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dirty="0" err="1"/>
                  <a:t>מייקלסון</a:t>
                </a:r>
                <a:r>
                  <a:rPr lang="he-IL" sz="2400" dirty="0"/>
                  <a:t> דאג שתהיה לו זרוע של 11 מטר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ובהתאם היה מצופה שהוא ייראה שינוי של 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𝐿𝑣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𝝀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𝟒𝟎𝟎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𝟗</m:t>
                            </m:r>
                          </m:sup>
                        </m:s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16</m:t>
                            </m:r>
                          </m:sup>
                        </m:sSup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275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he-IL" sz="2400" b="1" dirty="0">
                    <a:solidFill>
                      <a:srgbClr val="FFFF00"/>
                    </a:solidFill>
                  </a:rPr>
                  <a:t>התוצאה המפתיעה: </a:t>
                </a:r>
                <a:r>
                  <a:rPr lang="he-IL" sz="2400" dirty="0" err="1">
                    <a:solidFill>
                      <a:srgbClr val="FFFF00"/>
                    </a:solidFill>
                  </a:rPr>
                  <a:t>מייקלסון</a:t>
                </a:r>
                <a:r>
                  <a:rPr lang="he-IL" sz="2400" dirty="0">
                    <a:solidFill>
                      <a:srgbClr val="FFFF00"/>
                    </a:solidFill>
                  </a:rPr>
                  <a:t> ומורלי חזרו על הניסוי שוב ושוב, בכיוונים שונים ובזמנים שונים בשנה, אבל התוצאה הייתה תמיד זהה</a:t>
                </a:r>
                <a:r>
                  <a:rPr lang="en-US" sz="2400" dirty="0">
                    <a:solidFill>
                      <a:srgbClr val="FFFF00"/>
                    </a:solidFill>
                  </a:rPr>
                  <a:t>: </a:t>
                </a:r>
                <a:r>
                  <a:rPr lang="he-IL" sz="2400" dirty="0">
                    <a:solidFill>
                      <a:srgbClr val="FFFF00"/>
                    </a:solidFill>
                  </a:rPr>
                  <a:t>אפס</a:t>
                </a:r>
                <a:r>
                  <a:rPr lang="en-US" sz="2400" dirty="0">
                    <a:solidFill>
                      <a:srgbClr val="FFFF00"/>
                    </a:solidFill>
                  </a:rPr>
                  <a:t>. </a:t>
                </a:r>
                <a:endParaRPr lang="he-IL" sz="2400" dirty="0">
                  <a:solidFill>
                    <a:srgbClr val="FFFF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he-IL" sz="2400" dirty="0">
                    <a:solidFill>
                      <a:srgbClr val="FFFF00"/>
                    </a:solidFill>
                  </a:rPr>
                  <a:t>לא </a:t>
                </a:r>
                <a:r>
                  <a:rPr lang="he-IL" sz="2400" dirty="0" err="1">
                    <a:solidFill>
                      <a:srgbClr val="FFFF00"/>
                    </a:solidFill>
                  </a:rPr>
                  <a:t>היתה</a:t>
                </a:r>
                <a:r>
                  <a:rPr lang="he-IL" sz="2400" dirty="0">
                    <a:solidFill>
                      <a:srgbClr val="FFFF00"/>
                    </a:solidFill>
                  </a:rPr>
                  <a:t> תזוזה של פסים . </a:t>
                </a:r>
                <a:endParaRPr lang="en-US" sz="2400" dirty="0">
                  <a:solidFill>
                    <a:srgbClr val="FFFF00"/>
                  </a:solidFill>
                </a:endParaRP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9C7BC9EE-019D-20F5-3476-AC62A6EF6E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576" y="1508760"/>
                <a:ext cx="10287000" cy="479145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41833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3FC75-1EC4-B038-FC48-F3C896F4D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8B6E891-98CD-DB54-1C27-D6F193136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ניסוי </a:t>
            </a:r>
            <a:r>
              <a:rPr lang="he-IL" dirty="0" err="1">
                <a:cs typeface="+mn-cs"/>
              </a:rPr>
              <a:t>מייקלסון</a:t>
            </a:r>
            <a:r>
              <a:rPr lang="he-IL" dirty="0">
                <a:cs typeface="+mn-cs"/>
              </a:rPr>
              <a:t> מורלי-מסקנות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99441337-8269-CC48-DC72-07BE4446DACD}"/>
              </a:ext>
            </a:extLst>
          </p:cNvPr>
          <p:cNvSpPr/>
          <p:nvPr/>
        </p:nvSpPr>
        <p:spPr>
          <a:xfrm>
            <a:off x="1179576" y="1508760"/>
            <a:ext cx="10287000" cy="47914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he-IL" sz="9600" dirty="0"/>
              <a:t>אין אתר </a:t>
            </a:r>
            <a:endParaRPr lang="en-US" sz="96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509362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77495-A65E-6C23-6FC5-FB0054E93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15F0874-6373-2CF4-F3F4-ACF31FDD5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אז אין אתר ?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70C0E93C-F43C-0866-0FA5-DDF391772D83}"/>
              </a:ext>
            </a:extLst>
          </p:cNvPr>
          <p:cNvSpPr/>
          <p:nvPr/>
        </p:nvSpPr>
        <p:spPr>
          <a:xfrm>
            <a:off x="1179576" y="1508760"/>
            <a:ext cx="10287000" cy="47914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he-IL" sz="2400" dirty="0"/>
              <a:t>התוצאה הזו </a:t>
            </a:r>
            <a:r>
              <a:rPr lang="he-IL" sz="2400" dirty="0" err="1"/>
              <a:t>היתה</a:t>
            </a:r>
            <a:r>
              <a:rPr lang="he-IL" sz="2400" dirty="0"/>
              <a:t> מאד מטרידה כי :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he-IL" sz="2400" dirty="0"/>
              <a:t>אם אין אתר אז מהו התווך שבו נעים הגלים האלקטרומגנטים 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he-IL" sz="2400" dirty="0"/>
              <a:t>ביחס למה מודדים את מהירות האור . הרי מהירות של כל דבר נמצאת ביחס למשהו אחר . </a:t>
            </a: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220312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BE92B-A22C-52B4-67B2-6F6D3F218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B2D9B37-7E26-E094-457C-BE86329D9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הסברים אפשריים לתוצאה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E7E4990A-1214-D697-3E36-87AAAFF7EFE4}"/>
              </a:ext>
            </a:extLst>
          </p:cNvPr>
          <p:cNvSpPr/>
          <p:nvPr/>
        </p:nvSpPr>
        <p:spPr>
          <a:xfrm>
            <a:off x="1179576" y="1508760"/>
            <a:ext cx="10287000" cy="47914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lnSpc>
                <a:spcPct val="150000"/>
              </a:lnSpc>
              <a:buAutoNum type="arabicPeriod"/>
            </a:pPr>
            <a:r>
              <a:rPr lang="he-IL" sz="2400" b="1" dirty="0"/>
              <a:t>גרירת אתר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he-IL" sz="2400" dirty="0"/>
              <a:t>אולי כדור הארץ "סוחב" </a:t>
            </a:r>
            <a:r>
              <a:rPr lang="he-IL" sz="2400" dirty="0" err="1"/>
              <a:t>איתו</a:t>
            </a:r>
            <a:r>
              <a:rPr lang="he-IL" sz="2400" dirty="0"/>
              <a:t> את האתר בתוך אטמוספירה, ולכן לא מרגישים רוח? (הוכח כלא נכון)</a:t>
            </a:r>
            <a:r>
              <a:rPr lang="en-US" sz="2400" dirty="0"/>
              <a:t>.</a:t>
            </a:r>
            <a:endParaRPr lang="he-IL" sz="2400" dirty="0"/>
          </a:p>
          <a:p>
            <a:pPr lvl="0"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793300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BE92B-A22C-52B4-67B2-6F6D3F218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B2D9B37-7E26-E094-457C-BE86329D9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הסברים אפשריים לתוצאה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E7E4990A-1214-D697-3E36-87AAAFF7EFE4}"/>
              </a:ext>
            </a:extLst>
          </p:cNvPr>
          <p:cNvSpPr/>
          <p:nvPr/>
        </p:nvSpPr>
        <p:spPr>
          <a:xfrm>
            <a:off x="1179576" y="1508760"/>
            <a:ext cx="10287000" cy="47914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lnSpc>
                <a:spcPct val="150000"/>
              </a:lnSpc>
              <a:buAutoNum type="arabicPeriod"/>
            </a:pPr>
            <a:r>
              <a:rPr lang="he-IL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גרירת אתר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/>
            </a:r>
            <a:b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he-IL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אולי כדור הארץ "סוחב" </a:t>
            </a:r>
            <a:r>
              <a:rPr lang="he-IL" sz="2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איתו</a:t>
            </a:r>
            <a:r>
              <a:rPr lang="he-IL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את האתר בתוך אטמוספירה, ולכן לא מרגישים רוח? (הוכח כלא נכון)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</a:t>
            </a:r>
            <a:endParaRPr lang="he-IL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he-IL" sz="2400" b="1" dirty="0"/>
              <a:t>התכווצות לורנץ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he-IL" sz="2400" dirty="0"/>
              <a:t>הפיזיקאי </a:t>
            </a:r>
            <a:r>
              <a:rPr lang="he-IL" sz="2400" dirty="0" err="1"/>
              <a:t>הנדריק</a:t>
            </a:r>
            <a:r>
              <a:rPr lang="he-IL" sz="2400" dirty="0"/>
              <a:t> לורנץ הציע שחומרים שנעים דרך האתר פשוט מתכווצים פיזית</a:t>
            </a:r>
            <a:r>
              <a:rPr lang="en-US" sz="2400" dirty="0"/>
              <a:t>, </a:t>
            </a:r>
            <a:r>
              <a:rPr lang="he-IL" sz="2400" dirty="0"/>
              <a:t>ובאופן מקרי לחלוטין ההתכווצות הזו "מפצה" על ההבדל במהירות האור ומבטלת אותו בניסוי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he-IL" sz="2400" dirty="0"/>
              <a:t>נתעכב על ההצעה של לורנץ כי היא פתחה </a:t>
            </a:r>
            <a:r>
              <a:rPr lang="he-IL" sz="2400" dirty="0" err="1"/>
              <a:t>לאינשטיין</a:t>
            </a:r>
            <a:r>
              <a:rPr lang="he-IL" sz="2400" dirty="0"/>
              <a:t> כיוון חשיבה חשוב . </a:t>
            </a:r>
            <a:endParaRPr lang="en-US" sz="2400" dirty="0"/>
          </a:p>
          <a:p>
            <a:pPr marL="457200" lvl="0" indent="-457200">
              <a:lnSpc>
                <a:spcPct val="150000"/>
              </a:lnSpc>
              <a:buAutoNum type="arabicPeriod"/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697244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28DD5-FFC8-3524-A793-43D62F0C4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4C66439-F710-DD09-98BE-0A9D582C5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התכווצות לורנץ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862EDE6F-68CB-BBA9-0A22-6D80E9D31004}"/>
                  </a:ext>
                </a:extLst>
              </p:cNvPr>
              <p:cNvSpPr/>
              <p:nvPr/>
            </p:nvSpPr>
            <p:spPr>
              <a:xfrm>
                <a:off x="1173825" y="1387990"/>
                <a:ext cx="10287000" cy="543262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150000"/>
                  </a:lnSpc>
                </a:pPr>
                <a:r>
                  <a:rPr lang="he-IL" sz="2400" dirty="0"/>
                  <a:t>נזכיר שקיבלנו קודם שיש הפרש דרכים אופטיות בין הזרועות ששווה ל: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he-IL" sz="2400" dirty="0"/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אם נגדיר את המנה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sz="24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he-IL" sz="2400"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 </a:t>
                </a:r>
                <a:r>
                  <a:rPr lang="he-IL" sz="2400" dirty="0"/>
                  <a:t>   אז :     אז </a:t>
                </a:r>
                <a14:m>
                  <m:oMath xmlns:m="http://schemas.openxmlformats.org/officeDocument/2006/math">
                    <m:r>
                      <a:rPr lang="he-IL" sz="240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he-IL" sz="240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groupChr>
                      </m:e>
                      <m:lim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lim>
                    </m:limLow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limLow>
                      <m:limLow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he-IL" sz="240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den>
                            </m:f>
                          </m:e>
                        </m:groupChr>
                      </m:e>
                      <m:lim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lim>
                    </m:limLow>
                  </m:oMath>
                </a14:m>
                <a:endParaRPr lang="he-IL" sz="2400" dirty="0"/>
              </a:p>
              <a:p>
                <a:pPr>
                  <a:lnSpc>
                    <a:spcPct val="150000"/>
                  </a:lnSpc>
                </a:pPr>
                <a:endParaRPr lang="en-US" sz="2400" dirty="0"/>
              </a:p>
            </p:txBody>
          </p:sp>
        </mc:Choice>
        <mc:Fallback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862EDE6F-68CB-BBA9-0A22-6D80E9D310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825" y="1387990"/>
                <a:ext cx="10287000" cy="5432629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7459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28DD5-FFC8-3524-A793-43D62F0C4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4C66439-F710-DD09-98BE-0A9D582C5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התכווצות לורנץ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862EDE6F-68CB-BBA9-0A22-6D80E9D31004}"/>
                  </a:ext>
                </a:extLst>
              </p:cNvPr>
              <p:cNvSpPr/>
              <p:nvPr/>
            </p:nvSpPr>
            <p:spPr>
              <a:xfrm>
                <a:off x="1173825" y="1387990"/>
                <a:ext cx="10287000" cy="543262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150000"/>
                  </a:lnSpc>
                </a:pPr>
                <a:r>
                  <a:rPr lang="he-IL" sz="2400" dirty="0"/>
                  <a:t>נזכיר שקיבלנו קודם שיש הפרש דרכים אופטיות בין הזרועות ששווה ל: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he-IL" sz="2400" dirty="0"/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אם נגדיר את המנה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sz="24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he-IL" sz="2400"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 </a:t>
                </a:r>
                <a:r>
                  <a:rPr lang="he-IL" sz="2400" dirty="0"/>
                  <a:t>   אז :     אז </a:t>
                </a:r>
                <a14:m>
                  <m:oMath xmlns:m="http://schemas.openxmlformats.org/officeDocument/2006/math">
                    <m:r>
                      <a:rPr lang="he-IL" sz="240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he-IL" sz="240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groupChr>
                      </m:e>
                      <m:lim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lim>
                    </m:limLow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limLow>
                      <m:limLow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he-IL" sz="240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den>
                            </m:f>
                          </m:e>
                        </m:groupChr>
                      </m:e>
                      <m:lim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lim>
                    </m:limLow>
                  </m:oMath>
                </a14:m>
                <a:endParaRPr lang="he-IL" sz="2400" dirty="0"/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אמר לורנץ . האור שנע דרך האתר מתכווץ בשיעור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e-IL" sz="240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he-IL" sz="2400" dirty="0"/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ואז :			 </a:t>
                </a:r>
                <a14:m>
                  <m:oMath xmlns:m="http://schemas.openxmlformats.org/officeDocument/2006/math">
                    <m:r>
                      <a:rPr lang="he-IL" sz="240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he-IL" sz="240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e-IL" sz="240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he-IL" sz="240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862EDE6F-68CB-BBA9-0A22-6D80E9D310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825" y="1387990"/>
                <a:ext cx="10287000" cy="5432629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3534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62697-7869-C6A5-E9C4-D2FA2175E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62193FB-EAA8-5A8E-BD0B-00B10053F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התכווצות לורנץ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90B03EBB-D69A-61A4-D2F6-307B55DBF59A}"/>
              </a:ext>
            </a:extLst>
          </p:cNvPr>
          <p:cNvSpPr/>
          <p:nvPr/>
        </p:nvSpPr>
        <p:spPr>
          <a:xfrm>
            <a:off x="1173825" y="1382239"/>
            <a:ext cx="10287000" cy="54326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he-IL" sz="2400" dirty="0"/>
              <a:t>הראשון שהגה אתת רעיון ההתכווצות היה </a:t>
            </a:r>
            <a:r>
              <a:rPr lang="he-IL" sz="2400" b="1" dirty="0"/>
              <a:t>ג'ורג' </a:t>
            </a:r>
            <a:r>
              <a:rPr lang="he-IL" sz="2400" b="1" dirty="0" err="1"/>
              <a:t>פיצג'רלד</a:t>
            </a:r>
            <a:r>
              <a:rPr lang="he-IL" sz="2400" b="1" dirty="0"/>
              <a:t> (1889) </a:t>
            </a:r>
            <a:r>
              <a:rPr lang="he-IL" sz="2400" dirty="0" err="1"/>
              <a:t>שנתים</a:t>
            </a:r>
            <a:r>
              <a:rPr lang="he-IL" sz="2400" dirty="0"/>
              <a:t> לאחר ניסוי </a:t>
            </a:r>
            <a:r>
              <a:rPr lang="he-IL" sz="2400" dirty="0" err="1"/>
              <a:t>מיקלסון</a:t>
            </a:r>
            <a:r>
              <a:rPr lang="he-IL" sz="2400" dirty="0"/>
              <a:t> מורלי 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לורנץ הציע את אותו הפתרון שלוש שנים לאחר מכן  ב  1892  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ולכן </a:t>
            </a:r>
            <a:r>
              <a:rPr lang="he-IL" sz="2400" dirty="0" err="1"/>
              <a:t>ההתווכצות</a:t>
            </a:r>
            <a:r>
              <a:rPr lang="he-IL" sz="2400" dirty="0"/>
              <a:t> מכונה לעיתים </a:t>
            </a:r>
            <a:r>
              <a:rPr lang="he-IL" sz="2400" b="1" dirty="0"/>
              <a:t>התכווצות לורנץ-</a:t>
            </a:r>
            <a:r>
              <a:rPr lang="he-IL" sz="2400" b="1" dirty="0" err="1"/>
              <a:t>פיצג'רלד</a:t>
            </a:r>
            <a:r>
              <a:rPr lang="he-IL" sz="2400" b="1" dirty="0"/>
              <a:t> </a:t>
            </a:r>
          </a:p>
          <a:p>
            <a:pPr>
              <a:lnSpc>
                <a:spcPct val="150000"/>
              </a:lnSpc>
            </a:pPr>
            <a:r>
              <a:rPr lang="he-IL" sz="2400" b="1" dirty="0"/>
              <a:t>הקהילה המדעית לא קיבלה את ההצעה הזו כי היא </a:t>
            </a:r>
            <a:r>
              <a:rPr lang="he-IL" sz="2400" b="1" dirty="0" err="1"/>
              <a:t>היתה</a:t>
            </a:r>
            <a:r>
              <a:rPr lang="he-IL" sz="2400" b="1" dirty="0"/>
              <a:t> פתרון אד הוק שלא היה מובן על בסיס כל מה שידעו עד אז </a:t>
            </a:r>
          </a:p>
          <a:p>
            <a:pPr>
              <a:lnSpc>
                <a:spcPct val="150000"/>
              </a:lnSpc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8933332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ECE06-F3CF-DD7E-7D97-D9D87DE3F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69C0EF0-AA10-2D1D-90EC-571438FC2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 err="1">
                <a:cs typeface="+mn-cs"/>
              </a:rPr>
              <a:t>אינשטיין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0668A8A4-9EAD-07AF-C962-340EC71CB190}"/>
              </a:ext>
            </a:extLst>
          </p:cNvPr>
          <p:cNvSpPr/>
          <p:nvPr/>
        </p:nvSpPr>
        <p:spPr>
          <a:xfrm>
            <a:off x="1179576" y="1508760"/>
            <a:ext cx="10287000" cy="47914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he-IL" sz="2400" dirty="0"/>
              <a:t>המשבר נפתר רק כשאלברט איינשטיין עשה צעד נועז: הוא אמר "בואו נפסיק לנסות להציל את האתר. </a:t>
            </a:r>
          </a:p>
          <a:p>
            <a:pPr>
              <a:lnSpc>
                <a:spcPct val="150000"/>
              </a:lnSpc>
            </a:pPr>
            <a:r>
              <a:rPr lang="he-IL" sz="2400" dirty="0" err="1"/>
              <a:t>איינשטין</a:t>
            </a:r>
            <a:r>
              <a:rPr lang="he-IL" sz="2400" dirty="0"/>
              <a:t> קבע שתי קביעות: </a:t>
            </a:r>
            <a:endParaRPr lang="en-US" sz="2400" dirty="0"/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he-IL" sz="2400" b="1" dirty="0"/>
              <a:t>עקרון היחסות </a:t>
            </a:r>
            <a:r>
              <a:rPr lang="en-US" sz="2400" b="1" dirty="0" smtClean="0"/>
              <a:t>:</a:t>
            </a:r>
            <a:r>
              <a:rPr lang="he-IL" sz="2400" dirty="0" smtClean="0"/>
              <a:t> </a:t>
            </a:r>
            <a:r>
              <a:rPr lang="he-IL" sz="2400" dirty="0"/>
              <a:t>חוקי הפיזיקה זהים בכל מערכות הייחוס האינרציאליות. אין מערכת אחת "מועדפת" או "נחה באמת</a:t>
            </a:r>
            <a:r>
              <a:rPr lang="he-IL" sz="2400" dirty="0" smtClean="0"/>
              <a:t>".</a:t>
            </a:r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37550175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ECE06-F3CF-DD7E-7D97-D9D87DE3F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69C0EF0-AA10-2D1D-90EC-571438FC2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 err="1">
                <a:cs typeface="+mn-cs"/>
              </a:rPr>
              <a:t>אינשטיין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0668A8A4-9EAD-07AF-C962-340EC71CB190}"/>
              </a:ext>
            </a:extLst>
          </p:cNvPr>
          <p:cNvSpPr/>
          <p:nvPr/>
        </p:nvSpPr>
        <p:spPr>
          <a:xfrm>
            <a:off x="1179576" y="1508760"/>
            <a:ext cx="10287000" cy="47914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he-IL" sz="2400" dirty="0"/>
              <a:t>המשבר נפתר רק כשאלברט איינשטיין עשה צעד נועז: הוא אמר "בואו נפסיק לנסות להציל את האתר. </a:t>
            </a:r>
          </a:p>
          <a:p>
            <a:pPr>
              <a:lnSpc>
                <a:spcPct val="150000"/>
              </a:lnSpc>
            </a:pPr>
            <a:r>
              <a:rPr lang="he-IL" sz="2400" dirty="0" err="1"/>
              <a:t>איינשטין</a:t>
            </a:r>
            <a:r>
              <a:rPr lang="he-IL" sz="2400" dirty="0"/>
              <a:t> קבע שתי קביעות: </a:t>
            </a:r>
            <a:endParaRPr lang="en-US" sz="2400" dirty="0"/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he-IL" sz="2400" b="1" dirty="0"/>
              <a:t>עקרון היחסות </a:t>
            </a:r>
            <a:r>
              <a:rPr lang="en-US" sz="2400" b="1" dirty="0" smtClean="0"/>
              <a:t>:</a:t>
            </a:r>
            <a:r>
              <a:rPr lang="he-IL" sz="2400" dirty="0" smtClean="0"/>
              <a:t> </a:t>
            </a:r>
            <a:r>
              <a:rPr lang="he-IL" sz="2400" dirty="0"/>
              <a:t>חוקי הפיזיקה זהים בכל מערכות הייחוס האינרציאליות. אין מערכת אחת "מועדפת" או "נחה באמת</a:t>
            </a:r>
            <a:r>
              <a:rPr lang="he-IL" sz="2400" dirty="0" smtClean="0"/>
              <a:t>".</a:t>
            </a:r>
            <a:endParaRPr lang="he-IL" sz="2400" dirty="0"/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he-IL" sz="2400" b="1" dirty="0"/>
              <a:t>קביעות מהירות האור :</a:t>
            </a:r>
            <a:r>
              <a:rPr lang="he-IL" b="1" dirty="0"/>
              <a:t> </a:t>
            </a:r>
            <a:r>
              <a:rPr lang="he-IL" sz="2400" dirty="0"/>
              <a:t>מהירות האור בריק היא גודל קבוע </a:t>
            </a:r>
            <a:r>
              <a:rPr lang="en-US" sz="2400" dirty="0"/>
              <a:t>C</a:t>
            </a:r>
            <a:r>
              <a:rPr lang="he-IL" sz="2400" dirty="0"/>
              <a:t> </a:t>
            </a:r>
            <a:r>
              <a:rPr lang="en-US" sz="2400" dirty="0"/>
              <a:t> </a:t>
            </a:r>
            <a:r>
              <a:rPr lang="he-IL" sz="2400" dirty="0"/>
              <a:t>בכל מערכות הייחוס האינרציאליות, והיא </a:t>
            </a:r>
            <a:r>
              <a:rPr lang="he-IL" sz="2400" b="1" dirty="0"/>
              <a:t>אינה תלויה</a:t>
            </a:r>
            <a:r>
              <a:rPr lang="he-IL" sz="2400" dirty="0"/>
              <a:t> במהירות של מקור האור או במהירות של הצופה.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557335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B9142-B5D9-CDDC-AB3A-73ECAE5D5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53E87FC-34FC-66DC-6646-05504D286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126DBF3E-0372-81BE-62D6-AE16F7A8390C}"/>
              </a:ext>
            </a:extLst>
          </p:cNvPr>
          <p:cNvSpPr/>
          <p:nvPr/>
        </p:nvSpPr>
        <p:spPr>
          <a:xfrm>
            <a:off x="1179576" y="1508760"/>
            <a:ext cx="10287000" cy="47914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he-IL" sz="9600" dirty="0"/>
              <a:t>אין ארוחות חינם</a:t>
            </a:r>
            <a:endParaRPr lang="en-US" sz="96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945374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D8EA6-69C7-DF7A-4915-23E89D08D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2864D4C-CF40-8CA3-8F2D-7F06E2B41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סימולטניות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D2DD8F64-A197-4BEC-DD22-4E645A444AF5}"/>
              </a:ext>
            </a:extLst>
          </p:cNvPr>
          <p:cNvSpPr/>
          <p:nvPr/>
        </p:nvSpPr>
        <p:spPr>
          <a:xfrm>
            <a:off x="1179576" y="1508760"/>
            <a:ext cx="10287000" cy="47914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he-IL" sz="3200" b="1" dirty="0"/>
              <a:t>הגדרות</a:t>
            </a:r>
            <a:r>
              <a:rPr lang="he-IL" sz="2800" dirty="0"/>
              <a:t> </a:t>
            </a:r>
            <a:endParaRPr lang="en-US" sz="2800" dirty="0"/>
          </a:p>
          <a:p>
            <a:pPr>
              <a:lnSpc>
                <a:spcPct val="150000"/>
              </a:lnSpc>
            </a:pPr>
            <a:endParaRPr lang="he-IL" sz="2400" b="1" dirty="0"/>
          </a:p>
          <a:p>
            <a:pPr>
              <a:lnSpc>
                <a:spcPct val="150000"/>
              </a:lnSpc>
            </a:pPr>
            <a:r>
              <a:rPr lang="he-IL" sz="2800" b="1" dirty="0"/>
              <a:t>אירוע</a:t>
            </a:r>
            <a:r>
              <a:rPr lang="he-IL" sz="2800" dirty="0"/>
              <a:t> : דבר שקורה במקום ובזמן מסוים </a:t>
            </a:r>
            <a:endParaRPr lang="en-US" sz="2800" dirty="0"/>
          </a:p>
          <a:p>
            <a:pPr>
              <a:lnSpc>
                <a:spcPct val="150000"/>
              </a:lnSpc>
            </a:pPr>
            <a:endParaRPr lang="he-IL" sz="2800" b="1" dirty="0"/>
          </a:p>
          <a:p>
            <a:pPr>
              <a:lnSpc>
                <a:spcPct val="150000"/>
              </a:lnSpc>
            </a:pPr>
            <a:r>
              <a:rPr lang="he-IL" sz="2800" b="1" dirty="0"/>
              <a:t>בו זמני</a:t>
            </a:r>
            <a:r>
              <a:rPr lang="he-IL" sz="2800" dirty="0"/>
              <a:t>: שני אירועים נחשבים בו זמניים אם הם קורים באותו זמן </a:t>
            </a:r>
            <a:endParaRPr lang="en-US" sz="28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440351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26C0D-25CB-EC1B-D77F-F55D276FD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2F3CEE-86D1-E392-4B38-BBF97A5B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סימולטניות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5CB4DFA1-AB56-2165-6CA4-801E1A8BA041}"/>
              </a:ext>
            </a:extLst>
          </p:cNvPr>
          <p:cNvSpPr/>
          <p:nvPr/>
        </p:nvSpPr>
        <p:spPr>
          <a:xfrm>
            <a:off x="4724139" y="1508760"/>
            <a:ext cx="6742437" cy="47914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he-IL" sz="2400" dirty="0"/>
              <a:t> נתונה המערכת הבאה. 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במערכת יש בדיוק במרכזה במרחק </a:t>
            </a:r>
            <a:r>
              <a:rPr lang="en-US" sz="2400" dirty="0"/>
              <a:t>L</a:t>
            </a:r>
            <a:r>
              <a:rPr lang="he-IL" sz="2400" dirty="0"/>
              <a:t> מהקצוות אדם. בשתי הקצוות יש פנסים שפולטים אור .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he-IL" sz="2400" dirty="0"/>
              <a:t>אם האדם רואה את שתי פנסים נדלקים באותו זמן הוא יודע שהאור נדלק בהם בו זמנית </a:t>
            </a: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grpSp>
        <p:nvGrpSpPr>
          <p:cNvPr id="13" name="קבוצה 12">
            <a:extLst>
              <a:ext uri="{FF2B5EF4-FFF2-40B4-BE49-F238E27FC236}">
                <a16:creationId xmlns:a16="http://schemas.microsoft.com/office/drawing/2014/main" id="{2BC82C46-E281-CF49-4F5D-4BD711A13AF0}"/>
              </a:ext>
            </a:extLst>
          </p:cNvPr>
          <p:cNvGrpSpPr/>
          <p:nvPr/>
        </p:nvGrpSpPr>
        <p:grpSpPr>
          <a:xfrm>
            <a:off x="838200" y="2081530"/>
            <a:ext cx="3358896" cy="1969262"/>
            <a:chOff x="0" y="0"/>
            <a:chExt cx="2131315" cy="936346"/>
          </a:xfrm>
        </p:grpSpPr>
        <p:sp>
          <p:nvSpPr>
            <p:cNvPr id="14" name="מלבן 13">
              <a:extLst>
                <a:ext uri="{FF2B5EF4-FFF2-40B4-BE49-F238E27FC236}">
                  <a16:creationId xmlns:a16="http://schemas.microsoft.com/office/drawing/2014/main" id="{658E9B61-E46A-D626-F372-58B62B590CB1}"/>
                </a:ext>
              </a:extLst>
            </p:cNvPr>
            <p:cNvSpPr/>
            <p:nvPr/>
          </p:nvSpPr>
          <p:spPr>
            <a:xfrm>
              <a:off x="7315" y="0"/>
              <a:ext cx="2124000" cy="9363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5" name="מחבר חץ ישר 14">
              <a:extLst>
                <a:ext uri="{FF2B5EF4-FFF2-40B4-BE49-F238E27FC236}">
                  <a16:creationId xmlns:a16="http://schemas.microsoft.com/office/drawing/2014/main" id="{50F1F333-B781-C79D-4AB8-5BD8CFBFD341}"/>
                </a:ext>
              </a:extLst>
            </p:cNvPr>
            <p:cNvCxnSpPr/>
            <p:nvPr/>
          </p:nvCxnSpPr>
          <p:spPr>
            <a:xfrm flipV="1">
              <a:off x="1524" y="866242"/>
              <a:ext cx="1080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מחבר חץ ישר 15">
              <a:extLst>
                <a:ext uri="{FF2B5EF4-FFF2-40B4-BE49-F238E27FC236}">
                  <a16:creationId xmlns:a16="http://schemas.microsoft.com/office/drawing/2014/main" id="{283CF4AC-F356-F6E8-BD75-FDBA1927FC75}"/>
                </a:ext>
              </a:extLst>
            </p:cNvPr>
            <p:cNvCxnSpPr/>
            <p:nvPr/>
          </p:nvCxnSpPr>
          <p:spPr>
            <a:xfrm flipV="1">
              <a:off x="1076859" y="866242"/>
              <a:ext cx="104394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תיבת טקסט 26">
              <a:extLst>
                <a:ext uri="{FF2B5EF4-FFF2-40B4-BE49-F238E27FC236}">
                  <a16:creationId xmlns:a16="http://schemas.microsoft.com/office/drawing/2014/main" id="{0F19AE1C-A88D-7F4D-FE51-3C70B1C222B6}"/>
                </a:ext>
              </a:extLst>
            </p:cNvPr>
            <p:cNvSpPr txBox="1"/>
            <p:nvPr/>
          </p:nvSpPr>
          <p:spPr>
            <a:xfrm>
              <a:off x="358445" y="636422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תיבת טקסט 26">
              <a:extLst>
                <a:ext uri="{FF2B5EF4-FFF2-40B4-BE49-F238E27FC236}">
                  <a16:creationId xmlns:a16="http://schemas.microsoft.com/office/drawing/2014/main" id="{DC931BB8-324B-70C7-E392-2D61A8C92D23}"/>
                </a:ext>
              </a:extLst>
            </p:cNvPr>
            <p:cNvSpPr txBox="1"/>
            <p:nvPr/>
          </p:nvSpPr>
          <p:spPr>
            <a:xfrm>
              <a:off x="1426464" y="636422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אליפסה 19">
              <a:extLst>
                <a:ext uri="{FF2B5EF4-FFF2-40B4-BE49-F238E27FC236}">
                  <a16:creationId xmlns:a16="http://schemas.microsoft.com/office/drawing/2014/main" id="{BC4C6940-7F6E-CFDA-DA85-6108BB531960}"/>
                </a:ext>
              </a:extLst>
            </p:cNvPr>
            <p:cNvSpPr/>
            <p:nvPr/>
          </p:nvSpPr>
          <p:spPr>
            <a:xfrm>
              <a:off x="2011680" y="336499"/>
              <a:ext cx="119075" cy="21214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" name="אליפסה 20">
              <a:extLst>
                <a:ext uri="{FF2B5EF4-FFF2-40B4-BE49-F238E27FC236}">
                  <a16:creationId xmlns:a16="http://schemas.microsoft.com/office/drawing/2014/main" id="{4DDE1F1B-61B8-0802-335D-760E1CBCD5E0}"/>
                </a:ext>
              </a:extLst>
            </p:cNvPr>
            <p:cNvSpPr/>
            <p:nvPr/>
          </p:nvSpPr>
          <p:spPr>
            <a:xfrm flipH="1">
              <a:off x="0" y="292608"/>
              <a:ext cx="117043" cy="21214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966" y="2399338"/>
            <a:ext cx="816519" cy="135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4051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8A407-9D23-0153-363F-D518BCE09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6950667-D4EC-400A-E339-544E39828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סימולטניות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266520B0-93D1-B637-EB01-6CF654D57329}"/>
              </a:ext>
            </a:extLst>
          </p:cNvPr>
          <p:cNvSpPr/>
          <p:nvPr/>
        </p:nvSpPr>
        <p:spPr>
          <a:xfrm>
            <a:off x="4724139" y="1508760"/>
            <a:ext cx="6742437" cy="47914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he-IL" sz="2400" dirty="0"/>
              <a:t> אדם נוסף נע ימינה במהירות </a:t>
            </a:r>
            <a:r>
              <a:rPr lang="en-US" sz="2400" dirty="0"/>
              <a:t>V </a:t>
            </a:r>
            <a:r>
              <a:rPr lang="he-IL" sz="2400" dirty="0"/>
              <a:t> 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ברגע שהפנסים נדלקים הוא עובר ליד האדם השני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האדם השני  שנע ימינה יראה קודם את הפנס הימני ורק אחר כך את הפנס השמאלי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שכן האור מהפנס הימני יצטרך לעבור דרך קצרה יותר מהאור שיצא מהפנס השמאלי . 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he-IL" sz="2400" dirty="0"/>
              <a:t>ולכן האדם השני יאמר שהפנס הימני נדלק לפני הפנס השמאלי 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he-IL" dirty="0"/>
              <a:t> </a:t>
            </a:r>
            <a:endParaRPr lang="en-US" sz="2400" dirty="0"/>
          </a:p>
        </p:txBody>
      </p: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3FBCCD89-4EC7-B484-E82C-3368F6AC3622}"/>
              </a:ext>
            </a:extLst>
          </p:cNvPr>
          <p:cNvGrpSpPr/>
          <p:nvPr/>
        </p:nvGrpSpPr>
        <p:grpSpPr>
          <a:xfrm>
            <a:off x="838200" y="2081530"/>
            <a:ext cx="3358896" cy="1969262"/>
            <a:chOff x="0" y="0"/>
            <a:chExt cx="2131315" cy="936346"/>
          </a:xfrm>
        </p:grpSpPr>
        <p:sp>
          <p:nvSpPr>
            <p:cNvPr id="4" name="מלבן 3">
              <a:extLst>
                <a:ext uri="{FF2B5EF4-FFF2-40B4-BE49-F238E27FC236}">
                  <a16:creationId xmlns:a16="http://schemas.microsoft.com/office/drawing/2014/main" id="{7109C4F7-5C48-2596-7DDB-317561FBEA7E}"/>
                </a:ext>
              </a:extLst>
            </p:cNvPr>
            <p:cNvSpPr/>
            <p:nvPr/>
          </p:nvSpPr>
          <p:spPr>
            <a:xfrm>
              <a:off x="7315" y="0"/>
              <a:ext cx="2124000" cy="9363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5" name="מחבר חץ ישר 4">
              <a:extLst>
                <a:ext uri="{FF2B5EF4-FFF2-40B4-BE49-F238E27FC236}">
                  <a16:creationId xmlns:a16="http://schemas.microsoft.com/office/drawing/2014/main" id="{1B1A7F9A-997A-E8CC-E5B3-DFEA915393C2}"/>
                </a:ext>
              </a:extLst>
            </p:cNvPr>
            <p:cNvCxnSpPr/>
            <p:nvPr/>
          </p:nvCxnSpPr>
          <p:spPr>
            <a:xfrm flipV="1">
              <a:off x="1524" y="866242"/>
              <a:ext cx="1080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מחבר חץ ישר 5">
              <a:extLst>
                <a:ext uri="{FF2B5EF4-FFF2-40B4-BE49-F238E27FC236}">
                  <a16:creationId xmlns:a16="http://schemas.microsoft.com/office/drawing/2014/main" id="{4CC9F4D2-9041-BCF2-5660-1F9DEB0A9F01}"/>
                </a:ext>
              </a:extLst>
            </p:cNvPr>
            <p:cNvCxnSpPr/>
            <p:nvPr/>
          </p:nvCxnSpPr>
          <p:spPr>
            <a:xfrm flipV="1">
              <a:off x="1076859" y="866242"/>
              <a:ext cx="104394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תיבת טקסט 26">
              <a:extLst>
                <a:ext uri="{FF2B5EF4-FFF2-40B4-BE49-F238E27FC236}">
                  <a16:creationId xmlns:a16="http://schemas.microsoft.com/office/drawing/2014/main" id="{901DAEDB-DB47-3D81-A527-D7E2AACE754F}"/>
                </a:ext>
              </a:extLst>
            </p:cNvPr>
            <p:cNvSpPr txBox="1"/>
            <p:nvPr/>
          </p:nvSpPr>
          <p:spPr>
            <a:xfrm>
              <a:off x="358445" y="636422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תיבת טקסט 26">
              <a:extLst>
                <a:ext uri="{FF2B5EF4-FFF2-40B4-BE49-F238E27FC236}">
                  <a16:creationId xmlns:a16="http://schemas.microsoft.com/office/drawing/2014/main" id="{D7686B17-E0A6-438A-D1EA-B524185E910B}"/>
                </a:ext>
              </a:extLst>
            </p:cNvPr>
            <p:cNvSpPr txBox="1"/>
            <p:nvPr/>
          </p:nvSpPr>
          <p:spPr>
            <a:xfrm>
              <a:off x="1426464" y="636422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אליפסה 10">
              <a:extLst>
                <a:ext uri="{FF2B5EF4-FFF2-40B4-BE49-F238E27FC236}">
                  <a16:creationId xmlns:a16="http://schemas.microsoft.com/office/drawing/2014/main" id="{7BEB8A7D-CC8F-8FCC-AD03-E53BE3385E16}"/>
                </a:ext>
              </a:extLst>
            </p:cNvPr>
            <p:cNvSpPr/>
            <p:nvPr/>
          </p:nvSpPr>
          <p:spPr>
            <a:xfrm>
              <a:off x="2011680" y="336499"/>
              <a:ext cx="119075" cy="21214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" name="אליפסה 11">
              <a:extLst>
                <a:ext uri="{FF2B5EF4-FFF2-40B4-BE49-F238E27FC236}">
                  <a16:creationId xmlns:a16="http://schemas.microsoft.com/office/drawing/2014/main" id="{88B33CF1-1454-FCA7-A768-A834517FEBA6}"/>
                </a:ext>
              </a:extLst>
            </p:cNvPr>
            <p:cNvSpPr/>
            <p:nvPr/>
          </p:nvSpPr>
          <p:spPr>
            <a:xfrm flipH="1">
              <a:off x="0" y="292608"/>
              <a:ext cx="117043" cy="21214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14" name="קבוצה 13">
            <a:extLst>
              <a:ext uri="{FF2B5EF4-FFF2-40B4-BE49-F238E27FC236}">
                <a16:creationId xmlns:a16="http://schemas.microsoft.com/office/drawing/2014/main" id="{CC35556A-C21A-C0CA-A1DC-3E66DA46C252}"/>
              </a:ext>
            </a:extLst>
          </p:cNvPr>
          <p:cNvGrpSpPr/>
          <p:nvPr/>
        </p:nvGrpSpPr>
        <p:grpSpPr>
          <a:xfrm>
            <a:off x="838200" y="4297538"/>
            <a:ext cx="3358013" cy="1591191"/>
            <a:chOff x="0" y="0"/>
            <a:chExt cx="2131315" cy="936346"/>
          </a:xfrm>
        </p:grpSpPr>
        <p:sp>
          <p:nvSpPr>
            <p:cNvPr id="16" name="מלבן 15">
              <a:extLst>
                <a:ext uri="{FF2B5EF4-FFF2-40B4-BE49-F238E27FC236}">
                  <a16:creationId xmlns:a16="http://schemas.microsoft.com/office/drawing/2014/main" id="{6CD0C4F1-1878-6913-6D09-C18E87D84161}"/>
                </a:ext>
              </a:extLst>
            </p:cNvPr>
            <p:cNvSpPr/>
            <p:nvPr/>
          </p:nvSpPr>
          <p:spPr>
            <a:xfrm>
              <a:off x="7315" y="0"/>
              <a:ext cx="2124000" cy="9363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7" name="מחבר חץ ישר 16">
              <a:extLst>
                <a:ext uri="{FF2B5EF4-FFF2-40B4-BE49-F238E27FC236}">
                  <a16:creationId xmlns:a16="http://schemas.microsoft.com/office/drawing/2014/main" id="{71C16928-F7C7-2C5E-A6B8-F099B57E8AD1}"/>
                </a:ext>
              </a:extLst>
            </p:cNvPr>
            <p:cNvCxnSpPr/>
            <p:nvPr/>
          </p:nvCxnSpPr>
          <p:spPr>
            <a:xfrm flipV="1">
              <a:off x="1524" y="866242"/>
              <a:ext cx="1080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מחבר חץ ישר 17">
              <a:extLst>
                <a:ext uri="{FF2B5EF4-FFF2-40B4-BE49-F238E27FC236}">
                  <a16:creationId xmlns:a16="http://schemas.microsoft.com/office/drawing/2014/main" id="{FE808C60-7C9A-C0E5-269D-8D33C1775C0A}"/>
                </a:ext>
              </a:extLst>
            </p:cNvPr>
            <p:cNvCxnSpPr/>
            <p:nvPr/>
          </p:nvCxnSpPr>
          <p:spPr>
            <a:xfrm flipV="1">
              <a:off x="1076859" y="866242"/>
              <a:ext cx="104394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תיבת טקסט 26">
              <a:extLst>
                <a:ext uri="{FF2B5EF4-FFF2-40B4-BE49-F238E27FC236}">
                  <a16:creationId xmlns:a16="http://schemas.microsoft.com/office/drawing/2014/main" id="{C5DC3AB1-DEDE-D747-9BF7-209CFFE70E95}"/>
                </a:ext>
              </a:extLst>
            </p:cNvPr>
            <p:cNvSpPr txBox="1"/>
            <p:nvPr/>
          </p:nvSpPr>
          <p:spPr>
            <a:xfrm>
              <a:off x="358445" y="636422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0" name="תיבת טקסט 26">
              <a:extLst>
                <a:ext uri="{FF2B5EF4-FFF2-40B4-BE49-F238E27FC236}">
                  <a16:creationId xmlns:a16="http://schemas.microsoft.com/office/drawing/2014/main" id="{F43E7E64-7C4D-D147-D614-1E3A0B224020}"/>
                </a:ext>
              </a:extLst>
            </p:cNvPr>
            <p:cNvSpPr txBox="1"/>
            <p:nvPr/>
          </p:nvSpPr>
          <p:spPr>
            <a:xfrm>
              <a:off x="1426464" y="636422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אליפסה 20">
              <a:extLst>
                <a:ext uri="{FF2B5EF4-FFF2-40B4-BE49-F238E27FC236}">
                  <a16:creationId xmlns:a16="http://schemas.microsoft.com/office/drawing/2014/main" id="{592CA44A-12D8-BF25-89FF-55E52642FB0D}"/>
                </a:ext>
              </a:extLst>
            </p:cNvPr>
            <p:cNvSpPr/>
            <p:nvPr/>
          </p:nvSpPr>
          <p:spPr>
            <a:xfrm>
              <a:off x="2011680" y="336499"/>
              <a:ext cx="119075" cy="21214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2" name="אליפסה 21">
              <a:extLst>
                <a:ext uri="{FF2B5EF4-FFF2-40B4-BE49-F238E27FC236}">
                  <a16:creationId xmlns:a16="http://schemas.microsoft.com/office/drawing/2014/main" id="{A8B7533F-477E-42B5-BB80-23213C71A642}"/>
                </a:ext>
              </a:extLst>
            </p:cNvPr>
            <p:cNvSpPr/>
            <p:nvPr/>
          </p:nvSpPr>
          <p:spPr>
            <a:xfrm flipH="1">
              <a:off x="0" y="292608"/>
              <a:ext cx="117043" cy="21214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pic>
        <p:nvPicPr>
          <p:cNvPr id="25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966" y="2399338"/>
            <a:ext cx="816519" cy="135657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534" y="4535804"/>
            <a:ext cx="993341" cy="115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6216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C27C6-31B9-EE7A-AE38-AA02F1738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F868BE6-EE58-6F80-BDEA-8538281B4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סימולטניות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9D988252-4E4E-6D0F-5E49-24A14410F697}"/>
              </a:ext>
            </a:extLst>
          </p:cNvPr>
          <p:cNvSpPr/>
          <p:nvPr/>
        </p:nvSpPr>
        <p:spPr>
          <a:xfrm>
            <a:off x="4724139" y="1508760"/>
            <a:ext cx="6742437" cy="47914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he-IL" sz="2400" dirty="0"/>
              <a:t> ולכן מאורע שנראה בו זמני לאדם אחד יכול להראות לא בו זמני לאדם אחר 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he-IL" sz="2400" dirty="0"/>
              <a:t>ולכן ניתן לומר שסימולטניות אינה אירוע מוחלט אלא תלוי מערכת ייחוס 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he-IL" sz="2400" dirty="0"/>
              <a:t>ואם יש אדם אחד שאומר שמשהו קרה עכשיו ואדם אחר אומר שאותו משהו עוד לא קרה זה אומר שתפיסת הזמן כבר אינה מוחלטת . 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he-IL" sz="2400" dirty="0"/>
              <a:t> </a:t>
            </a:r>
            <a:endParaRPr lang="en-US" sz="2400" dirty="0"/>
          </a:p>
        </p:txBody>
      </p: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339C1A99-E7F3-4D49-BC0B-D8B01C9A237F}"/>
              </a:ext>
            </a:extLst>
          </p:cNvPr>
          <p:cNvGrpSpPr/>
          <p:nvPr/>
        </p:nvGrpSpPr>
        <p:grpSpPr>
          <a:xfrm>
            <a:off x="838200" y="2081530"/>
            <a:ext cx="3358896" cy="1969262"/>
            <a:chOff x="0" y="0"/>
            <a:chExt cx="2131315" cy="936346"/>
          </a:xfrm>
        </p:grpSpPr>
        <p:sp>
          <p:nvSpPr>
            <p:cNvPr id="4" name="מלבן 3">
              <a:extLst>
                <a:ext uri="{FF2B5EF4-FFF2-40B4-BE49-F238E27FC236}">
                  <a16:creationId xmlns:a16="http://schemas.microsoft.com/office/drawing/2014/main" id="{7B807F38-1495-9231-8BB1-C0C03F407D75}"/>
                </a:ext>
              </a:extLst>
            </p:cNvPr>
            <p:cNvSpPr/>
            <p:nvPr/>
          </p:nvSpPr>
          <p:spPr>
            <a:xfrm>
              <a:off x="7315" y="0"/>
              <a:ext cx="2124000" cy="9363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5" name="מחבר חץ ישר 4">
              <a:extLst>
                <a:ext uri="{FF2B5EF4-FFF2-40B4-BE49-F238E27FC236}">
                  <a16:creationId xmlns:a16="http://schemas.microsoft.com/office/drawing/2014/main" id="{1733E668-17C1-704C-74E6-82613CE253A9}"/>
                </a:ext>
              </a:extLst>
            </p:cNvPr>
            <p:cNvCxnSpPr/>
            <p:nvPr/>
          </p:nvCxnSpPr>
          <p:spPr>
            <a:xfrm flipV="1">
              <a:off x="1524" y="866242"/>
              <a:ext cx="1080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מחבר חץ ישר 5">
              <a:extLst>
                <a:ext uri="{FF2B5EF4-FFF2-40B4-BE49-F238E27FC236}">
                  <a16:creationId xmlns:a16="http://schemas.microsoft.com/office/drawing/2014/main" id="{7AB90D05-E505-EBAA-3625-CF42ADEC7115}"/>
                </a:ext>
              </a:extLst>
            </p:cNvPr>
            <p:cNvCxnSpPr/>
            <p:nvPr/>
          </p:nvCxnSpPr>
          <p:spPr>
            <a:xfrm flipV="1">
              <a:off x="1076859" y="866242"/>
              <a:ext cx="104394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תיבת טקסט 26">
              <a:extLst>
                <a:ext uri="{FF2B5EF4-FFF2-40B4-BE49-F238E27FC236}">
                  <a16:creationId xmlns:a16="http://schemas.microsoft.com/office/drawing/2014/main" id="{76C2A7C4-13BC-E57D-9458-755AE9BF382E}"/>
                </a:ext>
              </a:extLst>
            </p:cNvPr>
            <p:cNvSpPr txBox="1"/>
            <p:nvPr/>
          </p:nvSpPr>
          <p:spPr>
            <a:xfrm>
              <a:off x="358445" y="636422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תיבת טקסט 26">
              <a:extLst>
                <a:ext uri="{FF2B5EF4-FFF2-40B4-BE49-F238E27FC236}">
                  <a16:creationId xmlns:a16="http://schemas.microsoft.com/office/drawing/2014/main" id="{CF73E788-AD89-97FE-65E7-59D5CE9A4E36}"/>
                </a:ext>
              </a:extLst>
            </p:cNvPr>
            <p:cNvSpPr txBox="1"/>
            <p:nvPr/>
          </p:nvSpPr>
          <p:spPr>
            <a:xfrm>
              <a:off x="1426464" y="636422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אליפסה 10">
              <a:extLst>
                <a:ext uri="{FF2B5EF4-FFF2-40B4-BE49-F238E27FC236}">
                  <a16:creationId xmlns:a16="http://schemas.microsoft.com/office/drawing/2014/main" id="{4598EE93-E542-3DE7-A609-5AFD57532593}"/>
                </a:ext>
              </a:extLst>
            </p:cNvPr>
            <p:cNvSpPr/>
            <p:nvPr/>
          </p:nvSpPr>
          <p:spPr>
            <a:xfrm>
              <a:off x="2011680" y="336499"/>
              <a:ext cx="119075" cy="21214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" name="אליפסה 11">
              <a:extLst>
                <a:ext uri="{FF2B5EF4-FFF2-40B4-BE49-F238E27FC236}">
                  <a16:creationId xmlns:a16="http://schemas.microsoft.com/office/drawing/2014/main" id="{0A416AE6-C367-4A68-4A35-261A5CE2C7F4}"/>
                </a:ext>
              </a:extLst>
            </p:cNvPr>
            <p:cNvSpPr/>
            <p:nvPr/>
          </p:nvSpPr>
          <p:spPr>
            <a:xfrm flipH="1">
              <a:off x="0" y="292608"/>
              <a:ext cx="117043" cy="21214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14" name="קבוצה 13">
            <a:extLst>
              <a:ext uri="{FF2B5EF4-FFF2-40B4-BE49-F238E27FC236}">
                <a16:creationId xmlns:a16="http://schemas.microsoft.com/office/drawing/2014/main" id="{33DDC533-4F2C-4152-C361-FA2011D4A9E7}"/>
              </a:ext>
            </a:extLst>
          </p:cNvPr>
          <p:cNvGrpSpPr/>
          <p:nvPr/>
        </p:nvGrpSpPr>
        <p:grpSpPr>
          <a:xfrm>
            <a:off x="838200" y="4297538"/>
            <a:ext cx="3358013" cy="1591191"/>
            <a:chOff x="0" y="0"/>
            <a:chExt cx="2131315" cy="936346"/>
          </a:xfrm>
        </p:grpSpPr>
        <p:sp>
          <p:nvSpPr>
            <p:cNvPr id="16" name="מלבן 15">
              <a:extLst>
                <a:ext uri="{FF2B5EF4-FFF2-40B4-BE49-F238E27FC236}">
                  <a16:creationId xmlns:a16="http://schemas.microsoft.com/office/drawing/2014/main" id="{6D61C962-0F51-93AB-99FC-ABE937651E16}"/>
                </a:ext>
              </a:extLst>
            </p:cNvPr>
            <p:cNvSpPr/>
            <p:nvPr/>
          </p:nvSpPr>
          <p:spPr>
            <a:xfrm>
              <a:off x="7315" y="0"/>
              <a:ext cx="2124000" cy="9363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7" name="מחבר חץ ישר 16">
              <a:extLst>
                <a:ext uri="{FF2B5EF4-FFF2-40B4-BE49-F238E27FC236}">
                  <a16:creationId xmlns:a16="http://schemas.microsoft.com/office/drawing/2014/main" id="{1C4D1ACC-A5A2-6066-F27B-5CDEAF85052A}"/>
                </a:ext>
              </a:extLst>
            </p:cNvPr>
            <p:cNvCxnSpPr/>
            <p:nvPr/>
          </p:nvCxnSpPr>
          <p:spPr>
            <a:xfrm flipV="1">
              <a:off x="1524" y="866242"/>
              <a:ext cx="1080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מחבר חץ ישר 17">
              <a:extLst>
                <a:ext uri="{FF2B5EF4-FFF2-40B4-BE49-F238E27FC236}">
                  <a16:creationId xmlns:a16="http://schemas.microsoft.com/office/drawing/2014/main" id="{B0176CB1-2701-265B-B570-A470339675E4}"/>
                </a:ext>
              </a:extLst>
            </p:cNvPr>
            <p:cNvCxnSpPr/>
            <p:nvPr/>
          </p:nvCxnSpPr>
          <p:spPr>
            <a:xfrm flipV="1">
              <a:off x="1076859" y="866242"/>
              <a:ext cx="104394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תיבת טקסט 26">
              <a:extLst>
                <a:ext uri="{FF2B5EF4-FFF2-40B4-BE49-F238E27FC236}">
                  <a16:creationId xmlns:a16="http://schemas.microsoft.com/office/drawing/2014/main" id="{CF88E2FC-639E-5019-3331-96AEFB9A3E91}"/>
                </a:ext>
              </a:extLst>
            </p:cNvPr>
            <p:cNvSpPr txBox="1"/>
            <p:nvPr/>
          </p:nvSpPr>
          <p:spPr>
            <a:xfrm>
              <a:off x="358445" y="636422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0" name="תיבת טקסט 26">
              <a:extLst>
                <a:ext uri="{FF2B5EF4-FFF2-40B4-BE49-F238E27FC236}">
                  <a16:creationId xmlns:a16="http://schemas.microsoft.com/office/drawing/2014/main" id="{DF0D61E9-CFA7-1DE6-6BE3-64C521CD45B2}"/>
                </a:ext>
              </a:extLst>
            </p:cNvPr>
            <p:cNvSpPr txBox="1"/>
            <p:nvPr/>
          </p:nvSpPr>
          <p:spPr>
            <a:xfrm>
              <a:off x="1426464" y="636422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אליפסה 20">
              <a:extLst>
                <a:ext uri="{FF2B5EF4-FFF2-40B4-BE49-F238E27FC236}">
                  <a16:creationId xmlns:a16="http://schemas.microsoft.com/office/drawing/2014/main" id="{C48896ED-C1AB-9E41-83A0-B89CC96A3616}"/>
                </a:ext>
              </a:extLst>
            </p:cNvPr>
            <p:cNvSpPr/>
            <p:nvPr/>
          </p:nvSpPr>
          <p:spPr>
            <a:xfrm>
              <a:off x="2011680" y="336499"/>
              <a:ext cx="119075" cy="21214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2" name="אליפסה 21">
              <a:extLst>
                <a:ext uri="{FF2B5EF4-FFF2-40B4-BE49-F238E27FC236}">
                  <a16:creationId xmlns:a16="http://schemas.microsoft.com/office/drawing/2014/main" id="{31D897D5-B0F2-DFF5-2449-FD0B8C08A9CB}"/>
                </a:ext>
              </a:extLst>
            </p:cNvPr>
            <p:cNvSpPr/>
            <p:nvPr/>
          </p:nvSpPr>
          <p:spPr>
            <a:xfrm flipH="1">
              <a:off x="0" y="292608"/>
              <a:ext cx="117043" cy="21214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pic>
        <p:nvPicPr>
          <p:cNvPr id="25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966" y="2399338"/>
            <a:ext cx="816519" cy="1356579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534" y="4535804"/>
            <a:ext cx="993341" cy="115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0899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307AF-13AD-0BE0-1B81-CDA3F2616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6A4E81C-684F-7D9E-D1F5-C3C51BCD9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82208114-B07C-905C-ABD3-9CFBF79767D1}"/>
              </a:ext>
            </a:extLst>
          </p:cNvPr>
          <p:cNvSpPr/>
          <p:nvPr/>
        </p:nvSpPr>
        <p:spPr>
          <a:xfrm>
            <a:off x="1179576" y="1508760"/>
            <a:ext cx="10287000" cy="47914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he-IL" sz="9600" dirty="0"/>
              <a:t>ומה קורה </a:t>
            </a:r>
          </a:p>
          <a:p>
            <a:pPr algn="ctr">
              <a:lnSpc>
                <a:spcPct val="150000"/>
              </a:lnSpc>
            </a:pPr>
            <a:r>
              <a:rPr lang="he-IL" sz="9600" dirty="0"/>
              <a:t>לאורך ולזמן?</a:t>
            </a:r>
            <a:endParaRPr lang="en-US" sz="96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182982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B0326-3EA9-BEBA-E349-D4E117C7E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BB637AF-B2E7-1953-5017-24105F09B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התארכות הזמן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A0136009-B15C-C75A-07D1-679841E4B911}"/>
                  </a:ext>
                </a:extLst>
              </p:cNvPr>
              <p:cNvSpPr/>
              <p:nvPr/>
            </p:nvSpPr>
            <p:spPr>
              <a:xfrm>
                <a:off x="4724139" y="1508760"/>
                <a:ext cx="6742437" cy="25786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150000"/>
                  </a:lnSpc>
                </a:pPr>
                <a:r>
                  <a:rPr lang="he-IL" sz="2400" dirty="0"/>
                  <a:t>ישנה מערכת </a:t>
                </a:r>
                <a:r>
                  <a:rPr lang="en-US" sz="2400" dirty="0"/>
                  <a:t>s'</a:t>
                </a:r>
                <a:r>
                  <a:rPr lang="he-IL" sz="2400" dirty="0"/>
                  <a:t> שנעה במהירות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sz="2400" dirty="0"/>
                  <a:t> יחסית למערכת </a:t>
                </a:r>
                <a:r>
                  <a:rPr lang="en-US" sz="2400" dirty="0"/>
                  <a:t>s</a:t>
                </a:r>
                <a:r>
                  <a:rPr lang="he-IL" sz="2400" dirty="0"/>
                  <a:t>  מערכת המעבדה.</a:t>
                </a:r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ישנו קרון הנמצא במערכת </a:t>
                </a:r>
                <a:r>
                  <a:rPr lang="en-US" sz="2400" dirty="0"/>
                  <a:t>s' </a:t>
                </a:r>
                <a:r>
                  <a:rPr lang="he-IL" sz="3200" dirty="0"/>
                  <a:t> </a:t>
                </a:r>
                <a:endParaRPr lang="en-US" sz="3200" dirty="0"/>
              </a:p>
            </p:txBody>
          </p:sp>
        </mc:Choice>
        <mc:Fallback xmlns="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A0136009-B15C-C75A-07D1-679841E4B9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139" y="1508760"/>
                <a:ext cx="6742437" cy="2578608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תמונה 22" descr="2 Two inertial frames S and S'">
            <a:extLst>
              <a:ext uri="{FF2B5EF4-FFF2-40B4-BE49-F238E27FC236}">
                <a16:creationId xmlns:a16="http://schemas.microsoft.com/office/drawing/2014/main" id="{8F959586-D406-AFC7-B5CE-B1B14BB80F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32" y="1846516"/>
            <a:ext cx="3249346" cy="3082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" name="קבוצה 73">
            <a:extLst>
              <a:ext uri="{FF2B5EF4-FFF2-40B4-BE49-F238E27FC236}">
                <a16:creationId xmlns:a16="http://schemas.microsoft.com/office/drawing/2014/main" id="{101E7207-5DA6-1A66-E7D9-B0457102C8A4}"/>
              </a:ext>
            </a:extLst>
          </p:cNvPr>
          <p:cNvGrpSpPr/>
          <p:nvPr/>
        </p:nvGrpSpPr>
        <p:grpSpPr>
          <a:xfrm>
            <a:off x="7558341" y="4525264"/>
            <a:ext cx="3908235" cy="1967611"/>
            <a:chOff x="7315" y="0"/>
            <a:chExt cx="2124000" cy="936346"/>
          </a:xfrm>
        </p:grpSpPr>
        <p:sp>
          <p:nvSpPr>
            <p:cNvPr id="77" name="מלבן 76">
              <a:extLst>
                <a:ext uri="{FF2B5EF4-FFF2-40B4-BE49-F238E27FC236}">
                  <a16:creationId xmlns:a16="http://schemas.microsoft.com/office/drawing/2014/main" id="{ED78876B-3B47-58E5-2EF9-13528BE4F7DB}"/>
                </a:ext>
              </a:extLst>
            </p:cNvPr>
            <p:cNvSpPr/>
            <p:nvPr/>
          </p:nvSpPr>
          <p:spPr>
            <a:xfrm>
              <a:off x="7315" y="0"/>
              <a:ext cx="2124000" cy="9363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78" name="מחבר חץ ישר 77">
              <a:extLst>
                <a:ext uri="{FF2B5EF4-FFF2-40B4-BE49-F238E27FC236}">
                  <a16:creationId xmlns:a16="http://schemas.microsoft.com/office/drawing/2014/main" id="{342DF2A2-F2A1-9078-0381-9A30395823D9}"/>
                </a:ext>
              </a:extLst>
            </p:cNvPr>
            <p:cNvCxnSpPr/>
            <p:nvPr/>
          </p:nvCxnSpPr>
          <p:spPr>
            <a:xfrm flipH="1" flipV="1">
              <a:off x="197569" y="0"/>
              <a:ext cx="7317" cy="90590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תיבת טקסט 26">
                  <a:extLst>
                    <a:ext uri="{FF2B5EF4-FFF2-40B4-BE49-F238E27FC236}">
                      <a16:creationId xmlns:a16="http://schemas.microsoft.com/office/drawing/2014/main" id="{4E5EB60B-2D36-EBCD-0642-FD8C221AC00B}"/>
                    </a:ext>
                  </a:extLst>
                </p:cNvPr>
                <p:cNvSpPr txBox="1"/>
                <p:nvPr/>
              </p:nvSpPr>
              <p:spPr>
                <a:xfrm>
                  <a:off x="124184" y="300036"/>
                  <a:ext cx="307238" cy="256032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 rtl="1">
                    <a:lnSpc>
                      <a:spcPct val="115000"/>
                    </a:lnSpc>
                    <a:spcAft>
                      <a:spcPts val="100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𝒍</m:t>
                        </m:r>
                      </m:oMath>
                    </m:oMathPara>
                  </a14:m>
                  <a:endParaRPr lang="en-US" sz="11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9" name="תיבת טקסט 26">
                  <a:extLst>
                    <a:ext uri="{FF2B5EF4-FFF2-40B4-BE49-F238E27FC236}">
                      <a16:creationId xmlns:a16="http://schemas.microsoft.com/office/drawing/2014/main" id="{4E5EB60B-2D36-EBCD-0642-FD8C221AC0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184" y="300036"/>
                  <a:ext cx="307238" cy="2560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תיבת טקסט 26">
              <a:extLst>
                <a:ext uri="{FF2B5EF4-FFF2-40B4-BE49-F238E27FC236}">
                  <a16:creationId xmlns:a16="http://schemas.microsoft.com/office/drawing/2014/main" id="{8E7B9668-FD79-97F0-EBB5-8587F1138497}"/>
                </a:ext>
              </a:extLst>
            </p:cNvPr>
            <p:cNvSpPr txBox="1"/>
            <p:nvPr/>
          </p:nvSpPr>
          <p:spPr>
            <a:xfrm>
              <a:off x="1812899" y="44004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000" b="1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s'</a:t>
              </a:r>
              <a:endPara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81798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A90FD-1DA2-FC53-8216-FFBA69AF7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FE6522D-9F73-CAFD-47B2-3AC044B29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התארכות הזמן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4A961B26-A9E3-A867-9719-AF647487AEEF}"/>
                  </a:ext>
                </a:extLst>
              </p:cNvPr>
              <p:cNvSpPr/>
              <p:nvPr/>
            </p:nvSpPr>
            <p:spPr>
              <a:xfrm>
                <a:off x="4724139" y="1508760"/>
                <a:ext cx="6742437" cy="276148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150000"/>
                  </a:lnSpc>
                </a:pPr>
                <a:r>
                  <a:rPr lang="he-IL" sz="2400" dirty="0"/>
                  <a:t>שולחים בקרון קרן אור כלפי התקרה. </a:t>
                </a:r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בתקרת הקרון יש מראה והקרן חוזרת.</a:t>
                </a:r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עבור המערכת </a:t>
                </a:r>
                <a:r>
                  <a:rPr lang="en-US" sz="2400" dirty="0"/>
                  <a:t>s'</a:t>
                </a:r>
                <a:r>
                  <a:rPr lang="he-IL" sz="2400" dirty="0"/>
                  <a:t> האור עלה וירד,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∆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he-IL" sz="2400" dirty="0"/>
                  <a:t>. 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∆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:r>
                  <a:rPr lang="he-IL" sz="2400" dirty="0"/>
                  <a:t> הזמן כלפי מעלה ו-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he-IL" sz="2400" dirty="0"/>
                  <a:t> הינו גובה הקרון. </a:t>
                </a:r>
                <a:endParaRPr lang="en-US" sz="2400" dirty="0"/>
              </a:p>
              <a:p>
                <a:pPr>
                  <a:lnSpc>
                    <a:spcPct val="150000"/>
                  </a:lnSpc>
                </a:pPr>
                <a:endParaRPr lang="en-US" sz="3200" dirty="0"/>
              </a:p>
            </p:txBody>
          </p:sp>
        </mc:Choice>
        <mc:Fallback xmlns="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4A961B26-A9E3-A867-9719-AF647487AE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139" y="1508760"/>
                <a:ext cx="6742437" cy="2761488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תמונה 22" descr="2 Two inertial frames S and S'">
            <a:extLst>
              <a:ext uri="{FF2B5EF4-FFF2-40B4-BE49-F238E27FC236}">
                <a16:creationId xmlns:a16="http://schemas.microsoft.com/office/drawing/2014/main" id="{DFBDE411-ABD7-616A-467B-2C0864F5FF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32" y="1846516"/>
            <a:ext cx="3249346" cy="3082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קבוצה 45">
            <a:extLst>
              <a:ext uri="{FF2B5EF4-FFF2-40B4-BE49-F238E27FC236}">
                <a16:creationId xmlns:a16="http://schemas.microsoft.com/office/drawing/2014/main" id="{01388AC6-40F1-77DF-B879-58EE833FA136}"/>
              </a:ext>
            </a:extLst>
          </p:cNvPr>
          <p:cNvGrpSpPr/>
          <p:nvPr/>
        </p:nvGrpSpPr>
        <p:grpSpPr>
          <a:xfrm>
            <a:off x="7558341" y="4525264"/>
            <a:ext cx="3908235" cy="1967611"/>
            <a:chOff x="5789" y="0"/>
            <a:chExt cx="2123366" cy="935990"/>
          </a:xfrm>
        </p:grpSpPr>
        <p:grpSp>
          <p:nvGrpSpPr>
            <p:cNvPr id="47" name="קבוצה 46">
              <a:extLst>
                <a:ext uri="{FF2B5EF4-FFF2-40B4-BE49-F238E27FC236}">
                  <a16:creationId xmlns:a16="http://schemas.microsoft.com/office/drawing/2014/main" id="{2E91830E-C126-07E8-93BB-006A9493AAA2}"/>
                </a:ext>
              </a:extLst>
            </p:cNvPr>
            <p:cNvGrpSpPr/>
            <p:nvPr/>
          </p:nvGrpSpPr>
          <p:grpSpPr>
            <a:xfrm>
              <a:off x="5789" y="0"/>
              <a:ext cx="2123366" cy="935990"/>
              <a:chOff x="7315" y="0"/>
              <a:chExt cx="2124000" cy="936346"/>
            </a:xfrm>
          </p:grpSpPr>
          <p:sp>
            <p:nvSpPr>
              <p:cNvPr id="50" name="מלבן 49">
                <a:extLst>
                  <a:ext uri="{FF2B5EF4-FFF2-40B4-BE49-F238E27FC236}">
                    <a16:creationId xmlns:a16="http://schemas.microsoft.com/office/drawing/2014/main" id="{04BB2677-6EC8-C77A-0AC5-23E5048FD005}"/>
                  </a:ext>
                </a:extLst>
              </p:cNvPr>
              <p:cNvSpPr/>
              <p:nvPr/>
            </p:nvSpPr>
            <p:spPr>
              <a:xfrm>
                <a:off x="7315" y="0"/>
                <a:ext cx="2124000" cy="93634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51" name="מחבר חץ ישר 50">
                <a:extLst>
                  <a:ext uri="{FF2B5EF4-FFF2-40B4-BE49-F238E27FC236}">
                    <a16:creationId xmlns:a16="http://schemas.microsoft.com/office/drawing/2014/main" id="{36BAB010-61CC-2C41-51C1-E10F2BD65417}"/>
                  </a:ext>
                </a:extLst>
              </p:cNvPr>
              <p:cNvCxnSpPr/>
              <p:nvPr/>
            </p:nvCxnSpPr>
            <p:spPr>
              <a:xfrm flipH="1" flipV="1">
                <a:off x="197569" y="0"/>
                <a:ext cx="7317" cy="905905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תיבת טקסט 26">
                    <a:extLst>
                      <a:ext uri="{FF2B5EF4-FFF2-40B4-BE49-F238E27FC236}">
                        <a16:creationId xmlns:a16="http://schemas.microsoft.com/office/drawing/2014/main" id="{E9AF06AE-6097-427A-43E1-FB22597EB992}"/>
                      </a:ext>
                    </a:extLst>
                  </p:cNvPr>
                  <p:cNvSpPr txBox="1"/>
                  <p:nvPr/>
                </p:nvSpPr>
                <p:spPr>
                  <a:xfrm>
                    <a:off x="124184" y="300036"/>
                    <a:ext cx="307238" cy="256032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 rtl="1">
                      <a:lnSpc>
                        <a:spcPct val="115000"/>
                      </a:lnSpc>
                      <a:spcAft>
                        <a:spcPts val="1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𝒍</m:t>
                          </m:r>
                        </m:oMath>
                      </m:oMathPara>
                    </a14:m>
                    <a:endParaRPr lang="en-US" sz="1100" b="1" dirty="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2" name="תיבת טקסט 26">
                    <a:extLst>
                      <a:ext uri="{FF2B5EF4-FFF2-40B4-BE49-F238E27FC236}">
                        <a16:creationId xmlns:a16="http://schemas.microsoft.com/office/drawing/2014/main" id="{E9AF06AE-6097-427A-43E1-FB22597EB9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184" y="300036"/>
                    <a:ext cx="307238" cy="2560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3" name="אליפסה 52">
                <a:extLst>
                  <a:ext uri="{FF2B5EF4-FFF2-40B4-BE49-F238E27FC236}">
                    <a16:creationId xmlns:a16="http://schemas.microsoft.com/office/drawing/2014/main" id="{E71986A7-E915-11DB-42A1-DBAEF7D84085}"/>
                  </a:ext>
                </a:extLst>
              </p:cNvPr>
              <p:cNvSpPr/>
              <p:nvPr/>
            </p:nvSpPr>
            <p:spPr>
              <a:xfrm>
                <a:off x="628942" y="819614"/>
                <a:ext cx="101142" cy="116731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4" name="תיבת טקסט 26">
                <a:extLst>
                  <a:ext uri="{FF2B5EF4-FFF2-40B4-BE49-F238E27FC236}">
                    <a16:creationId xmlns:a16="http://schemas.microsoft.com/office/drawing/2014/main" id="{23694967-182B-9249-78D3-92F1ED9D37D0}"/>
                  </a:ext>
                </a:extLst>
              </p:cNvPr>
              <p:cNvSpPr txBox="1"/>
              <p:nvPr/>
            </p:nvSpPr>
            <p:spPr>
              <a:xfrm>
                <a:off x="1812899" y="44004"/>
                <a:ext cx="307238" cy="256032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2000" b="1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s'</a:t>
                </a:r>
                <a:endParaRPr lang="en-US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8" name="מלבן 47">
              <a:extLst>
                <a:ext uri="{FF2B5EF4-FFF2-40B4-BE49-F238E27FC236}">
                  <a16:creationId xmlns:a16="http://schemas.microsoft.com/office/drawing/2014/main" id="{E45EDB8B-6808-9788-FEDA-9B314A8D6B96}"/>
                </a:ext>
              </a:extLst>
            </p:cNvPr>
            <p:cNvSpPr/>
            <p:nvPr/>
          </p:nvSpPr>
          <p:spPr>
            <a:xfrm>
              <a:off x="386181" y="0"/>
              <a:ext cx="1302106" cy="8046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49" name="מחבר חץ ישר 48">
              <a:extLst>
                <a:ext uri="{FF2B5EF4-FFF2-40B4-BE49-F238E27FC236}">
                  <a16:creationId xmlns:a16="http://schemas.microsoft.com/office/drawing/2014/main" id="{99230FF8-1F16-E036-3C90-2B154DD31F0E}"/>
                </a:ext>
              </a:extLst>
            </p:cNvPr>
            <p:cNvCxnSpPr/>
            <p:nvPr/>
          </p:nvCxnSpPr>
          <p:spPr>
            <a:xfrm flipH="1" flipV="1">
              <a:off x="667207" y="81992"/>
              <a:ext cx="7315" cy="71734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18086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5E335-59A6-0D5C-5339-206FBBDAD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3DD5C5E-A287-7402-775B-1A01D2FF4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התארכות הזמן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57343000-638F-2E2F-0A6A-5B1025336812}"/>
                  </a:ext>
                </a:extLst>
              </p:cNvPr>
              <p:cNvSpPr/>
              <p:nvPr/>
            </p:nvSpPr>
            <p:spPr>
              <a:xfrm>
                <a:off x="3346705" y="1417320"/>
                <a:ext cx="8119872" cy="315069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he-IL" sz="2400" dirty="0"/>
                  <a:t>עבור אדם במערכת </a:t>
                </a:r>
                <a:r>
                  <a:rPr lang="en-US" sz="2400" dirty="0"/>
                  <a:t>s</a:t>
                </a:r>
                <a:r>
                  <a:rPr lang="he-IL" sz="2400" dirty="0"/>
                  <a:t> הקרן נעה כמתואר בציור:</a:t>
                </a:r>
                <a:endParaRPr lang="en-US" sz="2400" dirty="0"/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AC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∙∆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i="1" dirty="0" smtClean="0"/>
                  <a:t> 	</a:t>
                </a:r>
                <a:r>
                  <a:rPr lang="he-IL" sz="2400" dirty="0" smtClean="0"/>
                  <a:t> </a:t>
                </a:r>
                <a:endParaRPr lang="en-US" sz="2400" dirty="0" smtClean="0"/>
              </a:p>
              <a:p>
                <a:pPr algn="ctr"/>
                <a:r>
                  <a:rPr lang="en-US" sz="2400" dirty="0"/>
                  <a:t> </a:t>
                </a:r>
                <a:r>
                  <a:rPr lang="he-IL" sz="2400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AD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∙∆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he-IL" sz="2400" dirty="0"/>
                  <a:t>  </a:t>
                </a:r>
                <a:endParaRPr lang="en-US" sz="2400" dirty="0" smtClean="0"/>
              </a:p>
              <a:p>
                <a:r>
                  <a:rPr lang="he-IL" sz="2400" dirty="0" smtClean="0"/>
                  <a:t>והרי </a:t>
                </a:r>
                <a:r>
                  <a:rPr lang="he-IL" sz="2400" dirty="0"/>
                  <a:t>קבלנו קודם ש</a:t>
                </a:r>
                <a:r>
                  <a:rPr lang="he-IL" sz="2400" dirty="0" smtClean="0"/>
                  <a:t>:</a:t>
                </a:r>
                <a:r>
                  <a:rPr lang="en-US" sz="2400" dirty="0" smtClean="0"/>
                  <a:t>   </a:t>
                </a:r>
                <a:r>
                  <a:rPr lang="he-IL" sz="2400" dirty="0" smtClean="0"/>
                  <a:t> </a:t>
                </a:r>
                <a:r>
                  <a:rPr lang="he-IL" sz="2400" dirty="0"/>
                  <a:t>(1)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∙∆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endParaRPr lang="en-US" sz="3200" dirty="0"/>
              </a:p>
            </p:txBody>
          </p:sp>
        </mc:Choice>
        <mc:Fallback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57343000-638F-2E2F-0A6A-5B10253368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705" y="1417320"/>
                <a:ext cx="8119872" cy="315069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תמונה 22" descr="2 Two inertial frames S and S'">
            <a:extLst>
              <a:ext uri="{FF2B5EF4-FFF2-40B4-BE49-F238E27FC236}">
                <a16:creationId xmlns:a16="http://schemas.microsoft.com/office/drawing/2014/main" id="{AF10FD50-E43A-4B92-1616-919C013003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07" y="1677612"/>
            <a:ext cx="2865111" cy="2717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קבוצה 45">
            <a:extLst>
              <a:ext uri="{FF2B5EF4-FFF2-40B4-BE49-F238E27FC236}">
                <a16:creationId xmlns:a16="http://schemas.microsoft.com/office/drawing/2014/main" id="{9E9D4953-210F-4D0B-28C2-56B223F8874B}"/>
              </a:ext>
            </a:extLst>
          </p:cNvPr>
          <p:cNvGrpSpPr/>
          <p:nvPr/>
        </p:nvGrpSpPr>
        <p:grpSpPr>
          <a:xfrm>
            <a:off x="7558341" y="4708144"/>
            <a:ext cx="3908235" cy="1967611"/>
            <a:chOff x="5789" y="0"/>
            <a:chExt cx="2123366" cy="935990"/>
          </a:xfrm>
        </p:grpSpPr>
        <p:grpSp>
          <p:nvGrpSpPr>
            <p:cNvPr id="47" name="קבוצה 46">
              <a:extLst>
                <a:ext uri="{FF2B5EF4-FFF2-40B4-BE49-F238E27FC236}">
                  <a16:creationId xmlns:a16="http://schemas.microsoft.com/office/drawing/2014/main" id="{0B5E7756-C0CA-89A6-0DB7-D9C454F41D0A}"/>
                </a:ext>
              </a:extLst>
            </p:cNvPr>
            <p:cNvGrpSpPr/>
            <p:nvPr/>
          </p:nvGrpSpPr>
          <p:grpSpPr>
            <a:xfrm>
              <a:off x="5789" y="0"/>
              <a:ext cx="2123366" cy="935990"/>
              <a:chOff x="7315" y="0"/>
              <a:chExt cx="2124000" cy="936346"/>
            </a:xfrm>
          </p:grpSpPr>
          <p:sp>
            <p:nvSpPr>
              <p:cNvPr id="50" name="מלבן 49">
                <a:extLst>
                  <a:ext uri="{FF2B5EF4-FFF2-40B4-BE49-F238E27FC236}">
                    <a16:creationId xmlns:a16="http://schemas.microsoft.com/office/drawing/2014/main" id="{1F8FBDD7-9DD6-00D1-FDB5-EC802E255C71}"/>
                  </a:ext>
                </a:extLst>
              </p:cNvPr>
              <p:cNvSpPr/>
              <p:nvPr/>
            </p:nvSpPr>
            <p:spPr>
              <a:xfrm>
                <a:off x="7315" y="0"/>
                <a:ext cx="2124000" cy="93634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51" name="מחבר חץ ישר 50">
                <a:extLst>
                  <a:ext uri="{FF2B5EF4-FFF2-40B4-BE49-F238E27FC236}">
                    <a16:creationId xmlns:a16="http://schemas.microsoft.com/office/drawing/2014/main" id="{BF24D580-62B3-8003-C3C4-0883DD719DD9}"/>
                  </a:ext>
                </a:extLst>
              </p:cNvPr>
              <p:cNvCxnSpPr/>
              <p:nvPr/>
            </p:nvCxnSpPr>
            <p:spPr>
              <a:xfrm flipH="1" flipV="1">
                <a:off x="197569" y="0"/>
                <a:ext cx="7317" cy="905905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תיבת טקסט 26">
                    <a:extLst>
                      <a:ext uri="{FF2B5EF4-FFF2-40B4-BE49-F238E27FC236}">
                        <a16:creationId xmlns:a16="http://schemas.microsoft.com/office/drawing/2014/main" id="{EC07C03B-1496-E94A-DEF8-E7199B5A6C88}"/>
                      </a:ext>
                    </a:extLst>
                  </p:cNvPr>
                  <p:cNvSpPr txBox="1"/>
                  <p:nvPr/>
                </p:nvSpPr>
                <p:spPr>
                  <a:xfrm>
                    <a:off x="124184" y="300036"/>
                    <a:ext cx="307238" cy="256032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 rtl="1">
                      <a:lnSpc>
                        <a:spcPct val="115000"/>
                      </a:lnSpc>
                      <a:spcAft>
                        <a:spcPts val="1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𝒍</m:t>
                          </m:r>
                        </m:oMath>
                      </m:oMathPara>
                    </a14:m>
                    <a:endParaRPr lang="en-US" sz="1100" b="1" dirty="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2" name="תיבת טקסט 26">
                    <a:extLst>
                      <a:ext uri="{FF2B5EF4-FFF2-40B4-BE49-F238E27FC236}">
                        <a16:creationId xmlns:a16="http://schemas.microsoft.com/office/drawing/2014/main" id="{EC07C03B-1496-E94A-DEF8-E7199B5A6C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184" y="300036"/>
                    <a:ext cx="307238" cy="2560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3" name="אליפסה 52">
                <a:extLst>
                  <a:ext uri="{FF2B5EF4-FFF2-40B4-BE49-F238E27FC236}">
                    <a16:creationId xmlns:a16="http://schemas.microsoft.com/office/drawing/2014/main" id="{F1F4A1B8-41F9-F1FA-E3DC-002F86CCC9B8}"/>
                  </a:ext>
                </a:extLst>
              </p:cNvPr>
              <p:cNvSpPr/>
              <p:nvPr/>
            </p:nvSpPr>
            <p:spPr>
              <a:xfrm>
                <a:off x="628942" y="819614"/>
                <a:ext cx="101142" cy="116731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4" name="תיבת טקסט 26">
                <a:extLst>
                  <a:ext uri="{FF2B5EF4-FFF2-40B4-BE49-F238E27FC236}">
                    <a16:creationId xmlns:a16="http://schemas.microsoft.com/office/drawing/2014/main" id="{71447E6E-D7F8-2765-5A0B-7BB7B5AE059F}"/>
                  </a:ext>
                </a:extLst>
              </p:cNvPr>
              <p:cNvSpPr txBox="1"/>
              <p:nvPr/>
            </p:nvSpPr>
            <p:spPr>
              <a:xfrm>
                <a:off x="1812899" y="44004"/>
                <a:ext cx="307238" cy="256032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2000" b="1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s'</a:t>
                </a:r>
                <a:endParaRPr lang="en-US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8" name="מלבן 47">
              <a:extLst>
                <a:ext uri="{FF2B5EF4-FFF2-40B4-BE49-F238E27FC236}">
                  <a16:creationId xmlns:a16="http://schemas.microsoft.com/office/drawing/2014/main" id="{455E840A-89BB-56B0-EFE6-AAC96E1073A1}"/>
                </a:ext>
              </a:extLst>
            </p:cNvPr>
            <p:cNvSpPr/>
            <p:nvPr/>
          </p:nvSpPr>
          <p:spPr>
            <a:xfrm>
              <a:off x="386181" y="0"/>
              <a:ext cx="1302106" cy="8046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49" name="מחבר חץ ישר 48">
              <a:extLst>
                <a:ext uri="{FF2B5EF4-FFF2-40B4-BE49-F238E27FC236}">
                  <a16:creationId xmlns:a16="http://schemas.microsoft.com/office/drawing/2014/main" id="{06AD994E-0FDB-49C0-1D36-3ED4FFEDB81D}"/>
                </a:ext>
              </a:extLst>
            </p:cNvPr>
            <p:cNvCxnSpPr/>
            <p:nvPr/>
          </p:nvCxnSpPr>
          <p:spPr>
            <a:xfrm flipH="1" flipV="1">
              <a:off x="667207" y="81992"/>
              <a:ext cx="7315" cy="71734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0453040B-8B9C-5EBA-19B2-47CCCD86F917}"/>
              </a:ext>
            </a:extLst>
          </p:cNvPr>
          <p:cNvGrpSpPr/>
          <p:nvPr/>
        </p:nvGrpSpPr>
        <p:grpSpPr>
          <a:xfrm>
            <a:off x="3548373" y="4621184"/>
            <a:ext cx="3653103" cy="2557946"/>
            <a:chOff x="-1811" y="-92864"/>
            <a:chExt cx="2123366" cy="1217419"/>
          </a:xfrm>
        </p:grpSpPr>
        <p:cxnSp>
          <p:nvCxnSpPr>
            <p:cNvPr id="4" name="מחבר חץ ישר 3">
              <a:extLst>
                <a:ext uri="{FF2B5EF4-FFF2-40B4-BE49-F238E27FC236}">
                  <a16:creationId xmlns:a16="http://schemas.microsoft.com/office/drawing/2014/main" id="{6C39A019-BD29-3C85-71D1-E6489E9F297A}"/>
                </a:ext>
              </a:extLst>
            </p:cNvPr>
            <p:cNvCxnSpPr/>
            <p:nvPr/>
          </p:nvCxnSpPr>
          <p:spPr>
            <a:xfrm flipV="1">
              <a:off x="693420" y="1524"/>
              <a:ext cx="373075" cy="7607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מחבר חץ ישר 4">
              <a:extLst>
                <a:ext uri="{FF2B5EF4-FFF2-40B4-BE49-F238E27FC236}">
                  <a16:creationId xmlns:a16="http://schemas.microsoft.com/office/drawing/2014/main" id="{7329D7C6-D613-0FF7-AEAA-B19DB2C118A7}"/>
                </a:ext>
              </a:extLst>
            </p:cNvPr>
            <p:cNvCxnSpPr>
              <a:cxnSpLocks/>
            </p:cNvCxnSpPr>
            <p:nvPr/>
          </p:nvCxnSpPr>
          <p:spPr>
            <a:xfrm>
              <a:off x="1081125" y="0"/>
              <a:ext cx="456454" cy="8412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קבוצה 5">
              <a:extLst>
                <a:ext uri="{FF2B5EF4-FFF2-40B4-BE49-F238E27FC236}">
                  <a16:creationId xmlns:a16="http://schemas.microsoft.com/office/drawing/2014/main" id="{D4D8B901-2AA1-E69A-98AB-4E24506F2918}"/>
                </a:ext>
              </a:extLst>
            </p:cNvPr>
            <p:cNvGrpSpPr/>
            <p:nvPr/>
          </p:nvGrpSpPr>
          <p:grpSpPr>
            <a:xfrm>
              <a:off x="-1811" y="-92864"/>
              <a:ext cx="2123366" cy="1217419"/>
              <a:chOff x="-1811" y="-2397287"/>
              <a:chExt cx="2123366" cy="1217487"/>
            </a:xfrm>
          </p:grpSpPr>
          <p:grpSp>
            <p:nvGrpSpPr>
              <p:cNvPr id="7" name="קבוצה 6">
                <a:extLst>
                  <a:ext uri="{FF2B5EF4-FFF2-40B4-BE49-F238E27FC236}">
                    <a16:creationId xmlns:a16="http://schemas.microsoft.com/office/drawing/2014/main" id="{9182F8F9-849B-F211-B2BA-C29AAF2F0CE4}"/>
                  </a:ext>
                </a:extLst>
              </p:cNvPr>
              <p:cNvGrpSpPr/>
              <p:nvPr/>
            </p:nvGrpSpPr>
            <p:grpSpPr>
              <a:xfrm>
                <a:off x="-1811" y="-2377548"/>
                <a:ext cx="2123366" cy="1197748"/>
                <a:chOff x="-1811" y="-2606522"/>
                <a:chExt cx="2123366" cy="1198760"/>
              </a:xfrm>
            </p:grpSpPr>
            <p:grpSp>
              <p:nvGrpSpPr>
                <p:cNvPr id="12" name="קבוצה 11">
                  <a:extLst>
                    <a:ext uri="{FF2B5EF4-FFF2-40B4-BE49-F238E27FC236}">
                      <a16:creationId xmlns:a16="http://schemas.microsoft.com/office/drawing/2014/main" id="{C7B645E2-3734-933E-0ED5-3F2386108335}"/>
                    </a:ext>
                  </a:extLst>
                </p:cNvPr>
                <p:cNvGrpSpPr/>
                <p:nvPr/>
              </p:nvGrpSpPr>
              <p:grpSpPr>
                <a:xfrm>
                  <a:off x="-1811" y="-2606522"/>
                  <a:ext cx="2123366" cy="1198760"/>
                  <a:chOff x="-288" y="-2607513"/>
                  <a:chExt cx="2124000" cy="1199216"/>
                </a:xfrm>
              </p:grpSpPr>
              <p:sp>
                <p:nvSpPr>
                  <p:cNvPr id="14" name="מלבן 13">
                    <a:extLst>
                      <a:ext uri="{FF2B5EF4-FFF2-40B4-BE49-F238E27FC236}">
                        <a16:creationId xmlns:a16="http://schemas.microsoft.com/office/drawing/2014/main" id="{D119995C-14E8-7EE6-2364-E0F951BCF2ED}"/>
                      </a:ext>
                    </a:extLst>
                  </p:cNvPr>
                  <p:cNvSpPr/>
                  <p:nvPr/>
                </p:nvSpPr>
                <p:spPr>
                  <a:xfrm>
                    <a:off x="-288" y="-2607513"/>
                    <a:ext cx="2124000" cy="936347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cxnSp>
                <p:nvCxnSpPr>
                  <p:cNvPr id="15" name="מחבר חץ ישר 14">
                    <a:extLst>
                      <a:ext uri="{FF2B5EF4-FFF2-40B4-BE49-F238E27FC236}">
                        <a16:creationId xmlns:a16="http://schemas.microsoft.com/office/drawing/2014/main" id="{6540C794-7220-C7AD-7425-89E94FF28C6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04886" y="-2570626"/>
                    <a:ext cx="14630" cy="833182"/>
                  </a:xfrm>
                  <a:prstGeom prst="straightConnector1">
                    <a:avLst/>
                  </a:prstGeom>
                  <a:ln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" name="תיבת טקסט 26">
                        <a:extLst>
                          <a:ext uri="{FF2B5EF4-FFF2-40B4-BE49-F238E27FC236}">
                            <a16:creationId xmlns:a16="http://schemas.microsoft.com/office/drawing/2014/main" id="{967D168B-BC76-CE17-FE09-57D855108EA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7087" y="-2330366"/>
                        <a:ext cx="307238" cy="256032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r" rtl="1">
                          <a:lnSpc>
                            <a:spcPct val="115000"/>
                          </a:lnSpc>
                          <a:spcAft>
                            <a:spcPts val="1000"/>
                          </a:spcAft>
                          <a:buNone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𝒍</m:t>
                              </m:r>
                            </m:oMath>
                          </m:oMathPara>
                        </a14:m>
                        <a:endParaRPr lang="en-US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6" name="תיבת טקסט 26">
                        <a:extLst>
                          <a:ext uri="{FF2B5EF4-FFF2-40B4-BE49-F238E27FC236}">
                            <a16:creationId xmlns:a16="http://schemas.microsoft.com/office/drawing/2014/main" id="{967D168B-BC76-CE17-FE09-57D855108EA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7087" y="-2330366"/>
                        <a:ext cx="307238" cy="256032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  <a:ln w="635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7" name="אליפסה 16">
                    <a:extLst>
                      <a:ext uri="{FF2B5EF4-FFF2-40B4-BE49-F238E27FC236}">
                        <a16:creationId xmlns:a16="http://schemas.microsoft.com/office/drawing/2014/main" id="{A2BC738C-921F-06DF-E0C1-D244DF744693}"/>
                      </a:ext>
                    </a:extLst>
                  </p:cNvPr>
                  <p:cNvSpPr/>
                  <p:nvPr/>
                </p:nvSpPr>
                <p:spPr>
                  <a:xfrm>
                    <a:off x="614307" y="-1781230"/>
                    <a:ext cx="101142" cy="116731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" name="תיבת טקסט 26">
                    <a:extLst>
                      <a:ext uri="{FF2B5EF4-FFF2-40B4-BE49-F238E27FC236}">
                        <a16:creationId xmlns:a16="http://schemas.microsoft.com/office/drawing/2014/main" id="{9E9FAC8E-6949-61BA-A831-0B58EC47D869}"/>
                      </a:ext>
                    </a:extLst>
                  </p:cNvPr>
                  <p:cNvSpPr txBox="1"/>
                  <p:nvPr/>
                </p:nvSpPr>
                <p:spPr>
                  <a:xfrm>
                    <a:off x="490050" y="-1664329"/>
                    <a:ext cx="307238" cy="256032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 rtl="1">
                      <a:lnSpc>
                        <a:spcPct val="115000"/>
                      </a:lnSpc>
                      <a:spcAft>
                        <a:spcPts val="1000"/>
                      </a:spcAft>
                      <a:buNone/>
                    </a:pPr>
                    <a:r>
                      <a:rPr lang="en-U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a:t>A</a:t>
                    </a:r>
                    <a:endParaRPr lang="en-US" sz="1100" dirty="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3" name="מלבן 12">
                  <a:extLst>
                    <a:ext uri="{FF2B5EF4-FFF2-40B4-BE49-F238E27FC236}">
                      <a16:creationId xmlns:a16="http://schemas.microsoft.com/office/drawing/2014/main" id="{D253FAD3-A00F-2D0D-5152-6A67B337302F}"/>
                    </a:ext>
                  </a:extLst>
                </p:cNvPr>
                <p:cNvSpPr/>
                <p:nvPr/>
              </p:nvSpPr>
              <p:spPr>
                <a:xfrm>
                  <a:off x="342474" y="-2595520"/>
                  <a:ext cx="1302106" cy="8046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9" name="תיבת טקסט 26">
                <a:extLst>
                  <a:ext uri="{FF2B5EF4-FFF2-40B4-BE49-F238E27FC236}">
                    <a16:creationId xmlns:a16="http://schemas.microsoft.com/office/drawing/2014/main" id="{E6154E15-0BAC-500B-B78B-CF72014AAAE0}"/>
                  </a:ext>
                </a:extLst>
              </p:cNvPr>
              <p:cNvSpPr txBox="1"/>
              <p:nvPr/>
            </p:nvSpPr>
            <p:spPr>
              <a:xfrm>
                <a:off x="1315212" y="-1443426"/>
                <a:ext cx="306705" cy="25527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2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B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תיבת טקסט 26">
                <a:extLst>
                  <a:ext uri="{FF2B5EF4-FFF2-40B4-BE49-F238E27FC236}">
                    <a16:creationId xmlns:a16="http://schemas.microsoft.com/office/drawing/2014/main" id="{1650CF94-B06F-CC73-B897-58230D913202}"/>
                  </a:ext>
                </a:extLst>
              </p:cNvPr>
              <p:cNvSpPr txBox="1"/>
              <p:nvPr/>
            </p:nvSpPr>
            <p:spPr>
              <a:xfrm>
                <a:off x="837835" y="-2397287"/>
                <a:ext cx="307146" cy="25571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2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תיבת טקסט 26">
                <a:extLst>
                  <a:ext uri="{FF2B5EF4-FFF2-40B4-BE49-F238E27FC236}">
                    <a16:creationId xmlns:a16="http://schemas.microsoft.com/office/drawing/2014/main" id="{74C79645-E4E1-53C5-4D57-4C8C62DEB49A}"/>
                  </a:ext>
                </a:extLst>
              </p:cNvPr>
              <p:cNvSpPr txBox="1"/>
              <p:nvPr/>
            </p:nvSpPr>
            <p:spPr>
              <a:xfrm>
                <a:off x="876300" y="-1435926"/>
                <a:ext cx="307146" cy="25571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2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D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71D5E6C4-1A17-F06D-5F47-F21B0C215B2B}"/>
              </a:ext>
            </a:extLst>
          </p:cNvPr>
          <p:cNvSpPr txBox="1"/>
          <p:nvPr/>
        </p:nvSpPr>
        <p:spPr>
          <a:xfrm>
            <a:off x="1009457" y="459699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6276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5E335-59A6-0D5C-5339-206FBBDAD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3DD5C5E-A287-7402-775B-1A01D2FF4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התארכות הזמן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57343000-638F-2E2F-0A6A-5B1025336812}"/>
                  </a:ext>
                </a:extLst>
              </p:cNvPr>
              <p:cNvSpPr/>
              <p:nvPr/>
            </p:nvSpPr>
            <p:spPr>
              <a:xfrm>
                <a:off x="3346705" y="1417320"/>
                <a:ext cx="8119872" cy="315069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he-IL" sz="2400" dirty="0"/>
                  <a:t>עבור אדם במערכת </a:t>
                </a:r>
                <a:r>
                  <a:rPr lang="en-US" sz="2400" dirty="0"/>
                  <a:t>s</a:t>
                </a:r>
                <a:r>
                  <a:rPr lang="he-IL" sz="2400" dirty="0"/>
                  <a:t> הקרן נעה כמתואר בציור:</a:t>
                </a:r>
                <a:endParaRPr lang="en-US" sz="2400" dirty="0"/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AC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∙∆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i="1" dirty="0" smtClean="0"/>
                  <a:t> 	</a:t>
                </a:r>
                <a:r>
                  <a:rPr lang="he-IL" sz="2400" dirty="0" smtClean="0"/>
                  <a:t> </a:t>
                </a:r>
                <a:endParaRPr lang="en-US" sz="2400" dirty="0" smtClean="0"/>
              </a:p>
              <a:p>
                <a:pPr algn="ctr"/>
                <a:r>
                  <a:rPr lang="en-US" sz="2400" dirty="0"/>
                  <a:t> </a:t>
                </a:r>
                <a:r>
                  <a:rPr lang="he-IL" sz="2400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AD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∙∆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he-IL" sz="2400" dirty="0"/>
                  <a:t>  </a:t>
                </a:r>
                <a:endParaRPr lang="en-US" sz="2400" dirty="0" smtClean="0"/>
              </a:p>
              <a:p>
                <a:r>
                  <a:rPr lang="he-IL" sz="2400" dirty="0" smtClean="0"/>
                  <a:t>והרי </a:t>
                </a:r>
                <a:r>
                  <a:rPr lang="he-IL" sz="2400" dirty="0"/>
                  <a:t>קבלנו קודם ש</a:t>
                </a:r>
                <a:r>
                  <a:rPr lang="he-IL" sz="2400" dirty="0" smtClean="0"/>
                  <a:t>:</a:t>
                </a:r>
                <a:r>
                  <a:rPr lang="en-US" sz="2400" dirty="0" smtClean="0"/>
                  <a:t>   </a:t>
                </a:r>
                <a:r>
                  <a:rPr lang="he-IL" sz="2400" dirty="0" smtClean="0"/>
                  <a:t> </a:t>
                </a:r>
                <a:r>
                  <a:rPr lang="he-IL" sz="2400" dirty="0"/>
                  <a:t>(1)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∙∆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he-IL" sz="320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∙∆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∙∆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∙∆</m:t>
                            </m:r>
                            <m:sSup>
                              <m:s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endParaRPr lang="en-US" sz="3200" dirty="0"/>
              </a:p>
            </p:txBody>
          </p:sp>
        </mc:Choice>
        <mc:Fallback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57343000-638F-2E2F-0A6A-5B10253368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705" y="1417320"/>
                <a:ext cx="8119872" cy="315069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תמונה 22" descr="2 Two inertial frames S and S'">
            <a:extLst>
              <a:ext uri="{FF2B5EF4-FFF2-40B4-BE49-F238E27FC236}">
                <a16:creationId xmlns:a16="http://schemas.microsoft.com/office/drawing/2014/main" id="{AF10FD50-E43A-4B92-1616-919C013003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07" y="1677612"/>
            <a:ext cx="2865111" cy="2717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קבוצה 45">
            <a:extLst>
              <a:ext uri="{FF2B5EF4-FFF2-40B4-BE49-F238E27FC236}">
                <a16:creationId xmlns:a16="http://schemas.microsoft.com/office/drawing/2014/main" id="{9E9D4953-210F-4D0B-28C2-56B223F8874B}"/>
              </a:ext>
            </a:extLst>
          </p:cNvPr>
          <p:cNvGrpSpPr/>
          <p:nvPr/>
        </p:nvGrpSpPr>
        <p:grpSpPr>
          <a:xfrm>
            <a:off x="7558341" y="4708144"/>
            <a:ext cx="3908235" cy="1967611"/>
            <a:chOff x="5789" y="0"/>
            <a:chExt cx="2123366" cy="935990"/>
          </a:xfrm>
        </p:grpSpPr>
        <p:grpSp>
          <p:nvGrpSpPr>
            <p:cNvPr id="47" name="קבוצה 46">
              <a:extLst>
                <a:ext uri="{FF2B5EF4-FFF2-40B4-BE49-F238E27FC236}">
                  <a16:creationId xmlns:a16="http://schemas.microsoft.com/office/drawing/2014/main" id="{0B5E7756-C0CA-89A6-0DB7-D9C454F41D0A}"/>
                </a:ext>
              </a:extLst>
            </p:cNvPr>
            <p:cNvGrpSpPr/>
            <p:nvPr/>
          </p:nvGrpSpPr>
          <p:grpSpPr>
            <a:xfrm>
              <a:off x="5789" y="0"/>
              <a:ext cx="2123366" cy="935990"/>
              <a:chOff x="7315" y="0"/>
              <a:chExt cx="2124000" cy="936346"/>
            </a:xfrm>
          </p:grpSpPr>
          <p:sp>
            <p:nvSpPr>
              <p:cNvPr id="50" name="מלבן 49">
                <a:extLst>
                  <a:ext uri="{FF2B5EF4-FFF2-40B4-BE49-F238E27FC236}">
                    <a16:creationId xmlns:a16="http://schemas.microsoft.com/office/drawing/2014/main" id="{1F8FBDD7-9DD6-00D1-FDB5-EC802E255C71}"/>
                  </a:ext>
                </a:extLst>
              </p:cNvPr>
              <p:cNvSpPr/>
              <p:nvPr/>
            </p:nvSpPr>
            <p:spPr>
              <a:xfrm>
                <a:off x="7315" y="0"/>
                <a:ext cx="2124000" cy="93634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51" name="מחבר חץ ישר 50">
                <a:extLst>
                  <a:ext uri="{FF2B5EF4-FFF2-40B4-BE49-F238E27FC236}">
                    <a16:creationId xmlns:a16="http://schemas.microsoft.com/office/drawing/2014/main" id="{BF24D580-62B3-8003-C3C4-0883DD719DD9}"/>
                  </a:ext>
                </a:extLst>
              </p:cNvPr>
              <p:cNvCxnSpPr/>
              <p:nvPr/>
            </p:nvCxnSpPr>
            <p:spPr>
              <a:xfrm flipH="1" flipV="1">
                <a:off x="197569" y="0"/>
                <a:ext cx="7317" cy="905905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תיבת טקסט 26">
                    <a:extLst>
                      <a:ext uri="{FF2B5EF4-FFF2-40B4-BE49-F238E27FC236}">
                        <a16:creationId xmlns:a16="http://schemas.microsoft.com/office/drawing/2014/main" id="{EC07C03B-1496-E94A-DEF8-E7199B5A6C88}"/>
                      </a:ext>
                    </a:extLst>
                  </p:cNvPr>
                  <p:cNvSpPr txBox="1"/>
                  <p:nvPr/>
                </p:nvSpPr>
                <p:spPr>
                  <a:xfrm>
                    <a:off x="124184" y="300036"/>
                    <a:ext cx="307238" cy="256032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 rtl="1">
                      <a:lnSpc>
                        <a:spcPct val="115000"/>
                      </a:lnSpc>
                      <a:spcAft>
                        <a:spcPts val="1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𝒍</m:t>
                          </m:r>
                        </m:oMath>
                      </m:oMathPara>
                    </a14:m>
                    <a:endParaRPr lang="en-US" sz="1100" b="1" dirty="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2" name="תיבת טקסט 26">
                    <a:extLst>
                      <a:ext uri="{FF2B5EF4-FFF2-40B4-BE49-F238E27FC236}">
                        <a16:creationId xmlns:a16="http://schemas.microsoft.com/office/drawing/2014/main" id="{EC07C03B-1496-E94A-DEF8-E7199B5A6C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184" y="300036"/>
                    <a:ext cx="307238" cy="2560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3" name="אליפסה 52">
                <a:extLst>
                  <a:ext uri="{FF2B5EF4-FFF2-40B4-BE49-F238E27FC236}">
                    <a16:creationId xmlns:a16="http://schemas.microsoft.com/office/drawing/2014/main" id="{F1F4A1B8-41F9-F1FA-E3DC-002F86CCC9B8}"/>
                  </a:ext>
                </a:extLst>
              </p:cNvPr>
              <p:cNvSpPr/>
              <p:nvPr/>
            </p:nvSpPr>
            <p:spPr>
              <a:xfrm>
                <a:off x="628942" y="819614"/>
                <a:ext cx="101142" cy="116731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4" name="תיבת טקסט 26">
                <a:extLst>
                  <a:ext uri="{FF2B5EF4-FFF2-40B4-BE49-F238E27FC236}">
                    <a16:creationId xmlns:a16="http://schemas.microsoft.com/office/drawing/2014/main" id="{71447E6E-D7F8-2765-5A0B-7BB7B5AE059F}"/>
                  </a:ext>
                </a:extLst>
              </p:cNvPr>
              <p:cNvSpPr txBox="1"/>
              <p:nvPr/>
            </p:nvSpPr>
            <p:spPr>
              <a:xfrm>
                <a:off x="1812899" y="44004"/>
                <a:ext cx="307238" cy="256032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2000" b="1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s'</a:t>
                </a:r>
                <a:endParaRPr lang="en-US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8" name="מלבן 47">
              <a:extLst>
                <a:ext uri="{FF2B5EF4-FFF2-40B4-BE49-F238E27FC236}">
                  <a16:creationId xmlns:a16="http://schemas.microsoft.com/office/drawing/2014/main" id="{455E840A-89BB-56B0-EFE6-AAC96E1073A1}"/>
                </a:ext>
              </a:extLst>
            </p:cNvPr>
            <p:cNvSpPr/>
            <p:nvPr/>
          </p:nvSpPr>
          <p:spPr>
            <a:xfrm>
              <a:off x="386181" y="0"/>
              <a:ext cx="1302106" cy="8046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49" name="מחבר חץ ישר 48">
              <a:extLst>
                <a:ext uri="{FF2B5EF4-FFF2-40B4-BE49-F238E27FC236}">
                  <a16:creationId xmlns:a16="http://schemas.microsoft.com/office/drawing/2014/main" id="{06AD994E-0FDB-49C0-1D36-3ED4FFEDB81D}"/>
                </a:ext>
              </a:extLst>
            </p:cNvPr>
            <p:cNvCxnSpPr/>
            <p:nvPr/>
          </p:nvCxnSpPr>
          <p:spPr>
            <a:xfrm flipH="1" flipV="1">
              <a:off x="667207" y="81992"/>
              <a:ext cx="7315" cy="71734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0453040B-8B9C-5EBA-19B2-47CCCD86F917}"/>
              </a:ext>
            </a:extLst>
          </p:cNvPr>
          <p:cNvGrpSpPr/>
          <p:nvPr/>
        </p:nvGrpSpPr>
        <p:grpSpPr>
          <a:xfrm>
            <a:off x="3548373" y="4621184"/>
            <a:ext cx="3653103" cy="2557946"/>
            <a:chOff x="-1811" y="-92864"/>
            <a:chExt cx="2123366" cy="1217419"/>
          </a:xfrm>
        </p:grpSpPr>
        <p:cxnSp>
          <p:nvCxnSpPr>
            <p:cNvPr id="4" name="מחבר חץ ישר 3">
              <a:extLst>
                <a:ext uri="{FF2B5EF4-FFF2-40B4-BE49-F238E27FC236}">
                  <a16:creationId xmlns:a16="http://schemas.microsoft.com/office/drawing/2014/main" id="{6C39A019-BD29-3C85-71D1-E6489E9F297A}"/>
                </a:ext>
              </a:extLst>
            </p:cNvPr>
            <p:cNvCxnSpPr/>
            <p:nvPr/>
          </p:nvCxnSpPr>
          <p:spPr>
            <a:xfrm flipV="1">
              <a:off x="693420" y="1524"/>
              <a:ext cx="373075" cy="7607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מחבר חץ ישר 4">
              <a:extLst>
                <a:ext uri="{FF2B5EF4-FFF2-40B4-BE49-F238E27FC236}">
                  <a16:creationId xmlns:a16="http://schemas.microsoft.com/office/drawing/2014/main" id="{7329D7C6-D613-0FF7-AEAA-B19DB2C118A7}"/>
                </a:ext>
              </a:extLst>
            </p:cNvPr>
            <p:cNvCxnSpPr>
              <a:cxnSpLocks/>
            </p:cNvCxnSpPr>
            <p:nvPr/>
          </p:nvCxnSpPr>
          <p:spPr>
            <a:xfrm>
              <a:off x="1081125" y="0"/>
              <a:ext cx="456454" cy="8412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קבוצה 5">
              <a:extLst>
                <a:ext uri="{FF2B5EF4-FFF2-40B4-BE49-F238E27FC236}">
                  <a16:creationId xmlns:a16="http://schemas.microsoft.com/office/drawing/2014/main" id="{D4D8B901-2AA1-E69A-98AB-4E24506F2918}"/>
                </a:ext>
              </a:extLst>
            </p:cNvPr>
            <p:cNvGrpSpPr/>
            <p:nvPr/>
          </p:nvGrpSpPr>
          <p:grpSpPr>
            <a:xfrm>
              <a:off x="-1811" y="-92864"/>
              <a:ext cx="2123366" cy="1217419"/>
              <a:chOff x="-1811" y="-2397287"/>
              <a:chExt cx="2123366" cy="1217487"/>
            </a:xfrm>
          </p:grpSpPr>
          <p:grpSp>
            <p:nvGrpSpPr>
              <p:cNvPr id="7" name="קבוצה 6">
                <a:extLst>
                  <a:ext uri="{FF2B5EF4-FFF2-40B4-BE49-F238E27FC236}">
                    <a16:creationId xmlns:a16="http://schemas.microsoft.com/office/drawing/2014/main" id="{9182F8F9-849B-F211-B2BA-C29AAF2F0CE4}"/>
                  </a:ext>
                </a:extLst>
              </p:cNvPr>
              <p:cNvGrpSpPr/>
              <p:nvPr/>
            </p:nvGrpSpPr>
            <p:grpSpPr>
              <a:xfrm>
                <a:off x="-1811" y="-2377548"/>
                <a:ext cx="2123366" cy="1197748"/>
                <a:chOff x="-1811" y="-2606522"/>
                <a:chExt cx="2123366" cy="1198760"/>
              </a:xfrm>
            </p:grpSpPr>
            <p:grpSp>
              <p:nvGrpSpPr>
                <p:cNvPr id="12" name="קבוצה 11">
                  <a:extLst>
                    <a:ext uri="{FF2B5EF4-FFF2-40B4-BE49-F238E27FC236}">
                      <a16:creationId xmlns:a16="http://schemas.microsoft.com/office/drawing/2014/main" id="{C7B645E2-3734-933E-0ED5-3F2386108335}"/>
                    </a:ext>
                  </a:extLst>
                </p:cNvPr>
                <p:cNvGrpSpPr/>
                <p:nvPr/>
              </p:nvGrpSpPr>
              <p:grpSpPr>
                <a:xfrm>
                  <a:off x="-1811" y="-2606522"/>
                  <a:ext cx="2123366" cy="1198760"/>
                  <a:chOff x="-288" y="-2607513"/>
                  <a:chExt cx="2124000" cy="1199216"/>
                </a:xfrm>
              </p:grpSpPr>
              <p:sp>
                <p:nvSpPr>
                  <p:cNvPr id="14" name="מלבן 13">
                    <a:extLst>
                      <a:ext uri="{FF2B5EF4-FFF2-40B4-BE49-F238E27FC236}">
                        <a16:creationId xmlns:a16="http://schemas.microsoft.com/office/drawing/2014/main" id="{D119995C-14E8-7EE6-2364-E0F951BCF2ED}"/>
                      </a:ext>
                    </a:extLst>
                  </p:cNvPr>
                  <p:cNvSpPr/>
                  <p:nvPr/>
                </p:nvSpPr>
                <p:spPr>
                  <a:xfrm>
                    <a:off x="-288" y="-2607513"/>
                    <a:ext cx="2124000" cy="936347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cxnSp>
                <p:nvCxnSpPr>
                  <p:cNvPr id="15" name="מחבר חץ ישר 14">
                    <a:extLst>
                      <a:ext uri="{FF2B5EF4-FFF2-40B4-BE49-F238E27FC236}">
                        <a16:creationId xmlns:a16="http://schemas.microsoft.com/office/drawing/2014/main" id="{6540C794-7220-C7AD-7425-89E94FF28C6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04886" y="-2570626"/>
                    <a:ext cx="14630" cy="833182"/>
                  </a:xfrm>
                  <a:prstGeom prst="straightConnector1">
                    <a:avLst/>
                  </a:prstGeom>
                  <a:ln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" name="תיבת טקסט 26">
                        <a:extLst>
                          <a:ext uri="{FF2B5EF4-FFF2-40B4-BE49-F238E27FC236}">
                            <a16:creationId xmlns:a16="http://schemas.microsoft.com/office/drawing/2014/main" id="{967D168B-BC76-CE17-FE09-57D855108EA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7087" y="-2330366"/>
                        <a:ext cx="307238" cy="256032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r" rtl="1">
                          <a:lnSpc>
                            <a:spcPct val="115000"/>
                          </a:lnSpc>
                          <a:spcAft>
                            <a:spcPts val="1000"/>
                          </a:spcAft>
                          <a:buNone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𝒍</m:t>
                              </m:r>
                            </m:oMath>
                          </m:oMathPara>
                        </a14:m>
                        <a:endParaRPr lang="en-US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6" name="תיבת טקסט 26">
                        <a:extLst>
                          <a:ext uri="{FF2B5EF4-FFF2-40B4-BE49-F238E27FC236}">
                            <a16:creationId xmlns:a16="http://schemas.microsoft.com/office/drawing/2014/main" id="{967D168B-BC76-CE17-FE09-57D855108EA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7087" y="-2330366"/>
                        <a:ext cx="307238" cy="256032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  <a:ln w="635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7" name="אליפסה 16">
                    <a:extLst>
                      <a:ext uri="{FF2B5EF4-FFF2-40B4-BE49-F238E27FC236}">
                        <a16:creationId xmlns:a16="http://schemas.microsoft.com/office/drawing/2014/main" id="{A2BC738C-921F-06DF-E0C1-D244DF744693}"/>
                      </a:ext>
                    </a:extLst>
                  </p:cNvPr>
                  <p:cNvSpPr/>
                  <p:nvPr/>
                </p:nvSpPr>
                <p:spPr>
                  <a:xfrm>
                    <a:off x="614307" y="-1781230"/>
                    <a:ext cx="101142" cy="116731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" name="תיבת טקסט 26">
                    <a:extLst>
                      <a:ext uri="{FF2B5EF4-FFF2-40B4-BE49-F238E27FC236}">
                        <a16:creationId xmlns:a16="http://schemas.microsoft.com/office/drawing/2014/main" id="{9E9FAC8E-6949-61BA-A831-0B58EC47D869}"/>
                      </a:ext>
                    </a:extLst>
                  </p:cNvPr>
                  <p:cNvSpPr txBox="1"/>
                  <p:nvPr/>
                </p:nvSpPr>
                <p:spPr>
                  <a:xfrm>
                    <a:off x="490050" y="-1664329"/>
                    <a:ext cx="307238" cy="256032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 rtl="1">
                      <a:lnSpc>
                        <a:spcPct val="115000"/>
                      </a:lnSpc>
                      <a:spcAft>
                        <a:spcPts val="1000"/>
                      </a:spcAft>
                      <a:buNone/>
                    </a:pPr>
                    <a:r>
                      <a:rPr lang="en-U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a:t>A</a:t>
                    </a:r>
                    <a:endParaRPr lang="en-US" sz="1100" dirty="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3" name="מלבן 12">
                  <a:extLst>
                    <a:ext uri="{FF2B5EF4-FFF2-40B4-BE49-F238E27FC236}">
                      <a16:creationId xmlns:a16="http://schemas.microsoft.com/office/drawing/2014/main" id="{D253FAD3-A00F-2D0D-5152-6A67B337302F}"/>
                    </a:ext>
                  </a:extLst>
                </p:cNvPr>
                <p:cNvSpPr/>
                <p:nvPr/>
              </p:nvSpPr>
              <p:spPr>
                <a:xfrm>
                  <a:off x="342474" y="-2595520"/>
                  <a:ext cx="1302106" cy="8046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9" name="תיבת טקסט 26">
                <a:extLst>
                  <a:ext uri="{FF2B5EF4-FFF2-40B4-BE49-F238E27FC236}">
                    <a16:creationId xmlns:a16="http://schemas.microsoft.com/office/drawing/2014/main" id="{E6154E15-0BAC-500B-B78B-CF72014AAAE0}"/>
                  </a:ext>
                </a:extLst>
              </p:cNvPr>
              <p:cNvSpPr txBox="1"/>
              <p:nvPr/>
            </p:nvSpPr>
            <p:spPr>
              <a:xfrm>
                <a:off x="1315212" y="-1443426"/>
                <a:ext cx="306705" cy="25527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2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B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תיבת טקסט 26">
                <a:extLst>
                  <a:ext uri="{FF2B5EF4-FFF2-40B4-BE49-F238E27FC236}">
                    <a16:creationId xmlns:a16="http://schemas.microsoft.com/office/drawing/2014/main" id="{1650CF94-B06F-CC73-B897-58230D913202}"/>
                  </a:ext>
                </a:extLst>
              </p:cNvPr>
              <p:cNvSpPr txBox="1"/>
              <p:nvPr/>
            </p:nvSpPr>
            <p:spPr>
              <a:xfrm>
                <a:off x="837835" y="-2397287"/>
                <a:ext cx="307146" cy="25571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2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תיבת טקסט 26">
                <a:extLst>
                  <a:ext uri="{FF2B5EF4-FFF2-40B4-BE49-F238E27FC236}">
                    <a16:creationId xmlns:a16="http://schemas.microsoft.com/office/drawing/2014/main" id="{74C79645-E4E1-53C5-4D57-4C8C62DEB49A}"/>
                  </a:ext>
                </a:extLst>
              </p:cNvPr>
              <p:cNvSpPr txBox="1"/>
              <p:nvPr/>
            </p:nvSpPr>
            <p:spPr>
              <a:xfrm>
                <a:off x="876300" y="-1435926"/>
                <a:ext cx="307146" cy="25571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2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D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71D5E6C4-1A17-F06D-5F47-F21B0C215B2B}"/>
              </a:ext>
            </a:extLst>
          </p:cNvPr>
          <p:cNvSpPr txBox="1"/>
          <p:nvPr/>
        </p:nvSpPr>
        <p:spPr>
          <a:xfrm>
            <a:off x="1009457" y="459699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0456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5E335-59A6-0D5C-5339-206FBBDAD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3DD5C5E-A287-7402-775B-1A01D2FF4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התארכות הזמן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57343000-638F-2E2F-0A6A-5B1025336812}"/>
                  </a:ext>
                </a:extLst>
              </p:cNvPr>
              <p:cNvSpPr/>
              <p:nvPr/>
            </p:nvSpPr>
            <p:spPr>
              <a:xfrm>
                <a:off x="3346705" y="1417320"/>
                <a:ext cx="8119872" cy="315069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he-IL" sz="2400" dirty="0"/>
                  <a:t>עבור אדם במערכת </a:t>
                </a:r>
                <a:r>
                  <a:rPr lang="en-US" sz="2400" dirty="0"/>
                  <a:t>s</a:t>
                </a:r>
                <a:r>
                  <a:rPr lang="he-IL" sz="2400" dirty="0"/>
                  <a:t> הקרן נעה כמתואר בציור:</a:t>
                </a:r>
                <a:endParaRPr lang="en-US" sz="2400" dirty="0"/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AC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∙∆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i="1" dirty="0" smtClean="0"/>
                  <a:t> 	</a:t>
                </a:r>
                <a:r>
                  <a:rPr lang="he-IL" sz="2400" dirty="0" smtClean="0"/>
                  <a:t> </a:t>
                </a:r>
                <a:endParaRPr lang="en-US" sz="2400" dirty="0" smtClean="0"/>
              </a:p>
              <a:p>
                <a:pPr algn="ctr"/>
                <a:r>
                  <a:rPr lang="en-US" sz="2400" dirty="0"/>
                  <a:t> </a:t>
                </a:r>
                <a:r>
                  <a:rPr lang="he-IL" sz="2400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AD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∙∆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he-IL" sz="2400" dirty="0"/>
                  <a:t>  </a:t>
                </a:r>
                <a:endParaRPr lang="en-US" sz="2400" dirty="0" smtClean="0"/>
              </a:p>
              <a:p>
                <a:r>
                  <a:rPr lang="he-IL" sz="2400" dirty="0" smtClean="0"/>
                  <a:t>והרי </a:t>
                </a:r>
                <a:r>
                  <a:rPr lang="he-IL" sz="2400" dirty="0"/>
                  <a:t>קבלנו קודם ש</a:t>
                </a:r>
                <a:r>
                  <a:rPr lang="he-IL" sz="2400" dirty="0" smtClean="0"/>
                  <a:t>:</a:t>
                </a:r>
                <a:r>
                  <a:rPr lang="en-US" sz="2400" dirty="0" smtClean="0"/>
                  <a:t>   </a:t>
                </a:r>
                <a:r>
                  <a:rPr lang="he-IL" sz="2400" dirty="0" smtClean="0"/>
                  <a:t> </a:t>
                </a:r>
                <a:r>
                  <a:rPr lang="he-IL" sz="2400" dirty="0"/>
                  <a:t>(1)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∙∆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sz="2400" dirty="0" smtClean="0"/>
              </a:p>
              <a:p>
                <a:endParaRPr lang="en-US" sz="2400" dirty="0"/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∙∆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∙∆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∙∆</m:t>
                            </m:r>
                            <m:sSup>
                              <m:s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endParaRPr lang="en-US" sz="3200" dirty="0"/>
              </a:p>
            </p:txBody>
          </p:sp>
        </mc:Choice>
        <mc:Fallback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57343000-638F-2E2F-0A6A-5B10253368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705" y="1417320"/>
                <a:ext cx="8119872" cy="315069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תמונה 22" descr="2 Two inertial frames S and S'">
            <a:extLst>
              <a:ext uri="{FF2B5EF4-FFF2-40B4-BE49-F238E27FC236}">
                <a16:creationId xmlns:a16="http://schemas.microsoft.com/office/drawing/2014/main" id="{AF10FD50-E43A-4B92-1616-919C013003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07" y="1677612"/>
            <a:ext cx="2865111" cy="2717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קבוצה 45">
            <a:extLst>
              <a:ext uri="{FF2B5EF4-FFF2-40B4-BE49-F238E27FC236}">
                <a16:creationId xmlns:a16="http://schemas.microsoft.com/office/drawing/2014/main" id="{9E9D4953-210F-4D0B-28C2-56B223F8874B}"/>
              </a:ext>
            </a:extLst>
          </p:cNvPr>
          <p:cNvGrpSpPr/>
          <p:nvPr/>
        </p:nvGrpSpPr>
        <p:grpSpPr>
          <a:xfrm>
            <a:off x="7558341" y="4708144"/>
            <a:ext cx="3908235" cy="1967611"/>
            <a:chOff x="5789" y="0"/>
            <a:chExt cx="2123366" cy="935990"/>
          </a:xfrm>
        </p:grpSpPr>
        <p:grpSp>
          <p:nvGrpSpPr>
            <p:cNvPr id="47" name="קבוצה 46">
              <a:extLst>
                <a:ext uri="{FF2B5EF4-FFF2-40B4-BE49-F238E27FC236}">
                  <a16:creationId xmlns:a16="http://schemas.microsoft.com/office/drawing/2014/main" id="{0B5E7756-C0CA-89A6-0DB7-D9C454F41D0A}"/>
                </a:ext>
              </a:extLst>
            </p:cNvPr>
            <p:cNvGrpSpPr/>
            <p:nvPr/>
          </p:nvGrpSpPr>
          <p:grpSpPr>
            <a:xfrm>
              <a:off x="5789" y="0"/>
              <a:ext cx="2123366" cy="935990"/>
              <a:chOff x="7315" y="0"/>
              <a:chExt cx="2124000" cy="936346"/>
            </a:xfrm>
          </p:grpSpPr>
          <p:sp>
            <p:nvSpPr>
              <p:cNvPr id="50" name="מלבן 49">
                <a:extLst>
                  <a:ext uri="{FF2B5EF4-FFF2-40B4-BE49-F238E27FC236}">
                    <a16:creationId xmlns:a16="http://schemas.microsoft.com/office/drawing/2014/main" id="{1F8FBDD7-9DD6-00D1-FDB5-EC802E255C71}"/>
                  </a:ext>
                </a:extLst>
              </p:cNvPr>
              <p:cNvSpPr/>
              <p:nvPr/>
            </p:nvSpPr>
            <p:spPr>
              <a:xfrm>
                <a:off x="7315" y="0"/>
                <a:ext cx="2124000" cy="93634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51" name="מחבר חץ ישר 50">
                <a:extLst>
                  <a:ext uri="{FF2B5EF4-FFF2-40B4-BE49-F238E27FC236}">
                    <a16:creationId xmlns:a16="http://schemas.microsoft.com/office/drawing/2014/main" id="{BF24D580-62B3-8003-C3C4-0883DD719DD9}"/>
                  </a:ext>
                </a:extLst>
              </p:cNvPr>
              <p:cNvCxnSpPr/>
              <p:nvPr/>
            </p:nvCxnSpPr>
            <p:spPr>
              <a:xfrm flipH="1" flipV="1">
                <a:off x="197569" y="0"/>
                <a:ext cx="7317" cy="905905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תיבת טקסט 26">
                    <a:extLst>
                      <a:ext uri="{FF2B5EF4-FFF2-40B4-BE49-F238E27FC236}">
                        <a16:creationId xmlns:a16="http://schemas.microsoft.com/office/drawing/2014/main" id="{EC07C03B-1496-E94A-DEF8-E7199B5A6C88}"/>
                      </a:ext>
                    </a:extLst>
                  </p:cNvPr>
                  <p:cNvSpPr txBox="1"/>
                  <p:nvPr/>
                </p:nvSpPr>
                <p:spPr>
                  <a:xfrm>
                    <a:off x="124184" y="300036"/>
                    <a:ext cx="307238" cy="256032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 rtl="1">
                      <a:lnSpc>
                        <a:spcPct val="115000"/>
                      </a:lnSpc>
                      <a:spcAft>
                        <a:spcPts val="1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𝒍</m:t>
                          </m:r>
                        </m:oMath>
                      </m:oMathPara>
                    </a14:m>
                    <a:endParaRPr lang="en-US" sz="1100" b="1" dirty="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2" name="תיבת טקסט 26">
                    <a:extLst>
                      <a:ext uri="{FF2B5EF4-FFF2-40B4-BE49-F238E27FC236}">
                        <a16:creationId xmlns:a16="http://schemas.microsoft.com/office/drawing/2014/main" id="{EC07C03B-1496-E94A-DEF8-E7199B5A6C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184" y="300036"/>
                    <a:ext cx="307238" cy="2560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3" name="אליפסה 52">
                <a:extLst>
                  <a:ext uri="{FF2B5EF4-FFF2-40B4-BE49-F238E27FC236}">
                    <a16:creationId xmlns:a16="http://schemas.microsoft.com/office/drawing/2014/main" id="{F1F4A1B8-41F9-F1FA-E3DC-002F86CCC9B8}"/>
                  </a:ext>
                </a:extLst>
              </p:cNvPr>
              <p:cNvSpPr/>
              <p:nvPr/>
            </p:nvSpPr>
            <p:spPr>
              <a:xfrm>
                <a:off x="628942" y="819614"/>
                <a:ext cx="101142" cy="116731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4" name="תיבת טקסט 26">
                <a:extLst>
                  <a:ext uri="{FF2B5EF4-FFF2-40B4-BE49-F238E27FC236}">
                    <a16:creationId xmlns:a16="http://schemas.microsoft.com/office/drawing/2014/main" id="{71447E6E-D7F8-2765-5A0B-7BB7B5AE059F}"/>
                  </a:ext>
                </a:extLst>
              </p:cNvPr>
              <p:cNvSpPr txBox="1"/>
              <p:nvPr/>
            </p:nvSpPr>
            <p:spPr>
              <a:xfrm>
                <a:off x="1812899" y="44004"/>
                <a:ext cx="307238" cy="256032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2000" b="1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s'</a:t>
                </a:r>
                <a:endParaRPr lang="en-US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8" name="מלבן 47">
              <a:extLst>
                <a:ext uri="{FF2B5EF4-FFF2-40B4-BE49-F238E27FC236}">
                  <a16:creationId xmlns:a16="http://schemas.microsoft.com/office/drawing/2014/main" id="{455E840A-89BB-56B0-EFE6-AAC96E1073A1}"/>
                </a:ext>
              </a:extLst>
            </p:cNvPr>
            <p:cNvSpPr/>
            <p:nvPr/>
          </p:nvSpPr>
          <p:spPr>
            <a:xfrm>
              <a:off x="386181" y="0"/>
              <a:ext cx="1302106" cy="8046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49" name="מחבר חץ ישר 48">
              <a:extLst>
                <a:ext uri="{FF2B5EF4-FFF2-40B4-BE49-F238E27FC236}">
                  <a16:creationId xmlns:a16="http://schemas.microsoft.com/office/drawing/2014/main" id="{06AD994E-0FDB-49C0-1D36-3ED4FFEDB81D}"/>
                </a:ext>
              </a:extLst>
            </p:cNvPr>
            <p:cNvCxnSpPr/>
            <p:nvPr/>
          </p:nvCxnSpPr>
          <p:spPr>
            <a:xfrm flipH="1" flipV="1">
              <a:off x="667207" y="81992"/>
              <a:ext cx="7315" cy="71734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0453040B-8B9C-5EBA-19B2-47CCCD86F917}"/>
              </a:ext>
            </a:extLst>
          </p:cNvPr>
          <p:cNvGrpSpPr/>
          <p:nvPr/>
        </p:nvGrpSpPr>
        <p:grpSpPr>
          <a:xfrm>
            <a:off x="3548373" y="4621184"/>
            <a:ext cx="3653103" cy="2557946"/>
            <a:chOff x="-1811" y="-92864"/>
            <a:chExt cx="2123366" cy="1217419"/>
          </a:xfrm>
        </p:grpSpPr>
        <p:cxnSp>
          <p:nvCxnSpPr>
            <p:cNvPr id="4" name="מחבר חץ ישר 3">
              <a:extLst>
                <a:ext uri="{FF2B5EF4-FFF2-40B4-BE49-F238E27FC236}">
                  <a16:creationId xmlns:a16="http://schemas.microsoft.com/office/drawing/2014/main" id="{6C39A019-BD29-3C85-71D1-E6489E9F297A}"/>
                </a:ext>
              </a:extLst>
            </p:cNvPr>
            <p:cNvCxnSpPr/>
            <p:nvPr/>
          </p:nvCxnSpPr>
          <p:spPr>
            <a:xfrm flipV="1">
              <a:off x="693420" y="1524"/>
              <a:ext cx="373075" cy="7607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מחבר חץ ישר 4">
              <a:extLst>
                <a:ext uri="{FF2B5EF4-FFF2-40B4-BE49-F238E27FC236}">
                  <a16:creationId xmlns:a16="http://schemas.microsoft.com/office/drawing/2014/main" id="{7329D7C6-D613-0FF7-AEAA-B19DB2C118A7}"/>
                </a:ext>
              </a:extLst>
            </p:cNvPr>
            <p:cNvCxnSpPr>
              <a:cxnSpLocks/>
            </p:cNvCxnSpPr>
            <p:nvPr/>
          </p:nvCxnSpPr>
          <p:spPr>
            <a:xfrm>
              <a:off x="1081125" y="0"/>
              <a:ext cx="456454" cy="8412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קבוצה 5">
              <a:extLst>
                <a:ext uri="{FF2B5EF4-FFF2-40B4-BE49-F238E27FC236}">
                  <a16:creationId xmlns:a16="http://schemas.microsoft.com/office/drawing/2014/main" id="{D4D8B901-2AA1-E69A-98AB-4E24506F2918}"/>
                </a:ext>
              </a:extLst>
            </p:cNvPr>
            <p:cNvGrpSpPr/>
            <p:nvPr/>
          </p:nvGrpSpPr>
          <p:grpSpPr>
            <a:xfrm>
              <a:off x="-1811" y="-92864"/>
              <a:ext cx="2123366" cy="1217419"/>
              <a:chOff x="-1811" y="-2397287"/>
              <a:chExt cx="2123366" cy="1217487"/>
            </a:xfrm>
          </p:grpSpPr>
          <p:grpSp>
            <p:nvGrpSpPr>
              <p:cNvPr id="7" name="קבוצה 6">
                <a:extLst>
                  <a:ext uri="{FF2B5EF4-FFF2-40B4-BE49-F238E27FC236}">
                    <a16:creationId xmlns:a16="http://schemas.microsoft.com/office/drawing/2014/main" id="{9182F8F9-849B-F211-B2BA-C29AAF2F0CE4}"/>
                  </a:ext>
                </a:extLst>
              </p:cNvPr>
              <p:cNvGrpSpPr/>
              <p:nvPr/>
            </p:nvGrpSpPr>
            <p:grpSpPr>
              <a:xfrm>
                <a:off x="-1811" y="-2377548"/>
                <a:ext cx="2123366" cy="1197748"/>
                <a:chOff x="-1811" y="-2606522"/>
                <a:chExt cx="2123366" cy="1198760"/>
              </a:xfrm>
            </p:grpSpPr>
            <p:grpSp>
              <p:nvGrpSpPr>
                <p:cNvPr id="12" name="קבוצה 11">
                  <a:extLst>
                    <a:ext uri="{FF2B5EF4-FFF2-40B4-BE49-F238E27FC236}">
                      <a16:creationId xmlns:a16="http://schemas.microsoft.com/office/drawing/2014/main" id="{C7B645E2-3734-933E-0ED5-3F2386108335}"/>
                    </a:ext>
                  </a:extLst>
                </p:cNvPr>
                <p:cNvGrpSpPr/>
                <p:nvPr/>
              </p:nvGrpSpPr>
              <p:grpSpPr>
                <a:xfrm>
                  <a:off x="-1811" y="-2606522"/>
                  <a:ext cx="2123366" cy="1198760"/>
                  <a:chOff x="-288" y="-2607513"/>
                  <a:chExt cx="2124000" cy="1199216"/>
                </a:xfrm>
              </p:grpSpPr>
              <p:sp>
                <p:nvSpPr>
                  <p:cNvPr id="14" name="מלבן 13">
                    <a:extLst>
                      <a:ext uri="{FF2B5EF4-FFF2-40B4-BE49-F238E27FC236}">
                        <a16:creationId xmlns:a16="http://schemas.microsoft.com/office/drawing/2014/main" id="{D119995C-14E8-7EE6-2364-E0F951BCF2ED}"/>
                      </a:ext>
                    </a:extLst>
                  </p:cNvPr>
                  <p:cNvSpPr/>
                  <p:nvPr/>
                </p:nvSpPr>
                <p:spPr>
                  <a:xfrm>
                    <a:off x="-288" y="-2607513"/>
                    <a:ext cx="2124000" cy="936347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cxnSp>
                <p:nvCxnSpPr>
                  <p:cNvPr id="15" name="מחבר חץ ישר 14">
                    <a:extLst>
                      <a:ext uri="{FF2B5EF4-FFF2-40B4-BE49-F238E27FC236}">
                        <a16:creationId xmlns:a16="http://schemas.microsoft.com/office/drawing/2014/main" id="{6540C794-7220-C7AD-7425-89E94FF28C6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04886" y="-2570626"/>
                    <a:ext cx="14630" cy="833182"/>
                  </a:xfrm>
                  <a:prstGeom prst="straightConnector1">
                    <a:avLst/>
                  </a:prstGeom>
                  <a:ln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" name="תיבת טקסט 26">
                        <a:extLst>
                          <a:ext uri="{FF2B5EF4-FFF2-40B4-BE49-F238E27FC236}">
                            <a16:creationId xmlns:a16="http://schemas.microsoft.com/office/drawing/2014/main" id="{967D168B-BC76-CE17-FE09-57D855108EA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7087" y="-2330366"/>
                        <a:ext cx="307238" cy="256032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r" rtl="1">
                          <a:lnSpc>
                            <a:spcPct val="115000"/>
                          </a:lnSpc>
                          <a:spcAft>
                            <a:spcPts val="1000"/>
                          </a:spcAft>
                          <a:buNone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𝒍</m:t>
                              </m:r>
                            </m:oMath>
                          </m:oMathPara>
                        </a14:m>
                        <a:endParaRPr lang="en-US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6" name="תיבת טקסט 26">
                        <a:extLst>
                          <a:ext uri="{FF2B5EF4-FFF2-40B4-BE49-F238E27FC236}">
                            <a16:creationId xmlns:a16="http://schemas.microsoft.com/office/drawing/2014/main" id="{967D168B-BC76-CE17-FE09-57D855108EA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7087" y="-2330366"/>
                        <a:ext cx="307238" cy="256032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  <a:ln w="635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7" name="אליפסה 16">
                    <a:extLst>
                      <a:ext uri="{FF2B5EF4-FFF2-40B4-BE49-F238E27FC236}">
                        <a16:creationId xmlns:a16="http://schemas.microsoft.com/office/drawing/2014/main" id="{A2BC738C-921F-06DF-E0C1-D244DF744693}"/>
                      </a:ext>
                    </a:extLst>
                  </p:cNvPr>
                  <p:cNvSpPr/>
                  <p:nvPr/>
                </p:nvSpPr>
                <p:spPr>
                  <a:xfrm>
                    <a:off x="614307" y="-1781230"/>
                    <a:ext cx="101142" cy="116731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" name="תיבת טקסט 26">
                    <a:extLst>
                      <a:ext uri="{FF2B5EF4-FFF2-40B4-BE49-F238E27FC236}">
                        <a16:creationId xmlns:a16="http://schemas.microsoft.com/office/drawing/2014/main" id="{9E9FAC8E-6949-61BA-A831-0B58EC47D869}"/>
                      </a:ext>
                    </a:extLst>
                  </p:cNvPr>
                  <p:cNvSpPr txBox="1"/>
                  <p:nvPr/>
                </p:nvSpPr>
                <p:spPr>
                  <a:xfrm>
                    <a:off x="490050" y="-1664329"/>
                    <a:ext cx="307238" cy="256032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 rtl="1">
                      <a:lnSpc>
                        <a:spcPct val="115000"/>
                      </a:lnSpc>
                      <a:spcAft>
                        <a:spcPts val="1000"/>
                      </a:spcAft>
                      <a:buNone/>
                    </a:pPr>
                    <a:r>
                      <a:rPr lang="en-U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a:t>A</a:t>
                    </a:r>
                    <a:endParaRPr lang="en-US" sz="1100" dirty="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3" name="מלבן 12">
                  <a:extLst>
                    <a:ext uri="{FF2B5EF4-FFF2-40B4-BE49-F238E27FC236}">
                      <a16:creationId xmlns:a16="http://schemas.microsoft.com/office/drawing/2014/main" id="{D253FAD3-A00F-2D0D-5152-6A67B337302F}"/>
                    </a:ext>
                  </a:extLst>
                </p:cNvPr>
                <p:cNvSpPr/>
                <p:nvPr/>
              </p:nvSpPr>
              <p:spPr>
                <a:xfrm>
                  <a:off x="342474" y="-2595520"/>
                  <a:ext cx="1302106" cy="8046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9" name="תיבת טקסט 26">
                <a:extLst>
                  <a:ext uri="{FF2B5EF4-FFF2-40B4-BE49-F238E27FC236}">
                    <a16:creationId xmlns:a16="http://schemas.microsoft.com/office/drawing/2014/main" id="{E6154E15-0BAC-500B-B78B-CF72014AAAE0}"/>
                  </a:ext>
                </a:extLst>
              </p:cNvPr>
              <p:cNvSpPr txBox="1"/>
              <p:nvPr/>
            </p:nvSpPr>
            <p:spPr>
              <a:xfrm>
                <a:off x="1315212" y="-1443426"/>
                <a:ext cx="306705" cy="25527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2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B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תיבת טקסט 26">
                <a:extLst>
                  <a:ext uri="{FF2B5EF4-FFF2-40B4-BE49-F238E27FC236}">
                    <a16:creationId xmlns:a16="http://schemas.microsoft.com/office/drawing/2014/main" id="{1650CF94-B06F-CC73-B897-58230D913202}"/>
                  </a:ext>
                </a:extLst>
              </p:cNvPr>
              <p:cNvSpPr txBox="1"/>
              <p:nvPr/>
            </p:nvSpPr>
            <p:spPr>
              <a:xfrm>
                <a:off x="837835" y="-2397287"/>
                <a:ext cx="307146" cy="25571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2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תיבת טקסט 26">
                <a:extLst>
                  <a:ext uri="{FF2B5EF4-FFF2-40B4-BE49-F238E27FC236}">
                    <a16:creationId xmlns:a16="http://schemas.microsoft.com/office/drawing/2014/main" id="{74C79645-E4E1-53C5-4D57-4C8C62DEB49A}"/>
                  </a:ext>
                </a:extLst>
              </p:cNvPr>
              <p:cNvSpPr txBox="1"/>
              <p:nvPr/>
            </p:nvSpPr>
            <p:spPr>
              <a:xfrm>
                <a:off x="876300" y="-1435926"/>
                <a:ext cx="307146" cy="25571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2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D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71D5E6C4-1A17-F06D-5F47-F21B0C215B2B}"/>
              </a:ext>
            </a:extLst>
          </p:cNvPr>
          <p:cNvSpPr txBox="1"/>
          <p:nvPr/>
        </p:nvSpPr>
        <p:spPr>
          <a:xfrm>
            <a:off x="1009457" y="459699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3739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5E335-59A6-0D5C-5339-206FBBDAD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3DD5C5E-A287-7402-775B-1A01D2FF4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התארכות הזמן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57343000-638F-2E2F-0A6A-5B1025336812}"/>
                  </a:ext>
                </a:extLst>
              </p:cNvPr>
              <p:cNvSpPr/>
              <p:nvPr/>
            </p:nvSpPr>
            <p:spPr>
              <a:xfrm>
                <a:off x="3346705" y="1417320"/>
                <a:ext cx="8119872" cy="315069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∙∆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∙∆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∙∆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:endParaRPr lang="en-US" sz="2400" dirty="0" smtClean="0"/>
              </a:p>
              <a:p>
                <a:pPr algn="ctr"/>
                <a:endParaRPr lang="en-US" sz="2400" dirty="0"/>
              </a:p>
              <a:p>
                <a:pPr algn="ctr"/>
                <a14:m>
                  <m:oMath xmlns:m="http://schemas.openxmlformats.org/officeDocument/2006/math">
                    <m:r>
                      <a:rPr lang="he-IL" sz="240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∙∆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∆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−(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den>
                                </m:f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∆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:r>
                  <a:rPr lang="he-IL" sz="2400" dirty="0"/>
                  <a:t/>
                </a:r>
                <a:br>
                  <a:rPr lang="he-IL" sz="2400" dirty="0"/>
                </a:br>
                <a:endParaRPr lang="en-US" sz="2400" dirty="0" smtClean="0"/>
              </a:p>
              <a:p>
                <a:r>
                  <a:rPr lang="he-IL" sz="2400" dirty="0" smtClean="0"/>
                  <a:t>כאשר  </a:t>
                </a:r>
                <a:r>
                  <a:rPr lang="he-IL" sz="2400" dirty="0"/>
                  <a:t>	</a:t>
                </a:r>
                <a:r>
                  <a:rPr lang="en-US" sz="2400" dirty="0" smtClean="0"/>
                  <a:t>   </a:t>
                </a:r>
                <a:r>
                  <a:rPr lang="he-IL" sz="2400" dirty="0"/>
                  <a:t>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−(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den>
                                </m:f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endParaRPr lang="en-US" sz="3200" dirty="0"/>
              </a:p>
            </p:txBody>
          </p:sp>
        </mc:Choice>
        <mc:Fallback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57343000-638F-2E2F-0A6A-5B10253368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705" y="1417320"/>
                <a:ext cx="8119872" cy="315069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תמונה 22" descr="2 Two inertial frames S and S'">
            <a:extLst>
              <a:ext uri="{FF2B5EF4-FFF2-40B4-BE49-F238E27FC236}">
                <a16:creationId xmlns:a16="http://schemas.microsoft.com/office/drawing/2014/main" id="{AF10FD50-E43A-4B92-1616-919C013003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07" y="1677612"/>
            <a:ext cx="2865111" cy="2717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קבוצה 45">
            <a:extLst>
              <a:ext uri="{FF2B5EF4-FFF2-40B4-BE49-F238E27FC236}">
                <a16:creationId xmlns:a16="http://schemas.microsoft.com/office/drawing/2014/main" id="{9E9D4953-210F-4D0B-28C2-56B223F8874B}"/>
              </a:ext>
            </a:extLst>
          </p:cNvPr>
          <p:cNvGrpSpPr/>
          <p:nvPr/>
        </p:nvGrpSpPr>
        <p:grpSpPr>
          <a:xfrm>
            <a:off x="7558341" y="4708144"/>
            <a:ext cx="3908235" cy="1967611"/>
            <a:chOff x="5789" y="0"/>
            <a:chExt cx="2123366" cy="935990"/>
          </a:xfrm>
        </p:grpSpPr>
        <p:grpSp>
          <p:nvGrpSpPr>
            <p:cNvPr id="47" name="קבוצה 46">
              <a:extLst>
                <a:ext uri="{FF2B5EF4-FFF2-40B4-BE49-F238E27FC236}">
                  <a16:creationId xmlns:a16="http://schemas.microsoft.com/office/drawing/2014/main" id="{0B5E7756-C0CA-89A6-0DB7-D9C454F41D0A}"/>
                </a:ext>
              </a:extLst>
            </p:cNvPr>
            <p:cNvGrpSpPr/>
            <p:nvPr/>
          </p:nvGrpSpPr>
          <p:grpSpPr>
            <a:xfrm>
              <a:off x="5789" y="0"/>
              <a:ext cx="2123366" cy="935990"/>
              <a:chOff x="7315" y="0"/>
              <a:chExt cx="2124000" cy="936346"/>
            </a:xfrm>
          </p:grpSpPr>
          <p:sp>
            <p:nvSpPr>
              <p:cNvPr id="50" name="מלבן 49">
                <a:extLst>
                  <a:ext uri="{FF2B5EF4-FFF2-40B4-BE49-F238E27FC236}">
                    <a16:creationId xmlns:a16="http://schemas.microsoft.com/office/drawing/2014/main" id="{1F8FBDD7-9DD6-00D1-FDB5-EC802E255C71}"/>
                  </a:ext>
                </a:extLst>
              </p:cNvPr>
              <p:cNvSpPr/>
              <p:nvPr/>
            </p:nvSpPr>
            <p:spPr>
              <a:xfrm>
                <a:off x="7315" y="0"/>
                <a:ext cx="2124000" cy="93634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51" name="מחבר חץ ישר 50">
                <a:extLst>
                  <a:ext uri="{FF2B5EF4-FFF2-40B4-BE49-F238E27FC236}">
                    <a16:creationId xmlns:a16="http://schemas.microsoft.com/office/drawing/2014/main" id="{BF24D580-62B3-8003-C3C4-0883DD719DD9}"/>
                  </a:ext>
                </a:extLst>
              </p:cNvPr>
              <p:cNvCxnSpPr/>
              <p:nvPr/>
            </p:nvCxnSpPr>
            <p:spPr>
              <a:xfrm flipH="1" flipV="1">
                <a:off x="197569" y="0"/>
                <a:ext cx="7317" cy="905905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תיבת טקסט 26">
                    <a:extLst>
                      <a:ext uri="{FF2B5EF4-FFF2-40B4-BE49-F238E27FC236}">
                        <a16:creationId xmlns:a16="http://schemas.microsoft.com/office/drawing/2014/main" id="{EC07C03B-1496-E94A-DEF8-E7199B5A6C88}"/>
                      </a:ext>
                    </a:extLst>
                  </p:cNvPr>
                  <p:cNvSpPr txBox="1"/>
                  <p:nvPr/>
                </p:nvSpPr>
                <p:spPr>
                  <a:xfrm>
                    <a:off x="124184" y="300036"/>
                    <a:ext cx="307238" cy="256032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 rtl="1">
                      <a:lnSpc>
                        <a:spcPct val="115000"/>
                      </a:lnSpc>
                      <a:spcAft>
                        <a:spcPts val="1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𝒍</m:t>
                          </m:r>
                        </m:oMath>
                      </m:oMathPara>
                    </a14:m>
                    <a:endParaRPr lang="en-US" sz="1100" b="1" dirty="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2" name="תיבת טקסט 26">
                    <a:extLst>
                      <a:ext uri="{FF2B5EF4-FFF2-40B4-BE49-F238E27FC236}">
                        <a16:creationId xmlns:a16="http://schemas.microsoft.com/office/drawing/2014/main" id="{EC07C03B-1496-E94A-DEF8-E7199B5A6C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184" y="300036"/>
                    <a:ext cx="307238" cy="2560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3" name="אליפסה 52">
                <a:extLst>
                  <a:ext uri="{FF2B5EF4-FFF2-40B4-BE49-F238E27FC236}">
                    <a16:creationId xmlns:a16="http://schemas.microsoft.com/office/drawing/2014/main" id="{F1F4A1B8-41F9-F1FA-E3DC-002F86CCC9B8}"/>
                  </a:ext>
                </a:extLst>
              </p:cNvPr>
              <p:cNvSpPr/>
              <p:nvPr/>
            </p:nvSpPr>
            <p:spPr>
              <a:xfrm>
                <a:off x="628942" y="819614"/>
                <a:ext cx="101142" cy="116731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4" name="תיבת טקסט 26">
                <a:extLst>
                  <a:ext uri="{FF2B5EF4-FFF2-40B4-BE49-F238E27FC236}">
                    <a16:creationId xmlns:a16="http://schemas.microsoft.com/office/drawing/2014/main" id="{71447E6E-D7F8-2765-5A0B-7BB7B5AE059F}"/>
                  </a:ext>
                </a:extLst>
              </p:cNvPr>
              <p:cNvSpPr txBox="1"/>
              <p:nvPr/>
            </p:nvSpPr>
            <p:spPr>
              <a:xfrm>
                <a:off x="1812899" y="44004"/>
                <a:ext cx="307238" cy="256032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2000" b="1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s'</a:t>
                </a:r>
                <a:endParaRPr lang="en-US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8" name="מלבן 47">
              <a:extLst>
                <a:ext uri="{FF2B5EF4-FFF2-40B4-BE49-F238E27FC236}">
                  <a16:creationId xmlns:a16="http://schemas.microsoft.com/office/drawing/2014/main" id="{455E840A-89BB-56B0-EFE6-AAC96E1073A1}"/>
                </a:ext>
              </a:extLst>
            </p:cNvPr>
            <p:cNvSpPr/>
            <p:nvPr/>
          </p:nvSpPr>
          <p:spPr>
            <a:xfrm>
              <a:off x="386181" y="0"/>
              <a:ext cx="1302106" cy="8046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49" name="מחבר חץ ישר 48">
              <a:extLst>
                <a:ext uri="{FF2B5EF4-FFF2-40B4-BE49-F238E27FC236}">
                  <a16:creationId xmlns:a16="http://schemas.microsoft.com/office/drawing/2014/main" id="{06AD994E-0FDB-49C0-1D36-3ED4FFEDB81D}"/>
                </a:ext>
              </a:extLst>
            </p:cNvPr>
            <p:cNvCxnSpPr/>
            <p:nvPr/>
          </p:nvCxnSpPr>
          <p:spPr>
            <a:xfrm flipH="1" flipV="1">
              <a:off x="667207" y="81992"/>
              <a:ext cx="7315" cy="71734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0453040B-8B9C-5EBA-19B2-47CCCD86F917}"/>
              </a:ext>
            </a:extLst>
          </p:cNvPr>
          <p:cNvGrpSpPr/>
          <p:nvPr/>
        </p:nvGrpSpPr>
        <p:grpSpPr>
          <a:xfrm>
            <a:off x="3548373" y="4621184"/>
            <a:ext cx="3653103" cy="2557946"/>
            <a:chOff x="-1811" y="-92864"/>
            <a:chExt cx="2123366" cy="1217419"/>
          </a:xfrm>
        </p:grpSpPr>
        <p:cxnSp>
          <p:nvCxnSpPr>
            <p:cNvPr id="4" name="מחבר חץ ישר 3">
              <a:extLst>
                <a:ext uri="{FF2B5EF4-FFF2-40B4-BE49-F238E27FC236}">
                  <a16:creationId xmlns:a16="http://schemas.microsoft.com/office/drawing/2014/main" id="{6C39A019-BD29-3C85-71D1-E6489E9F297A}"/>
                </a:ext>
              </a:extLst>
            </p:cNvPr>
            <p:cNvCxnSpPr/>
            <p:nvPr/>
          </p:nvCxnSpPr>
          <p:spPr>
            <a:xfrm flipV="1">
              <a:off x="693420" y="1524"/>
              <a:ext cx="373075" cy="7607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מחבר חץ ישר 4">
              <a:extLst>
                <a:ext uri="{FF2B5EF4-FFF2-40B4-BE49-F238E27FC236}">
                  <a16:creationId xmlns:a16="http://schemas.microsoft.com/office/drawing/2014/main" id="{7329D7C6-D613-0FF7-AEAA-B19DB2C118A7}"/>
                </a:ext>
              </a:extLst>
            </p:cNvPr>
            <p:cNvCxnSpPr>
              <a:cxnSpLocks/>
            </p:cNvCxnSpPr>
            <p:nvPr/>
          </p:nvCxnSpPr>
          <p:spPr>
            <a:xfrm>
              <a:off x="1081125" y="0"/>
              <a:ext cx="456454" cy="8412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קבוצה 5">
              <a:extLst>
                <a:ext uri="{FF2B5EF4-FFF2-40B4-BE49-F238E27FC236}">
                  <a16:creationId xmlns:a16="http://schemas.microsoft.com/office/drawing/2014/main" id="{D4D8B901-2AA1-E69A-98AB-4E24506F2918}"/>
                </a:ext>
              </a:extLst>
            </p:cNvPr>
            <p:cNvGrpSpPr/>
            <p:nvPr/>
          </p:nvGrpSpPr>
          <p:grpSpPr>
            <a:xfrm>
              <a:off x="-1811" y="-92864"/>
              <a:ext cx="2123366" cy="1217419"/>
              <a:chOff x="-1811" y="-2397287"/>
              <a:chExt cx="2123366" cy="1217487"/>
            </a:xfrm>
          </p:grpSpPr>
          <p:grpSp>
            <p:nvGrpSpPr>
              <p:cNvPr id="7" name="קבוצה 6">
                <a:extLst>
                  <a:ext uri="{FF2B5EF4-FFF2-40B4-BE49-F238E27FC236}">
                    <a16:creationId xmlns:a16="http://schemas.microsoft.com/office/drawing/2014/main" id="{9182F8F9-849B-F211-B2BA-C29AAF2F0CE4}"/>
                  </a:ext>
                </a:extLst>
              </p:cNvPr>
              <p:cNvGrpSpPr/>
              <p:nvPr/>
            </p:nvGrpSpPr>
            <p:grpSpPr>
              <a:xfrm>
                <a:off x="-1811" y="-2377548"/>
                <a:ext cx="2123366" cy="1197748"/>
                <a:chOff x="-1811" y="-2606522"/>
                <a:chExt cx="2123366" cy="1198760"/>
              </a:xfrm>
            </p:grpSpPr>
            <p:grpSp>
              <p:nvGrpSpPr>
                <p:cNvPr id="12" name="קבוצה 11">
                  <a:extLst>
                    <a:ext uri="{FF2B5EF4-FFF2-40B4-BE49-F238E27FC236}">
                      <a16:creationId xmlns:a16="http://schemas.microsoft.com/office/drawing/2014/main" id="{C7B645E2-3734-933E-0ED5-3F2386108335}"/>
                    </a:ext>
                  </a:extLst>
                </p:cNvPr>
                <p:cNvGrpSpPr/>
                <p:nvPr/>
              </p:nvGrpSpPr>
              <p:grpSpPr>
                <a:xfrm>
                  <a:off x="-1811" y="-2606522"/>
                  <a:ext cx="2123366" cy="1198760"/>
                  <a:chOff x="-288" y="-2607513"/>
                  <a:chExt cx="2124000" cy="1199216"/>
                </a:xfrm>
              </p:grpSpPr>
              <p:sp>
                <p:nvSpPr>
                  <p:cNvPr id="14" name="מלבן 13">
                    <a:extLst>
                      <a:ext uri="{FF2B5EF4-FFF2-40B4-BE49-F238E27FC236}">
                        <a16:creationId xmlns:a16="http://schemas.microsoft.com/office/drawing/2014/main" id="{D119995C-14E8-7EE6-2364-E0F951BCF2ED}"/>
                      </a:ext>
                    </a:extLst>
                  </p:cNvPr>
                  <p:cNvSpPr/>
                  <p:nvPr/>
                </p:nvSpPr>
                <p:spPr>
                  <a:xfrm>
                    <a:off x="-288" y="-2607513"/>
                    <a:ext cx="2124000" cy="936347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cxnSp>
                <p:nvCxnSpPr>
                  <p:cNvPr id="15" name="מחבר חץ ישר 14">
                    <a:extLst>
                      <a:ext uri="{FF2B5EF4-FFF2-40B4-BE49-F238E27FC236}">
                        <a16:creationId xmlns:a16="http://schemas.microsoft.com/office/drawing/2014/main" id="{6540C794-7220-C7AD-7425-89E94FF28C6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04886" y="-2570626"/>
                    <a:ext cx="14630" cy="833182"/>
                  </a:xfrm>
                  <a:prstGeom prst="straightConnector1">
                    <a:avLst/>
                  </a:prstGeom>
                  <a:ln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" name="תיבת טקסט 26">
                        <a:extLst>
                          <a:ext uri="{FF2B5EF4-FFF2-40B4-BE49-F238E27FC236}">
                            <a16:creationId xmlns:a16="http://schemas.microsoft.com/office/drawing/2014/main" id="{967D168B-BC76-CE17-FE09-57D855108EA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7087" y="-2330366"/>
                        <a:ext cx="307238" cy="256032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r" rtl="1">
                          <a:lnSpc>
                            <a:spcPct val="115000"/>
                          </a:lnSpc>
                          <a:spcAft>
                            <a:spcPts val="1000"/>
                          </a:spcAft>
                          <a:buNone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𝒍</m:t>
                              </m:r>
                            </m:oMath>
                          </m:oMathPara>
                        </a14:m>
                        <a:endParaRPr lang="en-US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6" name="תיבת טקסט 26">
                        <a:extLst>
                          <a:ext uri="{FF2B5EF4-FFF2-40B4-BE49-F238E27FC236}">
                            <a16:creationId xmlns:a16="http://schemas.microsoft.com/office/drawing/2014/main" id="{967D168B-BC76-CE17-FE09-57D855108EA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7087" y="-2330366"/>
                        <a:ext cx="307238" cy="256032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  <a:ln w="635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7" name="אליפסה 16">
                    <a:extLst>
                      <a:ext uri="{FF2B5EF4-FFF2-40B4-BE49-F238E27FC236}">
                        <a16:creationId xmlns:a16="http://schemas.microsoft.com/office/drawing/2014/main" id="{A2BC738C-921F-06DF-E0C1-D244DF744693}"/>
                      </a:ext>
                    </a:extLst>
                  </p:cNvPr>
                  <p:cNvSpPr/>
                  <p:nvPr/>
                </p:nvSpPr>
                <p:spPr>
                  <a:xfrm>
                    <a:off x="614307" y="-1781230"/>
                    <a:ext cx="101142" cy="116731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" name="תיבת טקסט 26">
                    <a:extLst>
                      <a:ext uri="{FF2B5EF4-FFF2-40B4-BE49-F238E27FC236}">
                        <a16:creationId xmlns:a16="http://schemas.microsoft.com/office/drawing/2014/main" id="{9E9FAC8E-6949-61BA-A831-0B58EC47D869}"/>
                      </a:ext>
                    </a:extLst>
                  </p:cNvPr>
                  <p:cNvSpPr txBox="1"/>
                  <p:nvPr/>
                </p:nvSpPr>
                <p:spPr>
                  <a:xfrm>
                    <a:off x="490050" y="-1664329"/>
                    <a:ext cx="307238" cy="256032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 rtl="1">
                      <a:lnSpc>
                        <a:spcPct val="115000"/>
                      </a:lnSpc>
                      <a:spcAft>
                        <a:spcPts val="1000"/>
                      </a:spcAft>
                      <a:buNone/>
                    </a:pPr>
                    <a:r>
                      <a:rPr lang="en-U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a:t>A</a:t>
                    </a:r>
                    <a:endParaRPr lang="en-US" sz="1100" dirty="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3" name="מלבן 12">
                  <a:extLst>
                    <a:ext uri="{FF2B5EF4-FFF2-40B4-BE49-F238E27FC236}">
                      <a16:creationId xmlns:a16="http://schemas.microsoft.com/office/drawing/2014/main" id="{D253FAD3-A00F-2D0D-5152-6A67B337302F}"/>
                    </a:ext>
                  </a:extLst>
                </p:cNvPr>
                <p:cNvSpPr/>
                <p:nvPr/>
              </p:nvSpPr>
              <p:spPr>
                <a:xfrm>
                  <a:off x="342474" y="-2595520"/>
                  <a:ext cx="1302106" cy="8046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9" name="תיבת טקסט 26">
                <a:extLst>
                  <a:ext uri="{FF2B5EF4-FFF2-40B4-BE49-F238E27FC236}">
                    <a16:creationId xmlns:a16="http://schemas.microsoft.com/office/drawing/2014/main" id="{E6154E15-0BAC-500B-B78B-CF72014AAAE0}"/>
                  </a:ext>
                </a:extLst>
              </p:cNvPr>
              <p:cNvSpPr txBox="1"/>
              <p:nvPr/>
            </p:nvSpPr>
            <p:spPr>
              <a:xfrm>
                <a:off x="1315212" y="-1443426"/>
                <a:ext cx="306705" cy="25527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2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B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תיבת טקסט 26">
                <a:extLst>
                  <a:ext uri="{FF2B5EF4-FFF2-40B4-BE49-F238E27FC236}">
                    <a16:creationId xmlns:a16="http://schemas.microsoft.com/office/drawing/2014/main" id="{1650CF94-B06F-CC73-B897-58230D913202}"/>
                  </a:ext>
                </a:extLst>
              </p:cNvPr>
              <p:cNvSpPr txBox="1"/>
              <p:nvPr/>
            </p:nvSpPr>
            <p:spPr>
              <a:xfrm>
                <a:off x="837835" y="-2397287"/>
                <a:ext cx="307146" cy="25571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2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תיבת טקסט 26">
                <a:extLst>
                  <a:ext uri="{FF2B5EF4-FFF2-40B4-BE49-F238E27FC236}">
                    <a16:creationId xmlns:a16="http://schemas.microsoft.com/office/drawing/2014/main" id="{74C79645-E4E1-53C5-4D57-4C8C62DEB49A}"/>
                  </a:ext>
                </a:extLst>
              </p:cNvPr>
              <p:cNvSpPr txBox="1"/>
              <p:nvPr/>
            </p:nvSpPr>
            <p:spPr>
              <a:xfrm>
                <a:off x="876300" y="-1435926"/>
                <a:ext cx="307146" cy="25571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2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D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71D5E6C4-1A17-F06D-5F47-F21B0C215B2B}"/>
              </a:ext>
            </a:extLst>
          </p:cNvPr>
          <p:cNvSpPr txBox="1"/>
          <p:nvPr/>
        </p:nvSpPr>
        <p:spPr>
          <a:xfrm>
            <a:off x="1009457" y="459699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2823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B6EDE-BC77-F023-5C66-2E3BB31F9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41EE142-03C8-891E-9CD5-A2B5F48DF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התארכות הזמן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3DC7209C-DD64-3409-DE3B-21A1A943EF5E}"/>
                  </a:ext>
                </a:extLst>
              </p:cNvPr>
              <p:cNvSpPr/>
              <p:nvPr/>
            </p:nvSpPr>
            <p:spPr>
              <a:xfrm>
                <a:off x="3346705" y="1417320"/>
                <a:ext cx="8119872" cy="315069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he-IL" sz="4400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4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4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4400" i="1">
                        <a:latin typeface="Cambria Math" panose="02040503050406030204" pitchFamily="18" charset="0"/>
                      </a:rPr>
                      <m:t>∆</m:t>
                    </m:r>
                    <m:sSup>
                      <m:sSup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4400" dirty="0"/>
                  <a:t> </a:t>
                </a:r>
                <a:endParaRPr lang="he-IL" sz="4400" dirty="0"/>
              </a:p>
              <a:p>
                <a:pPr>
                  <a:lnSpc>
                    <a:spcPct val="150000"/>
                  </a:lnSpc>
                </a:pPr>
                <a:r>
                  <a:rPr lang="he-IL" sz="3200" dirty="0"/>
                  <a:t>כאשר 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3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−(</m:t>
                            </m:r>
                            <m:sSup>
                              <m:s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f>
                                  <m:f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num>
                                  <m:den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den>
                                </m:f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sz="32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32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endParaRPr lang="en-US" sz="3200" dirty="0"/>
              </a:p>
            </p:txBody>
          </p:sp>
        </mc:Choice>
        <mc:Fallback xmlns="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3DC7209C-DD64-3409-DE3B-21A1A943EF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705" y="1417320"/>
                <a:ext cx="8119872" cy="315069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תמונה 22" descr="2 Two inertial frames S and S'">
            <a:extLst>
              <a:ext uri="{FF2B5EF4-FFF2-40B4-BE49-F238E27FC236}">
                <a16:creationId xmlns:a16="http://schemas.microsoft.com/office/drawing/2014/main" id="{687052DE-1383-85CE-1C22-EFDFCD6A42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07" y="1677612"/>
            <a:ext cx="2865111" cy="2717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קבוצה 45">
            <a:extLst>
              <a:ext uri="{FF2B5EF4-FFF2-40B4-BE49-F238E27FC236}">
                <a16:creationId xmlns:a16="http://schemas.microsoft.com/office/drawing/2014/main" id="{935E3211-FCBE-192F-26F7-6CC26A628A75}"/>
              </a:ext>
            </a:extLst>
          </p:cNvPr>
          <p:cNvGrpSpPr/>
          <p:nvPr/>
        </p:nvGrpSpPr>
        <p:grpSpPr>
          <a:xfrm>
            <a:off x="7558341" y="4708144"/>
            <a:ext cx="3908235" cy="1967611"/>
            <a:chOff x="5789" y="0"/>
            <a:chExt cx="2123366" cy="935990"/>
          </a:xfrm>
        </p:grpSpPr>
        <p:grpSp>
          <p:nvGrpSpPr>
            <p:cNvPr id="47" name="קבוצה 46">
              <a:extLst>
                <a:ext uri="{FF2B5EF4-FFF2-40B4-BE49-F238E27FC236}">
                  <a16:creationId xmlns:a16="http://schemas.microsoft.com/office/drawing/2014/main" id="{EB24EED7-5C71-EE57-84FC-144C8BDBE5C4}"/>
                </a:ext>
              </a:extLst>
            </p:cNvPr>
            <p:cNvGrpSpPr/>
            <p:nvPr/>
          </p:nvGrpSpPr>
          <p:grpSpPr>
            <a:xfrm>
              <a:off x="5789" y="0"/>
              <a:ext cx="2123366" cy="935990"/>
              <a:chOff x="7315" y="0"/>
              <a:chExt cx="2124000" cy="936346"/>
            </a:xfrm>
          </p:grpSpPr>
          <p:sp>
            <p:nvSpPr>
              <p:cNvPr id="50" name="מלבן 49">
                <a:extLst>
                  <a:ext uri="{FF2B5EF4-FFF2-40B4-BE49-F238E27FC236}">
                    <a16:creationId xmlns:a16="http://schemas.microsoft.com/office/drawing/2014/main" id="{95088C50-FD7A-D2AF-AA18-82C3CDCADBFC}"/>
                  </a:ext>
                </a:extLst>
              </p:cNvPr>
              <p:cNvSpPr/>
              <p:nvPr/>
            </p:nvSpPr>
            <p:spPr>
              <a:xfrm>
                <a:off x="7315" y="0"/>
                <a:ext cx="2124000" cy="93634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51" name="מחבר חץ ישר 50">
                <a:extLst>
                  <a:ext uri="{FF2B5EF4-FFF2-40B4-BE49-F238E27FC236}">
                    <a16:creationId xmlns:a16="http://schemas.microsoft.com/office/drawing/2014/main" id="{E56AAD64-D913-0AA9-36E3-D764339E805C}"/>
                  </a:ext>
                </a:extLst>
              </p:cNvPr>
              <p:cNvCxnSpPr/>
              <p:nvPr/>
            </p:nvCxnSpPr>
            <p:spPr>
              <a:xfrm flipH="1" flipV="1">
                <a:off x="197569" y="0"/>
                <a:ext cx="7317" cy="905905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תיבת טקסט 26">
                    <a:extLst>
                      <a:ext uri="{FF2B5EF4-FFF2-40B4-BE49-F238E27FC236}">
                        <a16:creationId xmlns:a16="http://schemas.microsoft.com/office/drawing/2014/main" id="{45F62597-638C-CA95-585B-583544235271}"/>
                      </a:ext>
                    </a:extLst>
                  </p:cNvPr>
                  <p:cNvSpPr txBox="1"/>
                  <p:nvPr/>
                </p:nvSpPr>
                <p:spPr>
                  <a:xfrm>
                    <a:off x="124184" y="300036"/>
                    <a:ext cx="307238" cy="256032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 rtl="1">
                      <a:lnSpc>
                        <a:spcPct val="115000"/>
                      </a:lnSpc>
                      <a:spcAft>
                        <a:spcPts val="1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𝒍</m:t>
                          </m:r>
                        </m:oMath>
                      </m:oMathPara>
                    </a14:m>
                    <a:endParaRPr lang="en-US" sz="1100" b="1" dirty="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2" name="תיבת טקסט 26">
                    <a:extLst>
                      <a:ext uri="{FF2B5EF4-FFF2-40B4-BE49-F238E27FC236}">
                        <a16:creationId xmlns:a16="http://schemas.microsoft.com/office/drawing/2014/main" id="{45F62597-638C-CA95-585B-5835442352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184" y="300036"/>
                    <a:ext cx="307238" cy="2560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3" name="אליפסה 52">
                <a:extLst>
                  <a:ext uri="{FF2B5EF4-FFF2-40B4-BE49-F238E27FC236}">
                    <a16:creationId xmlns:a16="http://schemas.microsoft.com/office/drawing/2014/main" id="{A35C6692-6882-E93C-52E6-F800B23B3726}"/>
                  </a:ext>
                </a:extLst>
              </p:cNvPr>
              <p:cNvSpPr/>
              <p:nvPr/>
            </p:nvSpPr>
            <p:spPr>
              <a:xfrm>
                <a:off x="628942" y="819614"/>
                <a:ext cx="101142" cy="116731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4" name="תיבת טקסט 26">
                <a:extLst>
                  <a:ext uri="{FF2B5EF4-FFF2-40B4-BE49-F238E27FC236}">
                    <a16:creationId xmlns:a16="http://schemas.microsoft.com/office/drawing/2014/main" id="{AF1FA9DE-4AAD-786B-7DA8-53D9A201712E}"/>
                  </a:ext>
                </a:extLst>
              </p:cNvPr>
              <p:cNvSpPr txBox="1"/>
              <p:nvPr/>
            </p:nvSpPr>
            <p:spPr>
              <a:xfrm>
                <a:off x="1812899" y="44004"/>
                <a:ext cx="307238" cy="256032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2000" b="1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s'</a:t>
                </a:r>
                <a:endParaRPr lang="en-US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8" name="מלבן 47">
              <a:extLst>
                <a:ext uri="{FF2B5EF4-FFF2-40B4-BE49-F238E27FC236}">
                  <a16:creationId xmlns:a16="http://schemas.microsoft.com/office/drawing/2014/main" id="{855D215A-D2FC-B335-1980-00830AA0EFD6}"/>
                </a:ext>
              </a:extLst>
            </p:cNvPr>
            <p:cNvSpPr/>
            <p:nvPr/>
          </p:nvSpPr>
          <p:spPr>
            <a:xfrm>
              <a:off x="386181" y="0"/>
              <a:ext cx="1302106" cy="8046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49" name="מחבר חץ ישר 48">
              <a:extLst>
                <a:ext uri="{FF2B5EF4-FFF2-40B4-BE49-F238E27FC236}">
                  <a16:creationId xmlns:a16="http://schemas.microsoft.com/office/drawing/2014/main" id="{02780265-623A-8CC5-E8F5-F9DDE9B8306E}"/>
                </a:ext>
              </a:extLst>
            </p:cNvPr>
            <p:cNvCxnSpPr/>
            <p:nvPr/>
          </p:nvCxnSpPr>
          <p:spPr>
            <a:xfrm flipH="1" flipV="1">
              <a:off x="667207" y="81992"/>
              <a:ext cx="7315" cy="71734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9210ECA6-6EA2-8E47-BB0E-34819A86327B}"/>
              </a:ext>
            </a:extLst>
          </p:cNvPr>
          <p:cNvGrpSpPr/>
          <p:nvPr/>
        </p:nvGrpSpPr>
        <p:grpSpPr>
          <a:xfrm>
            <a:off x="3548373" y="4621184"/>
            <a:ext cx="3653103" cy="2557946"/>
            <a:chOff x="-1811" y="-92864"/>
            <a:chExt cx="2123366" cy="1217419"/>
          </a:xfrm>
        </p:grpSpPr>
        <p:cxnSp>
          <p:nvCxnSpPr>
            <p:cNvPr id="4" name="מחבר חץ ישר 3">
              <a:extLst>
                <a:ext uri="{FF2B5EF4-FFF2-40B4-BE49-F238E27FC236}">
                  <a16:creationId xmlns:a16="http://schemas.microsoft.com/office/drawing/2014/main" id="{CA3734C3-AF34-4BC2-39CB-B2DA26ED7BBA}"/>
                </a:ext>
              </a:extLst>
            </p:cNvPr>
            <p:cNvCxnSpPr/>
            <p:nvPr/>
          </p:nvCxnSpPr>
          <p:spPr>
            <a:xfrm flipV="1">
              <a:off x="693420" y="1524"/>
              <a:ext cx="373075" cy="7607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מחבר חץ ישר 4">
              <a:extLst>
                <a:ext uri="{FF2B5EF4-FFF2-40B4-BE49-F238E27FC236}">
                  <a16:creationId xmlns:a16="http://schemas.microsoft.com/office/drawing/2014/main" id="{CA8C7E1C-09A1-6A1F-5AFC-4B4F82C7EC17}"/>
                </a:ext>
              </a:extLst>
            </p:cNvPr>
            <p:cNvCxnSpPr>
              <a:cxnSpLocks/>
            </p:cNvCxnSpPr>
            <p:nvPr/>
          </p:nvCxnSpPr>
          <p:spPr>
            <a:xfrm>
              <a:off x="1081125" y="0"/>
              <a:ext cx="456454" cy="8412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קבוצה 5">
              <a:extLst>
                <a:ext uri="{FF2B5EF4-FFF2-40B4-BE49-F238E27FC236}">
                  <a16:creationId xmlns:a16="http://schemas.microsoft.com/office/drawing/2014/main" id="{85741734-F403-C22D-6E43-F86B6D4E94BE}"/>
                </a:ext>
              </a:extLst>
            </p:cNvPr>
            <p:cNvGrpSpPr/>
            <p:nvPr/>
          </p:nvGrpSpPr>
          <p:grpSpPr>
            <a:xfrm>
              <a:off x="-1811" y="-92864"/>
              <a:ext cx="2123366" cy="1217419"/>
              <a:chOff x="-1811" y="-2397287"/>
              <a:chExt cx="2123366" cy="1217487"/>
            </a:xfrm>
          </p:grpSpPr>
          <p:grpSp>
            <p:nvGrpSpPr>
              <p:cNvPr id="7" name="קבוצה 6">
                <a:extLst>
                  <a:ext uri="{FF2B5EF4-FFF2-40B4-BE49-F238E27FC236}">
                    <a16:creationId xmlns:a16="http://schemas.microsoft.com/office/drawing/2014/main" id="{0F093064-8BAC-9817-517A-8A3BEBB5DC01}"/>
                  </a:ext>
                </a:extLst>
              </p:cNvPr>
              <p:cNvGrpSpPr/>
              <p:nvPr/>
            </p:nvGrpSpPr>
            <p:grpSpPr>
              <a:xfrm>
                <a:off x="-1811" y="-2377548"/>
                <a:ext cx="2123366" cy="1197748"/>
                <a:chOff x="-1811" y="-2606522"/>
                <a:chExt cx="2123366" cy="1198760"/>
              </a:xfrm>
            </p:grpSpPr>
            <p:grpSp>
              <p:nvGrpSpPr>
                <p:cNvPr id="12" name="קבוצה 11">
                  <a:extLst>
                    <a:ext uri="{FF2B5EF4-FFF2-40B4-BE49-F238E27FC236}">
                      <a16:creationId xmlns:a16="http://schemas.microsoft.com/office/drawing/2014/main" id="{367661EA-8328-312C-A156-2A59F4153283}"/>
                    </a:ext>
                  </a:extLst>
                </p:cNvPr>
                <p:cNvGrpSpPr/>
                <p:nvPr/>
              </p:nvGrpSpPr>
              <p:grpSpPr>
                <a:xfrm>
                  <a:off x="-1811" y="-2606522"/>
                  <a:ext cx="2123366" cy="1198760"/>
                  <a:chOff x="-288" y="-2607513"/>
                  <a:chExt cx="2124000" cy="1199216"/>
                </a:xfrm>
              </p:grpSpPr>
              <p:sp>
                <p:nvSpPr>
                  <p:cNvPr id="14" name="מלבן 13">
                    <a:extLst>
                      <a:ext uri="{FF2B5EF4-FFF2-40B4-BE49-F238E27FC236}">
                        <a16:creationId xmlns:a16="http://schemas.microsoft.com/office/drawing/2014/main" id="{35680BEB-0BF8-A9E0-FCBF-7658E2D58A51}"/>
                      </a:ext>
                    </a:extLst>
                  </p:cNvPr>
                  <p:cNvSpPr/>
                  <p:nvPr/>
                </p:nvSpPr>
                <p:spPr>
                  <a:xfrm>
                    <a:off x="-288" y="-2607513"/>
                    <a:ext cx="2124000" cy="936347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cxnSp>
                <p:nvCxnSpPr>
                  <p:cNvPr id="15" name="מחבר חץ ישר 14">
                    <a:extLst>
                      <a:ext uri="{FF2B5EF4-FFF2-40B4-BE49-F238E27FC236}">
                        <a16:creationId xmlns:a16="http://schemas.microsoft.com/office/drawing/2014/main" id="{C94458B1-2EB8-E32D-A322-A573DB0E4FF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04886" y="-2570626"/>
                    <a:ext cx="14630" cy="833182"/>
                  </a:xfrm>
                  <a:prstGeom prst="straightConnector1">
                    <a:avLst/>
                  </a:prstGeom>
                  <a:ln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" name="תיבת טקסט 26">
                        <a:extLst>
                          <a:ext uri="{FF2B5EF4-FFF2-40B4-BE49-F238E27FC236}">
                            <a16:creationId xmlns:a16="http://schemas.microsoft.com/office/drawing/2014/main" id="{7FDF8A69-15C4-D792-9B6B-F81BD9EB39E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7087" y="-2330366"/>
                        <a:ext cx="307238" cy="256032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r" rtl="1">
                          <a:lnSpc>
                            <a:spcPct val="115000"/>
                          </a:lnSpc>
                          <a:spcAft>
                            <a:spcPts val="1000"/>
                          </a:spcAft>
                          <a:buNone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𝒍</m:t>
                              </m:r>
                            </m:oMath>
                          </m:oMathPara>
                        </a14:m>
                        <a:endParaRPr lang="en-US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6" name="תיבת טקסט 26">
                        <a:extLst>
                          <a:ext uri="{FF2B5EF4-FFF2-40B4-BE49-F238E27FC236}">
                            <a16:creationId xmlns:a16="http://schemas.microsoft.com/office/drawing/2014/main" id="{7FDF8A69-15C4-D792-9B6B-F81BD9EB39E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7087" y="-2330366"/>
                        <a:ext cx="307238" cy="256032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  <a:ln w="635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7" name="אליפסה 16">
                    <a:extLst>
                      <a:ext uri="{FF2B5EF4-FFF2-40B4-BE49-F238E27FC236}">
                        <a16:creationId xmlns:a16="http://schemas.microsoft.com/office/drawing/2014/main" id="{79D0797F-3C67-1083-3AF0-E9BFC24776A6}"/>
                      </a:ext>
                    </a:extLst>
                  </p:cNvPr>
                  <p:cNvSpPr/>
                  <p:nvPr/>
                </p:nvSpPr>
                <p:spPr>
                  <a:xfrm>
                    <a:off x="614307" y="-1781230"/>
                    <a:ext cx="101142" cy="116731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" name="תיבת טקסט 26">
                    <a:extLst>
                      <a:ext uri="{FF2B5EF4-FFF2-40B4-BE49-F238E27FC236}">
                        <a16:creationId xmlns:a16="http://schemas.microsoft.com/office/drawing/2014/main" id="{0D7EAEFC-6EA1-71DA-D33A-1298F061EDE9}"/>
                      </a:ext>
                    </a:extLst>
                  </p:cNvPr>
                  <p:cNvSpPr txBox="1"/>
                  <p:nvPr/>
                </p:nvSpPr>
                <p:spPr>
                  <a:xfrm>
                    <a:off x="490050" y="-1664329"/>
                    <a:ext cx="307238" cy="256032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 rtl="1">
                      <a:lnSpc>
                        <a:spcPct val="115000"/>
                      </a:lnSpc>
                      <a:spcAft>
                        <a:spcPts val="1000"/>
                      </a:spcAft>
                      <a:buNone/>
                    </a:pPr>
                    <a:r>
                      <a:rPr lang="en-U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a:t>A</a:t>
                    </a:r>
                    <a:endParaRPr lang="en-US" sz="1100" dirty="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3" name="מלבן 12">
                  <a:extLst>
                    <a:ext uri="{FF2B5EF4-FFF2-40B4-BE49-F238E27FC236}">
                      <a16:creationId xmlns:a16="http://schemas.microsoft.com/office/drawing/2014/main" id="{94072C89-CAC5-44A2-EF8A-6A91CBA37628}"/>
                    </a:ext>
                  </a:extLst>
                </p:cNvPr>
                <p:cNvSpPr/>
                <p:nvPr/>
              </p:nvSpPr>
              <p:spPr>
                <a:xfrm>
                  <a:off x="342474" y="-2595520"/>
                  <a:ext cx="1302106" cy="8046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9" name="תיבת טקסט 26">
                <a:extLst>
                  <a:ext uri="{FF2B5EF4-FFF2-40B4-BE49-F238E27FC236}">
                    <a16:creationId xmlns:a16="http://schemas.microsoft.com/office/drawing/2014/main" id="{BC5B5C62-0C14-BA31-B8BC-A2F146D983DC}"/>
                  </a:ext>
                </a:extLst>
              </p:cNvPr>
              <p:cNvSpPr txBox="1"/>
              <p:nvPr/>
            </p:nvSpPr>
            <p:spPr>
              <a:xfrm>
                <a:off x="1315212" y="-1443426"/>
                <a:ext cx="306705" cy="25527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2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B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תיבת טקסט 26">
                <a:extLst>
                  <a:ext uri="{FF2B5EF4-FFF2-40B4-BE49-F238E27FC236}">
                    <a16:creationId xmlns:a16="http://schemas.microsoft.com/office/drawing/2014/main" id="{501202E4-174A-0BB6-8CD6-8535684706AA}"/>
                  </a:ext>
                </a:extLst>
              </p:cNvPr>
              <p:cNvSpPr txBox="1"/>
              <p:nvPr/>
            </p:nvSpPr>
            <p:spPr>
              <a:xfrm>
                <a:off x="837835" y="-2397287"/>
                <a:ext cx="307146" cy="25571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2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תיבת טקסט 26">
                <a:extLst>
                  <a:ext uri="{FF2B5EF4-FFF2-40B4-BE49-F238E27FC236}">
                    <a16:creationId xmlns:a16="http://schemas.microsoft.com/office/drawing/2014/main" id="{553333F3-6132-EA9C-1347-5FECF8DC9BB6}"/>
                  </a:ext>
                </a:extLst>
              </p:cNvPr>
              <p:cNvSpPr txBox="1"/>
              <p:nvPr/>
            </p:nvSpPr>
            <p:spPr>
              <a:xfrm>
                <a:off x="876300" y="-1435926"/>
                <a:ext cx="307146" cy="25571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2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D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AA47FD7A-B7E5-4332-D9F8-1667317A19AF}"/>
              </a:ext>
            </a:extLst>
          </p:cNvPr>
          <p:cNvSpPr txBox="1"/>
          <p:nvPr/>
        </p:nvSpPr>
        <p:spPr>
          <a:xfrm>
            <a:off x="1009457" y="459699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7898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39A6-7A08-E5E3-489C-44DE1826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1397DB-86AD-E5D1-3AEB-758266B9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זמן עצמי ומערכת עצמית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1A70F88C-C89C-DB97-DC73-88384D6D383E}"/>
                  </a:ext>
                </a:extLst>
              </p:cNvPr>
              <p:cNvSpPr/>
              <p:nvPr/>
            </p:nvSpPr>
            <p:spPr>
              <a:xfrm>
                <a:off x="3346705" y="1417320"/>
                <a:ext cx="8119872" cy="315069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150000"/>
                  </a:lnSpc>
                </a:pPr>
                <a:r>
                  <a:rPr lang="he-IL" sz="2400" dirty="0"/>
                  <a:t>מערכת שבה 2 המאורעות מתרחשים באותה נקודה, הפרש הזמנים </a:t>
                </a:r>
                <a14:m>
                  <m:oMath xmlns:m="http://schemas.openxmlformats.org/officeDocument/2006/math">
                    <m:r>
                      <a:rPr lang="he-IL" sz="240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sz="2400" dirty="0"/>
                  <a:t> נקרא </a:t>
                </a:r>
                <a:r>
                  <a:rPr lang="he-IL" sz="2400" u="sng" dirty="0"/>
                  <a:t>הזמן העצמי</a:t>
                </a:r>
                <a:r>
                  <a:rPr lang="he-IL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הזמן בכל המערכות האחרות הוא ארוך יותר.</a:t>
                </a:r>
                <a:endParaRPr lang="en-US" sz="2400" dirty="0"/>
              </a:p>
              <a:p>
                <a:pPr>
                  <a:lnSpc>
                    <a:spcPct val="150000"/>
                  </a:lnSpc>
                </a:pPr>
                <a:endParaRPr lang="en-US" sz="3200" dirty="0"/>
              </a:p>
            </p:txBody>
          </p:sp>
        </mc:Choice>
        <mc:Fallback xmlns="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1A70F88C-C89C-DB97-DC73-88384D6D38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705" y="1417320"/>
                <a:ext cx="8119872" cy="315069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תמונה 22" descr="2 Two inertial frames S and S'">
            <a:extLst>
              <a:ext uri="{FF2B5EF4-FFF2-40B4-BE49-F238E27FC236}">
                <a16:creationId xmlns:a16="http://schemas.microsoft.com/office/drawing/2014/main" id="{03F4AF17-66B7-33F9-058F-89D1CD46E6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07" y="1677612"/>
            <a:ext cx="2865111" cy="2717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קבוצה 45">
            <a:extLst>
              <a:ext uri="{FF2B5EF4-FFF2-40B4-BE49-F238E27FC236}">
                <a16:creationId xmlns:a16="http://schemas.microsoft.com/office/drawing/2014/main" id="{5D668521-7161-A524-DE54-665AD7A5233B}"/>
              </a:ext>
            </a:extLst>
          </p:cNvPr>
          <p:cNvGrpSpPr/>
          <p:nvPr/>
        </p:nvGrpSpPr>
        <p:grpSpPr>
          <a:xfrm>
            <a:off x="7558341" y="4708144"/>
            <a:ext cx="3908235" cy="1967611"/>
            <a:chOff x="5789" y="0"/>
            <a:chExt cx="2123366" cy="935990"/>
          </a:xfrm>
        </p:grpSpPr>
        <p:grpSp>
          <p:nvGrpSpPr>
            <p:cNvPr id="47" name="קבוצה 46">
              <a:extLst>
                <a:ext uri="{FF2B5EF4-FFF2-40B4-BE49-F238E27FC236}">
                  <a16:creationId xmlns:a16="http://schemas.microsoft.com/office/drawing/2014/main" id="{3D9673EE-C6C5-2CA3-3BBE-8F8D865EA4F5}"/>
                </a:ext>
              </a:extLst>
            </p:cNvPr>
            <p:cNvGrpSpPr/>
            <p:nvPr/>
          </p:nvGrpSpPr>
          <p:grpSpPr>
            <a:xfrm>
              <a:off x="5789" y="0"/>
              <a:ext cx="2123366" cy="935990"/>
              <a:chOff x="7315" y="0"/>
              <a:chExt cx="2124000" cy="936346"/>
            </a:xfrm>
          </p:grpSpPr>
          <p:sp>
            <p:nvSpPr>
              <p:cNvPr id="50" name="מלבן 49">
                <a:extLst>
                  <a:ext uri="{FF2B5EF4-FFF2-40B4-BE49-F238E27FC236}">
                    <a16:creationId xmlns:a16="http://schemas.microsoft.com/office/drawing/2014/main" id="{F54AE0AF-F9F5-6876-EAE9-1128D7ED2F6C}"/>
                  </a:ext>
                </a:extLst>
              </p:cNvPr>
              <p:cNvSpPr/>
              <p:nvPr/>
            </p:nvSpPr>
            <p:spPr>
              <a:xfrm>
                <a:off x="7315" y="0"/>
                <a:ext cx="2124000" cy="93634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51" name="מחבר חץ ישר 50">
                <a:extLst>
                  <a:ext uri="{FF2B5EF4-FFF2-40B4-BE49-F238E27FC236}">
                    <a16:creationId xmlns:a16="http://schemas.microsoft.com/office/drawing/2014/main" id="{AADB6261-1E70-7CC3-B8FD-F79A407BA428}"/>
                  </a:ext>
                </a:extLst>
              </p:cNvPr>
              <p:cNvCxnSpPr/>
              <p:nvPr/>
            </p:nvCxnSpPr>
            <p:spPr>
              <a:xfrm flipH="1" flipV="1">
                <a:off x="197569" y="0"/>
                <a:ext cx="7317" cy="905905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תיבת טקסט 26">
                    <a:extLst>
                      <a:ext uri="{FF2B5EF4-FFF2-40B4-BE49-F238E27FC236}">
                        <a16:creationId xmlns:a16="http://schemas.microsoft.com/office/drawing/2014/main" id="{A928A8C6-9742-21F5-FB90-880019E031F2}"/>
                      </a:ext>
                    </a:extLst>
                  </p:cNvPr>
                  <p:cNvSpPr txBox="1"/>
                  <p:nvPr/>
                </p:nvSpPr>
                <p:spPr>
                  <a:xfrm>
                    <a:off x="124184" y="300036"/>
                    <a:ext cx="307238" cy="256032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 rtl="1">
                      <a:lnSpc>
                        <a:spcPct val="115000"/>
                      </a:lnSpc>
                      <a:spcAft>
                        <a:spcPts val="1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𝒍</m:t>
                          </m:r>
                        </m:oMath>
                      </m:oMathPara>
                    </a14:m>
                    <a:endParaRPr lang="en-US" sz="1100" b="1" dirty="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2" name="תיבת טקסט 26">
                    <a:extLst>
                      <a:ext uri="{FF2B5EF4-FFF2-40B4-BE49-F238E27FC236}">
                        <a16:creationId xmlns:a16="http://schemas.microsoft.com/office/drawing/2014/main" id="{A928A8C6-9742-21F5-FB90-880019E031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184" y="300036"/>
                    <a:ext cx="307238" cy="2560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3" name="אליפסה 52">
                <a:extLst>
                  <a:ext uri="{FF2B5EF4-FFF2-40B4-BE49-F238E27FC236}">
                    <a16:creationId xmlns:a16="http://schemas.microsoft.com/office/drawing/2014/main" id="{51A182AD-554D-8BB2-E467-1154EA61CF6E}"/>
                  </a:ext>
                </a:extLst>
              </p:cNvPr>
              <p:cNvSpPr/>
              <p:nvPr/>
            </p:nvSpPr>
            <p:spPr>
              <a:xfrm>
                <a:off x="628942" y="819614"/>
                <a:ext cx="101142" cy="116731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4" name="תיבת טקסט 26">
                <a:extLst>
                  <a:ext uri="{FF2B5EF4-FFF2-40B4-BE49-F238E27FC236}">
                    <a16:creationId xmlns:a16="http://schemas.microsoft.com/office/drawing/2014/main" id="{8D26B2FF-1AB3-9EC9-629B-4B4CCA0B144C}"/>
                  </a:ext>
                </a:extLst>
              </p:cNvPr>
              <p:cNvSpPr txBox="1"/>
              <p:nvPr/>
            </p:nvSpPr>
            <p:spPr>
              <a:xfrm>
                <a:off x="1812899" y="44004"/>
                <a:ext cx="307238" cy="256032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2000" b="1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s'</a:t>
                </a:r>
                <a:endParaRPr lang="en-US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8" name="מלבן 47">
              <a:extLst>
                <a:ext uri="{FF2B5EF4-FFF2-40B4-BE49-F238E27FC236}">
                  <a16:creationId xmlns:a16="http://schemas.microsoft.com/office/drawing/2014/main" id="{F0AACFBB-3CE5-8D54-7335-329DF1EF7909}"/>
                </a:ext>
              </a:extLst>
            </p:cNvPr>
            <p:cNvSpPr/>
            <p:nvPr/>
          </p:nvSpPr>
          <p:spPr>
            <a:xfrm>
              <a:off x="386181" y="0"/>
              <a:ext cx="1302106" cy="8046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49" name="מחבר חץ ישר 48">
              <a:extLst>
                <a:ext uri="{FF2B5EF4-FFF2-40B4-BE49-F238E27FC236}">
                  <a16:creationId xmlns:a16="http://schemas.microsoft.com/office/drawing/2014/main" id="{006BC15A-A218-8955-B1E9-255B468676A2}"/>
                </a:ext>
              </a:extLst>
            </p:cNvPr>
            <p:cNvCxnSpPr/>
            <p:nvPr/>
          </p:nvCxnSpPr>
          <p:spPr>
            <a:xfrm flipH="1" flipV="1">
              <a:off x="667207" y="81992"/>
              <a:ext cx="7315" cy="71734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F93DF2C4-3825-C574-8C44-E894E2B12DC9}"/>
              </a:ext>
            </a:extLst>
          </p:cNvPr>
          <p:cNvGrpSpPr/>
          <p:nvPr/>
        </p:nvGrpSpPr>
        <p:grpSpPr>
          <a:xfrm>
            <a:off x="3548373" y="4621184"/>
            <a:ext cx="3653103" cy="2557946"/>
            <a:chOff x="-1811" y="-92864"/>
            <a:chExt cx="2123366" cy="1217419"/>
          </a:xfrm>
        </p:grpSpPr>
        <p:cxnSp>
          <p:nvCxnSpPr>
            <p:cNvPr id="4" name="מחבר חץ ישר 3">
              <a:extLst>
                <a:ext uri="{FF2B5EF4-FFF2-40B4-BE49-F238E27FC236}">
                  <a16:creationId xmlns:a16="http://schemas.microsoft.com/office/drawing/2014/main" id="{EF95DE0B-2B92-9219-A554-739357D652E4}"/>
                </a:ext>
              </a:extLst>
            </p:cNvPr>
            <p:cNvCxnSpPr/>
            <p:nvPr/>
          </p:nvCxnSpPr>
          <p:spPr>
            <a:xfrm flipV="1">
              <a:off x="693420" y="1524"/>
              <a:ext cx="373075" cy="7607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מחבר חץ ישר 4">
              <a:extLst>
                <a:ext uri="{FF2B5EF4-FFF2-40B4-BE49-F238E27FC236}">
                  <a16:creationId xmlns:a16="http://schemas.microsoft.com/office/drawing/2014/main" id="{30062889-B459-35DC-BAA3-4D578E832C0F}"/>
                </a:ext>
              </a:extLst>
            </p:cNvPr>
            <p:cNvCxnSpPr>
              <a:cxnSpLocks/>
            </p:cNvCxnSpPr>
            <p:nvPr/>
          </p:nvCxnSpPr>
          <p:spPr>
            <a:xfrm>
              <a:off x="1081125" y="0"/>
              <a:ext cx="456454" cy="8412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קבוצה 5">
              <a:extLst>
                <a:ext uri="{FF2B5EF4-FFF2-40B4-BE49-F238E27FC236}">
                  <a16:creationId xmlns:a16="http://schemas.microsoft.com/office/drawing/2014/main" id="{109F3D90-7F12-8135-8A42-F051F2DAA882}"/>
                </a:ext>
              </a:extLst>
            </p:cNvPr>
            <p:cNvGrpSpPr/>
            <p:nvPr/>
          </p:nvGrpSpPr>
          <p:grpSpPr>
            <a:xfrm>
              <a:off x="-1811" y="-92864"/>
              <a:ext cx="2123366" cy="1217419"/>
              <a:chOff x="-1811" y="-2397287"/>
              <a:chExt cx="2123366" cy="1217487"/>
            </a:xfrm>
          </p:grpSpPr>
          <p:grpSp>
            <p:nvGrpSpPr>
              <p:cNvPr id="7" name="קבוצה 6">
                <a:extLst>
                  <a:ext uri="{FF2B5EF4-FFF2-40B4-BE49-F238E27FC236}">
                    <a16:creationId xmlns:a16="http://schemas.microsoft.com/office/drawing/2014/main" id="{91F8272C-028F-E65D-77A4-8B240EB67679}"/>
                  </a:ext>
                </a:extLst>
              </p:cNvPr>
              <p:cNvGrpSpPr/>
              <p:nvPr/>
            </p:nvGrpSpPr>
            <p:grpSpPr>
              <a:xfrm>
                <a:off x="-1811" y="-2377548"/>
                <a:ext cx="2123366" cy="1197748"/>
                <a:chOff x="-1811" y="-2606522"/>
                <a:chExt cx="2123366" cy="1198760"/>
              </a:xfrm>
            </p:grpSpPr>
            <p:grpSp>
              <p:nvGrpSpPr>
                <p:cNvPr id="12" name="קבוצה 11">
                  <a:extLst>
                    <a:ext uri="{FF2B5EF4-FFF2-40B4-BE49-F238E27FC236}">
                      <a16:creationId xmlns:a16="http://schemas.microsoft.com/office/drawing/2014/main" id="{03B2414B-CB24-3B6D-DA4C-47590B8456C6}"/>
                    </a:ext>
                  </a:extLst>
                </p:cNvPr>
                <p:cNvGrpSpPr/>
                <p:nvPr/>
              </p:nvGrpSpPr>
              <p:grpSpPr>
                <a:xfrm>
                  <a:off x="-1811" y="-2606522"/>
                  <a:ext cx="2123366" cy="1198760"/>
                  <a:chOff x="-288" y="-2607513"/>
                  <a:chExt cx="2124000" cy="1199216"/>
                </a:xfrm>
              </p:grpSpPr>
              <p:sp>
                <p:nvSpPr>
                  <p:cNvPr id="14" name="מלבן 13">
                    <a:extLst>
                      <a:ext uri="{FF2B5EF4-FFF2-40B4-BE49-F238E27FC236}">
                        <a16:creationId xmlns:a16="http://schemas.microsoft.com/office/drawing/2014/main" id="{FBE89666-0BD0-1C7D-376C-31747D10AE49}"/>
                      </a:ext>
                    </a:extLst>
                  </p:cNvPr>
                  <p:cNvSpPr/>
                  <p:nvPr/>
                </p:nvSpPr>
                <p:spPr>
                  <a:xfrm>
                    <a:off x="-288" y="-2607513"/>
                    <a:ext cx="2124000" cy="936347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cxnSp>
                <p:nvCxnSpPr>
                  <p:cNvPr id="15" name="מחבר חץ ישר 14">
                    <a:extLst>
                      <a:ext uri="{FF2B5EF4-FFF2-40B4-BE49-F238E27FC236}">
                        <a16:creationId xmlns:a16="http://schemas.microsoft.com/office/drawing/2014/main" id="{7DC261EC-154D-23BC-AC1A-A8A622D129CF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04886" y="-2570626"/>
                    <a:ext cx="14630" cy="833182"/>
                  </a:xfrm>
                  <a:prstGeom prst="straightConnector1">
                    <a:avLst/>
                  </a:prstGeom>
                  <a:ln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" name="תיבת טקסט 26">
                        <a:extLst>
                          <a:ext uri="{FF2B5EF4-FFF2-40B4-BE49-F238E27FC236}">
                            <a16:creationId xmlns:a16="http://schemas.microsoft.com/office/drawing/2014/main" id="{05F33780-0BBC-21E2-0CE6-11EA7A67076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7087" y="-2330366"/>
                        <a:ext cx="307238" cy="256032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r" rtl="1">
                          <a:lnSpc>
                            <a:spcPct val="115000"/>
                          </a:lnSpc>
                          <a:spcAft>
                            <a:spcPts val="1000"/>
                          </a:spcAft>
                          <a:buNone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𝒍</m:t>
                              </m:r>
                            </m:oMath>
                          </m:oMathPara>
                        </a14:m>
                        <a:endParaRPr lang="en-US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6" name="תיבת טקסט 26">
                        <a:extLst>
                          <a:ext uri="{FF2B5EF4-FFF2-40B4-BE49-F238E27FC236}">
                            <a16:creationId xmlns:a16="http://schemas.microsoft.com/office/drawing/2014/main" id="{05F33780-0BBC-21E2-0CE6-11EA7A67076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7087" y="-2330366"/>
                        <a:ext cx="307238" cy="256032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  <a:ln w="635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7" name="אליפסה 16">
                    <a:extLst>
                      <a:ext uri="{FF2B5EF4-FFF2-40B4-BE49-F238E27FC236}">
                        <a16:creationId xmlns:a16="http://schemas.microsoft.com/office/drawing/2014/main" id="{9C5C63E2-6992-A245-C7DB-775A8E987100}"/>
                      </a:ext>
                    </a:extLst>
                  </p:cNvPr>
                  <p:cNvSpPr/>
                  <p:nvPr/>
                </p:nvSpPr>
                <p:spPr>
                  <a:xfrm>
                    <a:off x="614307" y="-1781230"/>
                    <a:ext cx="101142" cy="116731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" name="תיבת טקסט 26">
                    <a:extLst>
                      <a:ext uri="{FF2B5EF4-FFF2-40B4-BE49-F238E27FC236}">
                        <a16:creationId xmlns:a16="http://schemas.microsoft.com/office/drawing/2014/main" id="{B107DE57-73CE-6238-397F-6B4B05D4912A}"/>
                      </a:ext>
                    </a:extLst>
                  </p:cNvPr>
                  <p:cNvSpPr txBox="1"/>
                  <p:nvPr/>
                </p:nvSpPr>
                <p:spPr>
                  <a:xfrm>
                    <a:off x="490050" y="-1664329"/>
                    <a:ext cx="307238" cy="256032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 rtl="1">
                      <a:lnSpc>
                        <a:spcPct val="115000"/>
                      </a:lnSpc>
                      <a:spcAft>
                        <a:spcPts val="1000"/>
                      </a:spcAft>
                      <a:buNone/>
                    </a:pPr>
                    <a:r>
                      <a:rPr lang="en-U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a:t>A</a:t>
                    </a:r>
                    <a:endParaRPr lang="en-US" sz="1100" dirty="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3" name="מלבן 12">
                  <a:extLst>
                    <a:ext uri="{FF2B5EF4-FFF2-40B4-BE49-F238E27FC236}">
                      <a16:creationId xmlns:a16="http://schemas.microsoft.com/office/drawing/2014/main" id="{46631E82-CFDD-85DE-035D-1C280FA862F8}"/>
                    </a:ext>
                  </a:extLst>
                </p:cNvPr>
                <p:cNvSpPr/>
                <p:nvPr/>
              </p:nvSpPr>
              <p:spPr>
                <a:xfrm>
                  <a:off x="342474" y="-2595520"/>
                  <a:ext cx="1302106" cy="8046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9" name="תיבת טקסט 26">
                <a:extLst>
                  <a:ext uri="{FF2B5EF4-FFF2-40B4-BE49-F238E27FC236}">
                    <a16:creationId xmlns:a16="http://schemas.microsoft.com/office/drawing/2014/main" id="{6FE78489-6659-ADBB-D812-3A78D3B6A8CB}"/>
                  </a:ext>
                </a:extLst>
              </p:cNvPr>
              <p:cNvSpPr txBox="1"/>
              <p:nvPr/>
            </p:nvSpPr>
            <p:spPr>
              <a:xfrm>
                <a:off x="1315212" y="-1443426"/>
                <a:ext cx="306705" cy="25527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2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B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תיבת טקסט 26">
                <a:extLst>
                  <a:ext uri="{FF2B5EF4-FFF2-40B4-BE49-F238E27FC236}">
                    <a16:creationId xmlns:a16="http://schemas.microsoft.com/office/drawing/2014/main" id="{849A9945-2A10-C4EC-6897-EAE16896FFE8}"/>
                  </a:ext>
                </a:extLst>
              </p:cNvPr>
              <p:cNvSpPr txBox="1"/>
              <p:nvPr/>
            </p:nvSpPr>
            <p:spPr>
              <a:xfrm>
                <a:off x="837835" y="-2397287"/>
                <a:ext cx="307146" cy="25571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2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תיבת טקסט 26">
                <a:extLst>
                  <a:ext uri="{FF2B5EF4-FFF2-40B4-BE49-F238E27FC236}">
                    <a16:creationId xmlns:a16="http://schemas.microsoft.com/office/drawing/2014/main" id="{1BA65714-28B3-7757-119A-478D28B72BB6}"/>
                  </a:ext>
                </a:extLst>
              </p:cNvPr>
              <p:cNvSpPr txBox="1"/>
              <p:nvPr/>
            </p:nvSpPr>
            <p:spPr>
              <a:xfrm>
                <a:off x="876300" y="-1435926"/>
                <a:ext cx="307146" cy="25571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rtl="1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2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D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505FF47B-DD94-37F5-F815-95C669776F7C}"/>
              </a:ext>
            </a:extLst>
          </p:cNvPr>
          <p:cNvSpPr txBox="1"/>
          <p:nvPr/>
        </p:nvSpPr>
        <p:spPr>
          <a:xfrm>
            <a:off x="1009457" y="459699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6422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39A6-7A08-E5E3-489C-44DE1826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1397DB-86AD-E5D1-3AEB-758266B9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התארכות הזמן - דגשים 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1A70F88C-C89C-DB97-DC73-88384D6D383E}"/>
              </a:ext>
            </a:extLst>
          </p:cNvPr>
          <p:cNvSpPr/>
          <p:nvPr/>
        </p:nvSpPr>
        <p:spPr>
          <a:xfrm>
            <a:off x="529390" y="1417320"/>
            <a:ext cx="10937188" cy="5440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he-IL" sz="2800" dirty="0"/>
              <a:t>התארכות הזמן אינה בעיה בשעון . 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he-IL" sz="2800" dirty="0"/>
              <a:t>הזמן עצמו זורם לאט יותר במערכת הנעה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505FF47B-DD94-37F5-F815-95C669776F7C}"/>
              </a:ext>
            </a:extLst>
          </p:cNvPr>
          <p:cNvSpPr txBox="1"/>
          <p:nvPr/>
        </p:nvSpPr>
        <p:spPr>
          <a:xfrm>
            <a:off x="1009457" y="459699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2505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39A6-7A08-E5E3-489C-44DE1826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1397DB-86AD-E5D1-3AEB-758266B9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התארכות הזמן - דגשים 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1A70F88C-C89C-DB97-DC73-88384D6D383E}"/>
              </a:ext>
            </a:extLst>
          </p:cNvPr>
          <p:cNvSpPr/>
          <p:nvPr/>
        </p:nvSpPr>
        <p:spPr>
          <a:xfrm>
            <a:off x="529390" y="1417320"/>
            <a:ext cx="10937188" cy="5440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he-IL" sz="2800" dirty="0"/>
              <a:t>התארכות הזמן אינה בעיה בשעון . 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he-IL" sz="2800" dirty="0"/>
              <a:t>הזמן עצמו זורם לאט יותר במערכת הנעה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he-IL" sz="2800" dirty="0"/>
              <a:t>תהליכים פיסיקאליים וביולוגים קורים לאט יותר במערכת הנעה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he-IL" sz="2800" dirty="0"/>
              <a:t>דוגמא בשקף הבא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505FF47B-DD94-37F5-F815-95C669776F7C}"/>
              </a:ext>
            </a:extLst>
          </p:cNvPr>
          <p:cNvSpPr txBox="1"/>
          <p:nvPr/>
        </p:nvSpPr>
        <p:spPr>
          <a:xfrm>
            <a:off x="1009457" y="459699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97318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39A6-7A08-E5E3-489C-44DE1826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1397DB-86AD-E5D1-3AEB-758266B9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התארכות הזמן - דגשים 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1A70F88C-C89C-DB97-DC73-88384D6D383E}"/>
              </a:ext>
            </a:extLst>
          </p:cNvPr>
          <p:cNvSpPr/>
          <p:nvPr/>
        </p:nvSpPr>
        <p:spPr>
          <a:xfrm>
            <a:off x="529390" y="1417320"/>
            <a:ext cx="10937188" cy="5440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he-IL" sz="2800" dirty="0"/>
              <a:t>התארכות הזמן אינה בעיה בשעון . 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he-IL" sz="2800" dirty="0"/>
              <a:t>הזמן עצמו זורם לאט יותר במערכת הנעה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he-IL" sz="2800" dirty="0"/>
              <a:t>תהליכים פיסיקאליים וביולוגים קורים לאט יותר במערכת הנעה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he-IL" sz="2800" dirty="0"/>
              <a:t>דוגמא בשקף הבא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he-IL" sz="2800" dirty="0"/>
              <a:t>עקרון הסימטריה: אם שני מערכות נעות זו ביחס לזו במהירות קבועה אז השעון של כל מערכת ייראה למערכת </a:t>
            </a:r>
            <a:r>
              <a:rPr lang="he-IL" sz="2800" dirty="0" err="1"/>
              <a:t>השניה</a:t>
            </a:r>
            <a:r>
              <a:rPr lang="he-IL" sz="2800" dirty="0"/>
              <a:t> כנע לאט  - הסבר בשקף שאחרי הבא</a:t>
            </a: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505FF47B-DD94-37F5-F815-95C669776F7C}"/>
              </a:ext>
            </a:extLst>
          </p:cNvPr>
          <p:cNvSpPr txBox="1"/>
          <p:nvPr/>
        </p:nvSpPr>
        <p:spPr>
          <a:xfrm>
            <a:off x="1009457" y="459699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6132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39A6-7A08-E5E3-489C-44DE1826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1397DB-86AD-E5D1-3AEB-758266B9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ניסוי </a:t>
            </a:r>
            <a:r>
              <a:rPr lang="he-IL" dirty="0" err="1">
                <a:cs typeface="+mn-cs"/>
              </a:rPr>
              <a:t>המיואונים</a:t>
            </a:r>
            <a:r>
              <a:rPr lang="he-IL" dirty="0">
                <a:cs typeface="+mn-cs"/>
              </a:rPr>
              <a:t> </a:t>
            </a:r>
            <a:r>
              <a:rPr lang="en-IL" dirty="0">
                <a:cs typeface="+mn-cs"/>
              </a:rPr>
              <a:t>–</a:t>
            </a:r>
            <a:r>
              <a:rPr lang="he-IL" dirty="0">
                <a:cs typeface="+mn-cs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Muons</a:t>
            </a:r>
            <a:r>
              <a:rPr lang="he-IL" dirty="0">
                <a:cs typeface="+mn-cs"/>
              </a:rPr>
              <a:t> 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1A70F88C-C89C-DB97-DC73-88384D6D383E}"/>
                  </a:ext>
                </a:extLst>
              </p:cNvPr>
              <p:cNvSpPr/>
              <p:nvPr/>
            </p:nvSpPr>
            <p:spPr>
              <a:xfrm>
                <a:off x="529390" y="1417320"/>
                <a:ext cx="10937188" cy="544068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514350" indent="-5143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he-IL" sz="2800" dirty="0"/>
                  <a:t>חלקיקים בשם </a:t>
                </a:r>
                <a:r>
                  <a:rPr lang="he-IL" sz="2800" dirty="0" err="1"/>
                  <a:t>מיואונים</a:t>
                </a:r>
                <a:r>
                  <a:rPr lang="he-IL" sz="2800" dirty="0"/>
                  <a:t> נוצרים באטמוספירה העליונה (בגובה של כ-10 ק"מ) כתוצאה מקרינה קוסמית</a:t>
                </a:r>
              </a:p>
              <a:p>
                <a:pPr marL="514350" indent="-5143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he-IL" sz="2800" dirty="0"/>
                  <a:t>זמן החיים של </a:t>
                </a:r>
                <a:r>
                  <a:rPr lang="he-IL" sz="2800" dirty="0" err="1"/>
                  <a:t>מיואון</a:t>
                </a:r>
                <a:r>
                  <a:rPr lang="he-IL" sz="2800" dirty="0"/>
                  <a:t> במעבדה הוא קצר מאוד 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L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sz="2800" dirty="0"/>
                  <a:t>). </a:t>
                </a:r>
                <a:endParaRPr lang="en-US" sz="2800" dirty="0"/>
              </a:p>
              <a:p>
                <a:pPr marL="514350" indent="-5143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he-IL" sz="2800" dirty="0"/>
                  <a:t>אם הם היו נעים אפילו במהירות האור, הם היו נעים רק </a:t>
                </a:r>
                <a:r>
                  <a:rPr lang="en-US" sz="2800" dirty="0"/>
                  <a:t>600m</a:t>
                </a:r>
                <a:r>
                  <a:rPr lang="he-IL" sz="2800" dirty="0"/>
                  <a:t>.</a:t>
                </a:r>
              </a:p>
              <a:p>
                <a:pPr marL="514350" indent="-5143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he-IL" sz="2800" dirty="0"/>
                  <a:t>בפועל מגיעים לקרקע המון </a:t>
                </a:r>
                <a:r>
                  <a:rPr lang="he-IL" sz="2800" dirty="0" err="1"/>
                  <a:t>מיואונים</a:t>
                </a:r>
                <a:r>
                  <a:rPr lang="he-IL" sz="2800" dirty="0"/>
                  <a:t> כי מנקודת מבטנו הזמן שלהם מתארך (השעון שלהם מתקתק לאט יותר) ולכן הם מצליחים להגיע לכדור הארץ</a:t>
                </a:r>
                <a:r>
                  <a:rPr lang="en-US" sz="2800" dirty="0"/>
                  <a:t/>
                </a:r>
                <a:br>
                  <a:rPr lang="en-US" sz="2800" dirty="0"/>
                </a:br>
                <a:endParaRPr lang="en-US" sz="2800" dirty="0"/>
              </a:p>
            </p:txBody>
          </p:sp>
        </mc:Choice>
        <mc:Fallback xmlns="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1A70F88C-C89C-DB97-DC73-88384D6D38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90" y="1417320"/>
                <a:ext cx="10937188" cy="544068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505FF47B-DD94-37F5-F815-95C669776F7C}"/>
              </a:ext>
            </a:extLst>
          </p:cNvPr>
          <p:cNvSpPr txBox="1"/>
          <p:nvPr/>
        </p:nvSpPr>
        <p:spPr>
          <a:xfrm>
            <a:off x="1009457" y="459699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2556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39A6-7A08-E5E3-489C-44DE1826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1397DB-86AD-E5D1-3AEB-758266B9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עקרון הסימטריה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1A70F88C-C89C-DB97-DC73-88384D6D383E}"/>
              </a:ext>
            </a:extLst>
          </p:cNvPr>
          <p:cNvSpPr/>
          <p:nvPr/>
        </p:nvSpPr>
        <p:spPr>
          <a:xfrm>
            <a:off x="529390" y="1417320"/>
            <a:ext cx="10937188" cy="5440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he-IL" sz="2800" b="1" dirty="0"/>
              <a:t>הפרדוקס</a:t>
            </a:r>
          </a:p>
          <a:p>
            <a:pPr>
              <a:lnSpc>
                <a:spcPct val="150000"/>
              </a:lnSpc>
            </a:pPr>
            <a:r>
              <a:rPr lang="he-IL" sz="2800" dirty="0"/>
              <a:t>נניח שיש לנו שני צופים: </a:t>
            </a:r>
            <a:r>
              <a:rPr lang="he-IL" sz="2800" b="1" dirty="0"/>
              <a:t>דני</a:t>
            </a:r>
            <a:r>
              <a:rPr lang="he-IL" sz="2800" dirty="0"/>
              <a:t> שנמצא בתחנת חלל (במנוחה), ו</a:t>
            </a:r>
            <a:r>
              <a:rPr lang="he-IL" sz="2800" b="1" dirty="0"/>
              <a:t>גלית</a:t>
            </a:r>
            <a:r>
              <a:rPr lang="he-IL" sz="2800" dirty="0"/>
              <a:t> שחולפת על פניו בחללית במהירות של </a:t>
            </a:r>
            <a:r>
              <a:rPr lang="en-US" sz="2800" dirty="0"/>
              <a:t>0.8c</a:t>
            </a:r>
            <a:r>
              <a:rPr lang="he-IL" sz="2800" dirty="0"/>
              <a:t> </a:t>
            </a:r>
          </a:p>
          <a:p>
            <a:pPr>
              <a:lnSpc>
                <a:spcPct val="150000"/>
              </a:lnSpc>
            </a:pPr>
            <a:r>
              <a:rPr lang="he-IL" sz="2800" b="1" dirty="0"/>
              <a:t>לפי דני:</a:t>
            </a:r>
            <a:r>
              <a:rPr lang="he-IL" sz="2800" dirty="0"/>
              <a:t> החללית של גלית בתנועה. הוא מביט בשעון שלה ורואה שהוא מתקתק </a:t>
            </a:r>
            <a:r>
              <a:rPr lang="he-IL" sz="2800" b="1" dirty="0"/>
              <a:t>לאט יותר</a:t>
            </a:r>
            <a:r>
              <a:rPr lang="he-IL" sz="2800" dirty="0"/>
              <a:t> בהשוואה לשעון שלו.</a:t>
            </a:r>
          </a:p>
          <a:p>
            <a:pPr>
              <a:lnSpc>
                <a:spcPct val="150000"/>
              </a:lnSpc>
            </a:pPr>
            <a:r>
              <a:rPr lang="he-IL" sz="2800" b="1" dirty="0"/>
              <a:t>לפי גלית:</a:t>
            </a:r>
            <a:r>
              <a:rPr lang="he-IL" sz="2800" dirty="0"/>
              <a:t> היא מרגישה שהיא במנוחה, ותחנת החלל של דני טסה לאחור במהירות של </a:t>
            </a:r>
            <a:r>
              <a:rPr lang="en-US" sz="2800" dirty="0"/>
              <a:t>0.8c</a:t>
            </a:r>
            <a:r>
              <a:rPr lang="he-IL" sz="2800" dirty="0"/>
              <a:t> ולכן השעון של דני זז לאט</a:t>
            </a: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7661566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39A6-7A08-E5E3-489C-44DE1826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1397DB-86AD-E5D1-3AEB-758266B9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עקרון הסימטריה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1A70F88C-C89C-DB97-DC73-88384D6D383E}"/>
              </a:ext>
            </a:extLst>
          </p:cNvPr>
          <p:cNvSpPr/>
          <p:nvPr/>
        </p:nvSpPr>
        <p:spPr>
          <a:xfrm>
            <a:off x="577516" y="1417320"/>
            <a:ext cx="10937188" cy="5440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he-IL" sz="6000" b="1" dirty="0"/>
              <a:t>אז מי זז לאט יותר </a:t>
            </a:r>
          </a:p>
          <a:p>
            <a:pPr algn="ctr">
              <a:lnSpc>
                <a:spcPct val="150000"/>
              </a:lnSpc>
            </a:pPr>
            <a:endParaRPr lang="he-IL" sz="4000" b="1" dirty="0"/>
          </a:p>
          <a:p>
            <a:pPr algn="ctr">
              <a:lnSpc>
                <a:spcPct val="150000"/>
              </a:lnSpc>
            </a:pPr>
            <a:r>
              <a:rPr lang="he-IL" sz="4000" b="1" dirty="0"/>
              <a:t>הרי אם דני צעיר מגלית </a:t>
            </a:r>
          </a:p>
          <a:p>
            <a:pPr algn="ctr">
              <a:lnSpc>
                <a:spcPct val="150000"/>
              </a:lnSpc>
            </a:pPr>
            <a:r>
              <a:rPr lang="he-IL" sz="4000" b="1" dirty="0"/>
              <a:t>גלית לא יכולה להיות צעירה מדני </a:t>
            </a: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348553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39A6-7A08-E5E3-489C-44DE1826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1397DB-86AD-E5D1-3AEB-758266B9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עקרון הסימטריה- פתרון אינטואיטיבי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1A70F88C-C89C-DB97-DC73-88384D6D383E}"/>
              </a:ext>
            </a:extLst>
          </p:cNvPr>
          <p:cNvSpPr/>
          <p:nvPr/>
        </p:nvSpPr>
        <p:spPr>
          <a:xfrm>
            <a:off x="529390" y="1417320"/>
            <a:ext cx="10937188" cy="5440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he-IL" sz="2800" dirty="0"/>
              <a:t>דני וגלית עומדים במרחק של 100 מטרים זה מזה:</a:t>
            </a:r>
          </a:p>
          <a:p>
            <a:pPr>
              <a:lnSpc>
                <a:spcPct val="150000"/>
              </a:lnSpc>
            </a:pPr>
            <a:r>
              <a:rPr lang="he-IL" sz="2800" dirty="0"/>
              <a:t>דני מביט בגלית ואומר: "היא נראית לי קטנה מאוד"</a:t>
            </a:r>
          </a:p>
          <a:p>
            <a:pPr>
              <a:lnSpc>
                <a:spcPct val="150000"/>
              </a:lnSpc>
            </a:pPr>
            <a:r>
              <a:rPr lang="he-IL" sz="2800" dirty="0"/>
              <a:t>גלית מביטה בדני ואומרת: "הוא נראה לי קטן מאוד"</a:t>
            </a:r>
          </a:p>
          <a:p>
            <a:pPr>
              <a:lnSpc>
                <a:spcPct val="150000"/>
              </a:lnSpc>
            </a:pPr>
            <a:endParaRPr lang="he-IL" sz="2800" dirty="0"/>
          </a:p>
          <a:p>
            <a:pPr>
              <a:lnSpc>
                <a:spcPct val="150000"/>
              </a:lnSpc>
            </a:pP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4990631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39A6-7A08-E5E3-489C-44DE1826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1397DB-86AD-E5D1-3AEB-758266B9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עקרון הסימטריה- פתרון אינטואיטיבי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1A70F88C-C89C-DB97-DC73-88384D6D383E}"/>
              </a:ext>
            </a:extLst>
          </p:cNvPr>
          <p:cNvSpPr/>
          <p:nvPr/>
        </p:nvSpPr>
        <p:spPr>
          <a:xfrm>
            <a:off x="529390" y="1417320"/>
            <a:ext cx="10937188" cy="5440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he-IL" sz="2800" dirty="0"/>
              <a:t>דני וגלית עומדים במרחק של 100 מטרים זה מזה:</a:t>
            </a:r>
          </a:p>
          <a:p>
            <a:pPr>
              <a:lnSpc>
                <a:spcPct val="150000"/>
              </a:lnSpc>
            </a:pPr>
            <a:r>
              <a:rPr lang="he-IL" sz="2800" dirty="0"/>
              <a:t>דני מביט בגלית ואומר: "היא נראית לי קטנה מאוד"</a:t>
            </a:r>
          </a:p>
          <a:p>
            <a:pPr>
              <a:lnSpc>
                <a:spcPct val="150000"/>
              </a:lnSpc>
            </a:pPr>
            <a:r>
              <a:rPr lang="he-IL" sz="2800" dirty="0"/>
              <a:t>גלית מביטה בדני ואומרת: "הוא נראה לי קטן מאוד"</a:t>
            </a:r>
          </a:p>
          <a:p>
            <a:pPr>
              <a:lnSpc>
                <a:spcPct val="150000"/>
              </a:lnSpc>
            </a:pPr>
            <a:endParaRPr lang="he-IL" sz="2800" dirty="0"/>
          </a:p>
          <a:p>
            <a:pPr>
              <a:lnSpc>
                <a:spcPct val="150000"/>
              </a:lnSpc>
            </a:pPr>
            <a:r>
              <a:rPr lang="he-IL" sz="2800" dirty="0"/>
              <a:t>האם יש פה סתירה? האם מישהו מהם טועה? </a:t>
            </a:r>
          </a:p>
          <a:p>
            <a:pPr>
              <a:lnSpc>
                <a:spcPct val="150000"/>
              </a:lnSpc>
            </a:pPr>
            <a:r>
              <a:rPr lang="he-IL" sz="2800" dirty="0"/>
              <a:t>ברור שלא. שניהם צודקים לחלוטין. ה"קטנות" שלהם היא לא שינוי פיזי בגוף, אלא תכונה של </a:t>
            </a:r>
            <a:r>
              <a:rPr lang="he-IL" sz="2800" b="1" dirty="0"/>
              <a:t>פרספקטיבה מרחבית</a:t>
            </a:r>
            <a:r>
              <a:rPr lang="he-IL" sz="2800" dirty="0"/>
              <a:t> שתלויה במרחק. 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98970789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56D75-73AB-10DD-06F9-885DB0165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503D5EC-CB19-BA73-80FA-B79D453A3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עקרון הסימטריה- פתרון אינטואיטיבי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F80F6379-D33C-088C-C507-F9BE4EAF9F51}"/>
              </a:ext>
            </a:extLst>
          </p:cNvPr>
          <p:cNvSpPr/>
          <p:nvPr/>
        </p:nvSpPr>
        <p:spPr>
          <a:xfrm>
            <a:off x="529390" y="1417320"/>
            <a:ext cx="10937188" cy="5440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he-IL" sz="2800" dirty="0"/>
              <a:t>איינשטיין חידש ש</a:t>
            </a:r>
            <a:r>
              <a:rPr lang="he-IL" sz="2800" b="1" dirty="0"/>
              <a:t>התארכות הזמן היא פרספקטיבה של המרחב-זמן</a:t>
            </a:r>
            <a:r>
              <a:rPr lang="he-IL" sz="2800" dirty="0"/>
              <a:t>. כשגוף נע יחסית אליך במהירות, הוא משנה את זווית הראייה שלך עליו במרחב ארבע-ממדי. </a:t>
            </a:r>
            <a:endParaRPr lang="en-US" sz="2800" dirty="0" smtClean="0"/>
          </a:p>
          <a:p>
            <a:pPr>
              <a:lnSpc>
                <a:spcPct val="150000"/>
              </a:lnSpc>
            </a:pPr>
            <a:r>
              <a:rPr lang="he-IL" sz="2800" dirty="0" smtClean="0"/>
              <a:t>ההאטה </a:t>
            </a:r>
            <a:r>
              <a:rPr lang="he-IL" sz="2800" dirty="0"/>
              <a:t>של השעון שלו היא </a:t>
            </a:r>
            <a:r>
              <a:rPr lang="he-IL" sz="2800" dirty="0" err="1"/>
              <a:t>אמיתית</a:t>
            </a:r>
            <a:r>
              <a:rPr lang="he-IL" sz="2800" dirty="0"/>
              <a:t> לחלוטין עבורך, </a:t>
            </a:r>
            <a:endParaRPr lang="en-US" sz="2800" dirty="0" smtClean="0"/>
          </a:p>
          <a:p>
            <a:pPr>
              <a:lnSpc>
                <a:spcPct val="150000"/>
              </a:lnSpc>
            </a:pPr>
            <a:r>
              <a:rPr lang="he-IL" sz="2800" dirty="0" smtClean="0"/>
              <a:t>בדיוק </a:t>
            </a:r>
            <a:r>
              <a:rPr lang="he-IL" sz="2800" dirty="0"/>
              <a:t>כמו שההאטה של השעון שלך </a:t>
            </a:r>
            <a:r>
              <a:rPr lang="he-IL" sz="2800" dirty="0" err="1"/>
              <a:t>אמיתית</a:t>
            </a:r>
            <a:r>
              <a:rPr lang="he-IL" sz="2800" dirty="0"/>
              <a:t> לחלוטין עבורו.</a:t>
            </a: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5783147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39A6-7A08-E5E3-489C-44DE1826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1397DB-86AD-E5D1-3AEB-758266B9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עקרון הסימטריה- פתרון פיסיקאלי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1A70F88C-C89C-DB97-DC73-88384D6D383E}"/>
                  </a:ext>
                </a:extLst>
              </p:cNvPr>
              <p:cNvSpPr/>
              <p:nvPr/>
            </p:nvSpPr>
            <p:spPr>
              <a:xfrm>
                <a:off x="529390" y="1417320"/>
                <a:ext cx="10937188" cy="544068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150000"/>
                  </a:lnSpc>
                </a:pPr>
                <a:r>
                  <a:rPr lang="he-IL" sz="2800" dirty="0">
                    <a:solidFill>
                      <a:srgbClr val="FFFF00"/>
                    </a:solidFill>
                  </a:rPr>
                  <a:t>זמן עצמי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L" sz="28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L" sz="28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IL" sz="28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he-IL" sz="2800" dirty="0"/>
                  <a:t>: נמדד תמיד על ידי </a:t>
                </a:r>
                <a:r>
                  <a:rPr lang="he-IL" sz="2800" b="1" dirty="0"/>
                  <a:t>שעון בודד</a:t>
                </a:r>
                <a:r>
                  <a:rPr lang="he-IL" sz="2800" dirty="0"/>
                  <a:t> שנמצא עם שני האירועים באותו מקום (מדידה בו-מקומית).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>
                    <a:solidFill>
                      <a:srgbClr val="FFFF00"/>
                    </a:solidFill>
                  </a:rPr>
                  <a:t>זמן יחסי </a:t>
                </a:r>
                <a:r>
                  <a:rPr lang="en-US" sz="2800" dirty="0">
                    <a:solidFill>
                      <a:srgbClr val="FFFF00"/>
                    </a:solidFill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L" sz="2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L" sz="2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he-IL" sz="2800" dirty="0"/>
                  <a:t>נמדד על ידי מערכת של </a:t>
                </a:r>
                <a:r>
                  <a:rPr lang="he-IL" sz="2800" b="1" dirty="0"/>
                  <a:t>שני שעונים שונים מסונכרנים</a:t>
                </a:r>
                <a:r>
                  <a:rPr lang="he-IL" sz="2800" dirty="0"/>
                  <a:t> (מדידה שאינה בו-מקומית) – שעון אחד שנמצא בנקודת ההתחלה, ושעון שני שנמצא בנקודת הסיום.</a:t>
                </a:r>
              </a:p>
              <a:p>
                <a:pPr>
                  <a:lnSpc>
                    <a:spcPct val="150000"/>
                  </a:lnSpc>
                </a:pPr>
                <a:endParaRPr lang="he-IL" sz="2800" dirty="0"/>
              </a:p>
              <a:p>
                <a:endParaRPr lang="he-IL" sz="2800" dirty="0"/>
              </a:p>
            </p:txBody>
          </p:sp>
        </mc:Choice>
        <mc:Fallback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1A70F88C-C89C-DB97-DC73-88384D6D38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90" y="1417320"/>
                <a:ext cx="10937188" cy="544068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92822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39A6-7A08-E5E3-489C-44DE1826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1397DB-86AD-E5D1-3AEB-758266B9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עקרון הסימטריה- פתרון פיסיקאלי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1A70F88C-C89C-DB97-DC73-88384D6D383E}"/>
                  </a:ext>
                </a:extLst>
              </p:cNvPr>
              <p:cNvSpPr/>
              <p:nvPr/>
            </p:nvSpPr>
            <p:spPr>
              <a:xfrm>
                <a:off x="529390" y="1417320"/>
                <a:ext cx="10937188" cy="544068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150000"/>
                  </a:lnSpc>
                </a:pPr>
                <a:r>
                  <a:rPr lang="he-IL" sz="2800" dirty="0">
                    <a:solidFill>
                      <a:srgbClr val="FFFF00"/>
                    </a:solidFill>
                  </a:rPr>
                  <a:t>זמן עצמי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L" sz="28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L" sz="28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IL" sz="28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he-IL" sz="2800" dirty="0"/>
                  <a:t>: נמדד תמיד על ידי </a:t>
                </a:r>
                <a:r>
                  <a:rPr lang="he-IL" sz="2800" b="1" dirty="0"/>
                  <a:t>שעון בודד</a:t>
                </a:r>
                <a:r>
                  <a:rPr lang="he-IL" sz="2800" dirty="0"/>
                  <a:t> שנמצא עם שני האירועים באותו מקום (מדידה בו-מקומית).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>
                    <a:solidFill>
                      <a:srgbClr val="FFFF00"/>
                    </a:solidFill>
                  </a:rPr>
                  <a:t>זמן יחסי </a:t>
                </a:r>
                <a:r>
                  <a:rPr lang="en-US" sz="2800" dirty="0">
                    <a:solidFill>
                      <a:srgbClr val="FFFF00"/>
                    </a:solidFill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L" sz="2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L" sz="2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he-IL" sz="2800" dirty="0"/>
                  <a:t>נמדד על ידי מערכת של </a:t>
                </a:r>
                <a:r>
                  <a:rPr lang="he-IL" sz="2800" b="1" dirty="0"/>
                  <a:t>שני שעונים שונים מסונכרנים</a:t>
                </a:r>
                <a:r>
                  <a:rPr lang="he-IL" sz="2800" dirty="0"/>
                  <a:t> (מדידה שאינה בו-מקומית) – שעון אחד שנמצא בנקודת ההתחלה, ושעון שני שנמצא בנקודת הסיום.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b="1" dirty="0">
                    <a:solidFill>
                      <a:srgbClr val="FFFF00"/>
                    </a:solidFill>
                  </a:rPr>
                  <a:t>טיפ לפתרון בעיות: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>
                    <a:solidFill>
                      <a:srgbClr val="FFFF00"/>
                    </a:solidFill>
                  </a:rPr>
                  <a:t>     שעון אחד : זמן עצמי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>
                    <a:solidFill>
                      <a:srgbClr val="FFFF00"/>
                    </a:solidFill>
                  </a:rPr>
                  <a:t>     שני שעונים מסונכרנים שלא נמצאים באותו מקום : זמן יחסי </a:t>
                </a:r>
              </a:p>
              <a:p>
                <a:pPr>
                  <a:lnSpc>
                    <a:spcPct val="150000"/>
                  </a:lnSpc>
                </a:pPr>
                <a:endParaRPr lang="he-IL" sz="2800" dirty="0"/>
              </a:p>
              <a:p>
                <a:endParaRPr lang="he-IL" sz="2800" dirty="0"/>
              </a:p>
            </p:txBody>
          </p:sp>
        </mc:Choice>
        <mc:Fallback xmlns="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1A70F88C-C89C-DB97-DC73-88384D6D38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90" y="1417320"/>
                <a:ext cx="10937188" cy="5440680"/>
              </a:xfrm>
              <a:prstGeom prst="roundRect">
                <a:avLst/>
              </a:prstGeom>
              <a:blipFill>
                <a:blip r:embed="rId3"/>
                <a:stretch>
                  <a:fillRect b="-212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899088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B5199-DA4A-E358-2214-327F80628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826649B-3865-9FE0-2586-BE41B2842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עקרון הסימטריה- פתרון פיסיקאלי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6AAA0034-B14B-1FB8-8ED4-5555797E7CE8}"/>
              </a:ext>
            </a:extLst>
          </p:cNvPr>
          <p:cNvSpPr/>
          <p:nvPr/>
        </p:nvSpPr>
        <p:spPr>
          <a:xfrm>
            <a:off x="529390" y="1417320"/>
            <a:ext cx="10937188" cy="5440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he-IL" sz="2800" dirty="0"/>
              <a:t>וכעת נחזור לדני וגלית </a:t>
            </a:r>
          </a:p>
          <a:p>
            <a:pPr>
              <a:lnSpc>
                <a:spcPct val="150000"/>
              </a:lnSpc>
            </a:pPr>
            <a:r>
              <a:rPr lang="he-IL" sz="2800" dirty="0"/>
              <a:t>דני יושב בתחנת החלל  ורואה את החללית של גלית עוברת לידו במהירות </a:t>
            </a:r>
            <a:r>
              <a:rPr lang="en-US" sz="2800" dirty="0"/>
              <a:t>v</a:t>
            </a:r>
            <a:endParaRPr lang="he-IL" sz="2800" dirty="0"/>
          </a:p>
          <a:p>
            <a:pPr>
              <a:lnSpc>
                <a:spcPct val="150000"/>
              </a:lnSpc>
            </a:pPr>
            <a:r>
              <a:rPr lang="he-IL" sz="2800" b="1" dirty="0"/>
              <a:t>אירוע 1:</a:t>
            </a:r>
            <a:r>
              <a:rPr lang="he-IL" sz="2800" dirty="0"/>
              <a:t> גלית חולפת על פני דני (נקודת ההתחלה).</a:t>
            </a:r>
          </a:p>
          <a:p>
            <a:pPr>
              <a:lnSpc>
                <a:spcPct val="150000"/>
              </a:lnSpc>
            </a:pPr>
            <a:r>
              <a:rPr lang="he-IL" sz="2800" b="1" dirty="0"/>
              <a:t>אירוע 2:</a:t>
            </a:r>
            <a:r>
              <a:rPr lang="he-IL" sz="2800" dirty="0"/>
              <a:t> גלית חולפת על פני קצה תחנת החלל (נקודת הסיום).</a:t>
            </a:r>
          </a:p>
          <a:p>
            <a:pPr>
              <a:lnSpc>
                <a:spcPct val="150000"/>
              </a:lnSpc>
            </a:pPr>
            <a:r>
              <a:rPr lang="he-IL" sz="2800" dirty="0"/>
              <a:t>נבדוק מי מבין שניהם מודד את הזמן העצמי בין שני האירועים האלה:</a:t>
            </a:r>
          </a:p>
        </p:txBody>
      </p:sp>
    </p:spTree>
    <p:extLst>
      <p:ext uri="{BB962C8B-B14F-4D97-AF65-F5344CB8AC3E}">
        <p14:creationId xmlns:p14="http://schemas.microsoft.com/office/powerpoint/2010/main" val="241941755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39A6-7A08-E5E3-489C-44DE1826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1397DB-86AD-E5D1-3AEB-758266B9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עקרון הסימטריה- פתרון פיסיקאלי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1A70F88C-C89C-DB97-DC73-88384D6D383E}"/>
                  </a:ext>
                </a:extLst>
              </p:cNvPr>
              <p:cNvSpPr/>
              <p:nvPr/>
            </p:nvSpPr>
            <p:spPr>
              <a:xfrm>
                <a:off x="529390" y="1417320"/>
                <a:ext cx="10937188" cy="544068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150000"/>
                  </a:lnSpc>
                </a:pPr>
                <a:r>
                  <a:rPr lang="he-IL" sz="2800" b="1" dirty="0">
                    <a:solidFill>
                      <a:srgbClr val="FFFF00"/>
                    </a:solidFill>
                  </a:rPr>
                  <a:t>נקודת המבט של גלית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גלית יושבת בכיסא שלה. אירוע 1 (דני חולף על פניה) קורה ממש לידה. אירוע 2 (קצה התחנה חולף על פניה) קורה </a:t>
                </a:r>
                <a:r>
                  <a:rPr lang="he-IL" sz="2800" b="1" dirty="0"/>
                  <a:t>גם הוא ממש לידה, באותו כיסא</a:t>
                </a:r>
                <a:r>
                  <a:rPr lang="he-IL" sz="28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עבור גלית, שני האירועים קרו </a:t>
                </a:r>
                <a:r>
                  <a:rPr lang="he-IL" sz="2800" b="1" dirty="0"/>
                  <a:t>בזמן שהיא באותו מקום גיאומטרי</a:t>
                </a:r>
                <a:r>
                  <a:rPr lang="he-IL" sz="28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לכן, גלית צריכה רק </a:t>
                </a:r>
                <a:r>
                  <a:rPr lang="he-IL" sz="2800" b="1" dirty="0"/>
                  <a:t>שעון בודד</a:t>
                </a:r>
                <a:r>
                  <a:rPr lang="he-IL" sz="2800" dirty="0"/>
                  <a:t> (השעון שעל היד שלה) כדי למדוד את הזמן שעבר.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מסקנה: </a:t>
                </a:r>
                <a:r>
                  <a:rPr lang="he-IL" sz="2800" b="1" dirty="0"/>
                  <a:t>גלית מודדת את הזמן העצמי </a:t>
                </a:r>
                <a14:m>
                  <m:oMath xmlns:m="http://schemas.openxmlformats.org/officeDocument/2006/math">
                    <m:r>
                      <a:rPr lang="en-IL" sz="2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IL" sz="2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he-IL" sz="2800" dirty="0"/>
              </a:p>
              <a:p>
                <a:endParaRPr lang="he-IL" sz="2800" dirty="0"/>
              </a:p>
              <a:p>
                <a:endParaRPr lang="he-IL" sz="2800" dirty="0"/>
              </a:p>
            </p:txBody>
          </p:sp>
        </mc:Choice>
        <mc:Fallback xmlns="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1A70F88C-C89C-DB97-DC73-88384D6D38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90" y="1417320"/>
                <a:ext cx="10937188" cy="5440680"/>
              </a:xfrm>
              <a:prstGeom prst="roundRect">
                <a:avLst/>
              </a:prstGeom>
              <a:blipFill>
                <a:blip r:embed="rId3"/>
                <a:stretch>
                  <a:fillRect b="-2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85049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39A6-7A08-E5E3-489C-44DE1826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1397DB-86AD-E5D1-3AEB-758266B9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עקרון הסימטריה- פתרון פיסיקאלי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1A70F88C-C89C-DB97-DC73-88384D6D383E}"/>
                  </a:ext>
                </a:extLst>
              </p:cNvPr>
              <p:cNvSpPr/>
              <p:nvPr/>
            </p:nvSpPr>
            <p:spPr>
              <a:xfrm>
                <a:off x="529390" y="1417320"/>
                <a:ext cx="10937188" cy="544068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150000"/>
                  </a:lnSpc>
                </a:pPr>
                <a:r>
                  <a:rPr lang="he-IL" sz="2800" b="1" dirty="0">
                    <a:solidFill>
                      <a:srgbClr val="FFFF00"/>
                    </a:solidFill>
                  </a:rPr>
                  <a:t>נקודת המבט של דני (בתחנת החלל) 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עבור דני, אירוע 1 קורה במיקום שלו (בתחילת התחנה).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אבל אירוע 2 קורה רחוק ממנו, בקצה השני של התחנה.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עבור דני, שני האירועים קרו </a:t>
                </a:r>
                <a:r>
                  <a:rPr lang="he-IL" sz="2800" b="1" dirty="0"/>
                  <a:t>במקומות גיאומטריים שונים במרחב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ולכן דני צריך שני שעונים : שעון א נמצא אצלו  ושעון ב (שמסונכרן לשעון שלו) שנמצא בקצה התחנה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מסקנה: </a:t>
                </a:r>
                <a:r>
                  <a:rPr lang="he-IL" sz="2800" b="1" dirty="0"/>
                  <a:t>דני מודד את הזמן היחסי </a:t>
                </a:r>
                <a14:m>
                  <m:oMath xmlns:m="http://schemas.openxmlformats.org/officeDocument/2006/math">
                    <m:r>
                      <a:rPr lang="en-IL" sz="2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8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800" dirty="0"/>
                  <a:t> </a:t>
                </a:r>
                <a:r>
                  <a:rPr lang="he-IL" sz="2800" dirty="0"/>
                  <a:t> 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הזמן שדני מדד ארוך מהזמן שגלית מדדה </a:t>
                </a:r>
                <a14:m>
                  <m:oMath xmlns:m="http://schemas.openxmlformats.org/officeDocument/2006/math">
                    <m:r>
                      <a:rPr lang="en-IL" sz="2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he-IL" sz="28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L" sz="28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IL" sz="2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IL" sz="2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he-IL" sz="2800" dirty="0"/>
              </a:p>
              <a:p>
                <a:endParaRPr lang="he-IL" sz="2800" dirty="0"/>
              </a:p>
              <a:p>
                <a:endParaRPr lang="he-IL" sz="2800" dirty="0"/>
              </a:p>
            </p:txBody>
          </p:sp>
        </mc:Choice>
        <mc:Fallback xmlns="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1A70F88C-C89C-DB97-DC73-88384D6D38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90" y="1417320"/>
                <a:ext cx="10937188" cy="5440680"/>
              </a:xfrm>
              <a:prstGeom prst="roundRect">
                <a:avLst/>
              </a:prstGeom>
              <a:blipFill>
                <a:blip r:embed="rId3"/>
                <a:stretch>
                  <a:fillRect b="-2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357143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39A6-7A08-E5E3-489C-44DE1826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1A70F88C-C89C-DB97-DC73-88384D6D383E}"/>
              </a:ext>
            </a:extLst>
          </p:cNvPr>
          <p:cNvSpPr/>
          <p:nvPr/>
        </p:nvSpPr>
        <p:spPr>
          <a:xfrm>
            <a:off x="577516" y="1417320"/>
            <a:ext cx="10937188" cy="5440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he-IL" sz="5400" b="1" dirty="0"/>
              <a:t>נהפוך כיוון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3200" dirty="0"/>
              <a:t>גלית מחליטה לבצע ניסוי הפוך לחלוטין,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3200" dirty="0"/>
              <a:t>גלית תולה על דופן החללית הארוכה שלה שני שעונים בחרטום ובזנב ומסנכרנת אותם לחלוטין במערכת שלה</a:t>
            </a:r>
          </a:p>
          <a:p>
            <a:pPr>
              <a:lnSpc>
                <a:spcPct val="150000"/>
              </a:lnSpc>
            </a:pPr>
            <a:r>
              <a:rPr lang="he-IL" sz="3200" b="1" dirty="0"/>
              <a:t>אירוע 1:</a:t>
            </a:r>
            <a:r>
              <a:rPr lang="he-IL" sz="3200" dirty="0"/>
              <a:t> דני חולף על פני החרטום של החללית של גלית. </a:t>
            </a:r>
          </a:p>
          <a:p>
            <a:pPr>
              <a:lnSpc>
                <a:spcPct val="150000"/>
              </a:lnSpc>
            </a:pPr>
            <a:r>
              <a:rPr lang="he-IL" sz="3200" b="1" dirty="0"/>
              <a:t>אירוע 2:</a:t>
            </a:r>
            <a:r>
              <a:rPr lang="he-IL" sz="3200" dirty="0"/>
              <a:t> דני חולף על פני הזנב של החללית של גלית.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3877774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39A6-7A08-E5E3-489C-44DE1826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1397DB-86AD-E5D1-3AEB-758266B9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עקרון הסימטריה- פתרון פיסיקאלי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1A70F88C-C89C-DB97-DC73-88384D6D383E}"/>
                  </a:ext>
                </a:extLst>
              </p:cNvPr>
              <p:cNvSpPr/>
              <p:nvPr/>
            </p:nvSpPr>
            <p:spPr>
              <a:xfrm>
                <a:off x="529390" y="1417320"/>
                <a:ext cx="10937188" cy="544068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150000"/>
                  </a:lnSpc>
                </a:pPr>
                <a:r>
                  <a:rPr lang="he-IL" sz="2800" b="1" dirty="0">
                    <a:solidFill>
                      <a:srgbClr val="FFFF00"/>
                    </a:solidFill>
                  </a:rPr>
                  <a:t>נקודת המבט של דני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דני יושב בכיסא שלו.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אירוע 1 (דני חולף על פני חרטום החללית של גלית) קורה ממש לידו.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אירוע 2 (דני חולף על פני זנב החללית של גלית) קורה </a:t>
                </a:r>
                <a:r>
                  <a:rPr lang="he-IL" sz="2800" b="1" dirty="0"/>
                  <a:t>גם הוא ממש לידו</a:t>
                </a:r>
                <a:r>
                  <a:rPr lang="he-IL" sz="28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עבור דני, שני האירועים קרו </a:t>
                </a:r>
                <a:r>
                  <a:rPr lang="he-IL" sz="2800" b="1" dirty="0"/>
                  <a:t>בזמן שהוא באותו מקום גיאומטרי</a:t>
                </a:r>
                <a:r>
                  <a:rPr lang="he-IL" sz="28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לכן, דני צריך רק </a:t>
                </a:r>
                <a:r>
                  <a:rPr lang="he-IL" sz="2800" b="1" dirty="0"/>
                  <a:t>שעון בודד</a:t>
                </a:r>
                <a:r>
                  <a:rPr lang="he-IL" sz="2800" dirty="0"/>
                  <a:t> (השעון שעל היד שלו) כדי למדוד את הזמן שעבר.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מסקנה: </a:t>
                </a:r>
                <a:r>
                  <a:rPr lang="he-IL" sz="2800" b="1" dirty="0"/>
                  <a:t>דני מודד את הזמן העצמי </a:t>
                </a:r>
                <a14:m>
                  <m:oMath xmlns:m="http://schemas.openxmlformats.org/officeDocument/2006/math">
                    <m:r>
                      <a:rPr lang="en-IL" sz="2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IL" sz="2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he-IL" sz="2800" dirty="0"/>
              </a:p>
              <a:p>
                <a:endParaRPr lang="he-IL" sz="2800" dirty="0"/>
              </a:p>
              <a:p>
                <a:endParaRPr lang="he-IL" sz="2800" dirty="0"/>
              </a:p>
            </p:txBody>
          </p:sp>
        </mc:Choice>
        <mc:Fallback xmlns="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1A70F88C-C89C-DB97-DC73-88384D6D38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90" y="1417320"/>
                <a:ext cx="10937188" cy="5440680"/>
              </a:xfrm>
              <a:prstGeom prst="roundRect">
                <a:avLst/>
              </a:prstGeom>
              <a:blipFill>
                <a:blip r:embed="rId3"/>
                <a:stretch>
                  <a:fillRect b="-2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593950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39A6-7A08-E5E3-489C-44DE1826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1397DB-86AD-E5D1-3AEB-758266B9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עקרון הסימטריה- פתרון פיסיקאלי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1A70F88C-C89C-DB97-DC73-88384D6D383E}"/>
              </a:ext>
            </a:extLst>
          </p:cNvPr>
          <p:cNvSpPr/>
          <p:nvPr/>
        </p:nvSpPr>
        <p:spPr>
          <a:xfrm>
            <a:off x="529390" y="1417320"/>
            <a:ext cx="10937188" cy="5440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he-IL" sz="2800" b="1" dirty="0">
                <a:solidFill>
                  <a:srgbClr val="FFFF00"/>
                </a:solidFill>
              </a:rPr>
              <a:t>נקודת המבט של גלית (בחללית)  </a:t>
            </a:r>
          </a:p>
          <a:p>
            <a:pPr>
              <a:lnSpc>
                <a:spcPct val="150000"/>
              </a:lnSpc>
            </a:pPr>
            <a:r>
              <a:rPr lang="he-IL" sz="2800" dirty="0"/>
              <a:t>עבור דני, אירוע 1 קורה בשעון שבחרטום</a:t>
            </a:r>
          </a:p>
          <a:p>
            <a:pPr>
              <a:lnSpc>
                <a:spcPct val="150000"/>
              </a:lnSpc>
            </a:pPr>
            <a:r>
              <a:rPr lang="he-IL" sz="2800" dirty="0"/>
              <a:t>אבל אירוע 2 קורה רחוק ממנה בשעון שבזנב</a:t>
            </a:r>
          </a:p>
          <a:p>
            <a:pPr>
              <a:lnSpc>
                <a:spcPct val="150000"/>
              </a:lnSpc>
            </a:pPr>
            <a:r>
              <a:rPr lang="he-IL" sz="2800" dirty="0"/>
              <a:t>עבור גלית, שני האירועים קרו </a:t>
            </a:r>
            <a:r>
              <a:rPr lang="he-IL" sz="2800" b="1" dirty="0"/>
              <a:t>במקומות גיאומטריים שונים במרחב</a:t>
            </a:r>
          </a:p>
          <a:p>
            <a:pPr>
              <a:lnSpc>
                <a:spcPct val="150000"/>
              </a:lnSpc>
            </a:pPr>
            <a:r>
              <a:rPr lang="he-IL" sz="2800" dirty="0"/>
              <a:t>ולכן גלית צריכה שני שעונים : שעון א שנמצא בחרטום ושעון ב (שמסונכרן לשעון שבחרטום) שנמצא בזנב </a:t>
            </a:r>
          </a:p>
          <a:p>
            <a:endParaRPr lang="he-IL" sz="2800" dirty="0"/>
          </a:p>
          <a:p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418531992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39A6-7A08-E5E3-489C-44DE1826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1397DB-86AD-E5D1-3AEB-758266B9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עקרון הסימטריה- פתרון פיסיקאלי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1A70F88C-C89C-DB97-DC73-88384D6D383E}"/>
                  </a:ext>
                </a:extLst>
              </p:cNvPr>
              <p:cNvSpPr/>
              <p:nvPr/>
            </p:nvSpPr>
            <p:spPr>
              <a:xfrm>
                <a:off x="529390" y="1417320"/>
                <a:ext cx="10937188" cy="544068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150000"/>
                  </a:lnSpc>
                </a:pPr>
                <a:r>
                  <a:rPr lang="he-IL" sz="2800" b="1" dirty="0">
                    <a:solidFill>
                      <a:srgbClr val="FFFF00"/>
                    </a:solidFill>
                  </a:rPr>
                  <a:t>נקודת המבט של גלית (בחללית) 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עבור דני, אירוע 1 קורה בשעון שבחרטום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אבל אירוע 2 קורה רחוק ממנה בשעון שבזנב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עבור גלית, שני האירועים קרו </a:t>
                </a:r>
                <a:r>
                  <a:rPr lang="he-IL" sz="2800" b="1" dirty="0"/>
                  <a:t>במקומות גיאומטריים שונים במרחב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ולכן גלית צריכה שני שעונים : שעון א שנמצא בחרטום ושעון ב (שמסונכרן לשעון שבחרטום) שנמצא בזנב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מסקנה: </a:t>
                </a:r>
                <a:r>
                  <a:rPr lang="he-IL" sz="2800" b="1" dirty="0"/>
                  <a:t>גלית מודדת את הזמן היחסי </a:t>
                </a:r>
                <a14:m>
                  <m:oMath xmlns:m="http://schemas.openxmlformats.org/officeDocument/2006/math">
                    <m:r>
                      <a:rPr lang="en-IL" sz="280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8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800" dirty="0"/>
                  <a:t> </a:t>
                </a:r>
                <a:r>
                  <a:rPr lang="he-IL" sz="2800" dirty="0"/>
                  <a:t> 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הזמן שגלית  מודדת ארוך מהזמן שדני מדד </a:t>
                </a:r>
                <a14:m>
                  <m:oMath xmlns:m="http://schemas.openxmlformats.org/officeDocument/2006/math">
                    <m:r>
                      <a:rPr lang="en-IL" sz="2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he-IL" sz="28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L" sz="28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IL" sz="2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IL" sz="2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he-IL" sz="2800" dirty="0"/>
              </a:p>
              <a:p>
                <a:endParaRPr lang="he-IL" sz="2800" dirty="0"/>
              </a:p>
              <a:p>
                <a:endParaRPr lang="he-IL" sz="2800" dirty="0"/>
              </a:p>
            </p:txBody>
          </p:sp>
        </mc:Choice>
        <mc:Fallback xmlns="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1A70F88C-C89C-DB97-DC73-88384D6D38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90" y="1417320"/>
                <a:ext cx="10937188" cy="5440680"/>
              </a:xfrm>
              <a:prstGeom prst="roundRect">
                <a:avLst/>
              </a:prstGeom>
              <a:blipFill>
                <a:blip r:embed="rId3"/>
                <a:stretch>
                  <a:fillRect b="-2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062735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39A6-7A08-E5E3-489C-44DE1826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1397DB-86AD-E5D1-3AEB-758266B9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עקרון הסימטריה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1A70F88C-C89C-DB97-DC73-88384D6D383E}"/>
              </a:ext>
            </a:extLst>
          </p:cNvPr>
          <p:cNvSpPr/>
          <p:nvPr/>
        </p:nvSpPr>
        <p:spPr>
          <a:xfrm>
            <a:off x="577516" y="1417320"/>
            <a:ext cx="10937188" cy="5440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he-IL" sz="6000" b="1" dirty="0"/>
              <a:t>ניקח לרגע דוגמא מספרית </a:t>
            </a:r>
          </a:p>
          <a:p>
            <a:pPr algn="ctr">
              <a:lnSpc>
                <a:spcPct val="150000"/>
              </a:lnSpc>
            </a:pPr>
            <a:endParaRPr lang="he-IL" sz="4000" b="1" dirty="0"/>
          </a:p>
          <a:p>
            <a:pPr algn="ctr">
              <a:lnSpc>
                <a:spcPct val="150000"/>
              </a:lnSpc>
            </a:pPr>
            <a:r>
              <a:rPr lang="he-IL" sz="3200" dirty="0"/>
              <a:t>כמו כן גלית טסה בחללית עם שעון אחד ודני משתמש בשני שעונים אחד בתחילת החללית ואחד בסוף</a:t>
            </a:r>
          </a:p>
          <a:p>
            <a:pPr algn="ctr">
              <a:lnSpc>
                <a:spcPct val="150000"/>
              </a:lnSpc>
            </a:pPr>
            <a:r>
              <a:rPr lang="he-IL" sz="3200" dirty="0"/>
              <a:t>מבחינת גלית הזמן אצל דני עובר לאט יותר</a:t>
            </a: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106688" y="3214330"/>
                <a:ext cx="1978624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L" sz="54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sz="54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54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688" y="3214330"/>
                <a:ext cx="1978624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983396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39A6-7A08-E5E3-489C-44DE1826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1397DB-86AD-E5D1-3AEB-758266B9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עקרון הסימטריה- דוגמא מספרית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1A70F88C-C89C-DB97-DC73-88384D6D383E}"/>
                  </a:ext>
                </a:extLst>
              </p:cNvPr>
              <p:cNvSpPr/>
              <p:nvPr/>
            </p:nvSpPr>
            <p:spPr>
              <a:xfrm>
                <a:off x="529390" y="1417320"/>
                <a:ext cx="10937188" cy="544068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150000"/>
                  </a:lnSpc>
                </a:pPr>
                <a:r>
                  <a:rPr lang="he-IL" sz="2800" b="1" dirty="0">
                    <a:solidFill>
                      <a:srgbClr val="FFFF00"/>
                    </a:solidFill>
                  </a:rPr>
                  <a:t>נקודת המבט של דני (בתחנת החלל) 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בשעה 12:00 השעונים של דני וגלית מראים 12:00.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כאשר גלית מגיעה לקצה תחנת החלל דני מסתכל בשעון שבקצה ורואה 12:10. ואז דני מצלם את השעון על היד של גלית ורואה 12:05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L" sz="24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IL" sz="2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he-IL" sz="24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L" sz="2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sz="2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he-IL" sz="2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he-IL" sz="24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he-IL" sz="24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he-IL" sz="2800" dirty="0"/>
              </a:p>
              <a:p>
                <a:endParaRPr lang="he-IL" sz="2800" dirty="0"/>
              </a:p>
              <a:p>
                <a:endParaRPr lang="he-IL" sz="2800" dirty="0"/>
              </a:p>
            </p:txBody>
          </p:sp>
        </mc:Choice>
        <mc:Fallback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1A70F88C-C89C-DB97-DC73-88384D6D38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90" y="1417320"/>
                <a:ext cx="10937188" cy="544068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206780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39A6-7A08-E5E3-489C-44DE1826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1397DB-86AD-E5D1-3AEB-758266B9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עקרון הסימטריה- דוגמא מספרית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1A70F88C-C89C-DB97-DC73-88384D6D383E}"/>
                  </a:ext>
                </a:extLst>
              </p:cNvPr>
              <p:cNvSpPr/>
              <p:nvPr/>
            </p:nvSpPr>
            <p:spPr>
              <a:xfrm>
                <a:off x="529390" y="1417320"/>
                <a:ext cx="10937188" cy="544068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150000"/>
                  </a:lnSpc>
                </a:pPr>
                <a:r>
                  <a:rPr lang="he-IL" sz="2800" b="1" dirty="0">
                    <a:solidFill>
                      <a:srgbClr val="FFFF00"/>
                    </a:solidFill>
                  </a:rPr>
                  <a:t>נקודת המבט של דני (בתחנת החלל) 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בשעה 12:00 השעונים של דני וגלית מראים 12:00.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כאשר גלית מגיעה לקצה תחנת החלל דני מסתכל בשעון שבקצה ורואה 12:10. ואז דני מצלם את השעון על היד של גלית ורואה 12:05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L" sz="24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IL" sz="2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he-IL" sz="24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L" sz="2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sz="2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he-IL" sz="2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he-IL" sz="24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he-IL" sz="24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he-IL" sz="2800" dirty="0"/>
              </a:p>
              <a:p>
                <a:pPr>
                  <a:lnSpc>
                    <a:spcPct val="150000"/>
                  </a:lnSpc>
                </a:pPr>
                <a:r>
                  <a:rPr lang="he-IL" sz="2800" dirty="0"/>
                  <a:t>דני אומר לעצמו השעון של גלית נע לאט יותר כי היא נעה במהירות יחסית אלי</a:t>
                </a:r>
              </a:p>
              <a:p>
                <a:endParaRPr lang="he-IL" sz="2800" dirty="0"/>
              </a:p>
              <a:p>
                <a:endParaRPr lang="he-IL" sz="2800" dirty="0"/>
              </a:p>
            </p:txBody>
          </p:sp>
        </mc:Choice>
        <mc:Fallback xmlns="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1A70F88C-C89C-DB97-DC73-88384D6D38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90" y="1417320"/>
                <a:ext cx="10937188" cy="544068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60464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39A6-7A08-E5E3-489C-44DE1826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1397DB-86AD-E5D1-3AEB-758266B9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עקרון הסימטריה- דוגמא מספרית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1A70F88C-C89C-DB97-DC73-88384D6D383E}"/>
              </a:ext>
            </a:extLst>
          </p:cNvPr>
          <p:cNvSpPr/>
          <p:nvPr/>
        </p:nvSpPr>
        <p:spPr>
          <a:xfrm>
            <a:off x="529390" y="1417320"/>
            <a:ext cx="10937188" cy="5440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he-IL" sz="2800" b="1" dirty="0">
                <a:solidFill>
                  <a:srgbClr val="FFFF00"/>
                </a:solidFill>
              </a:rPr>
              <a:t>נקודת המבט של גלית (בחללית)  </a:t>
            </a:r>
          </a:p>
          <a:p>
            <a:pPr>
              <a:lnSpc>
                <a:spcPct val="150000"/>
              </a:lnSpc>
            </a:pPr>
            <a:r>
              <a:rPr lang="he-IL" sz="2800" dirty="0"/>
              <a:t>גלית חושבת שהיא עומדת במקום ודני נע יחסית אליה בכיוון הפוך </a:t>
            </a:r>
          </a:p>
          <a:p>
            <a:pPr>
              <a:lnSpc>
                <a:spcPct val="150000"/>
              </a:lnSpc>
            </a:pPr>
            <a:r>
              <a:rPr lang="he-IL" sz="2800" dirty="0"/>
              <a:t>בשעה 12:00 השעונים של דני וגלית מראים 12:00. </a:t>
            </a:r>
          </a:p>
          <a:p>
            <a:pPr>
              <a:lnSpc>
                <a:spcPct val="150000"/>
              </a:lnSpc>
            </a:pPr>
            <a:r>
              <a:rPr lang="he-IL" sz="2800" dirty="0"/>
              <a:t>אחרי שדני עובר אותה והשעון שלה מראה 12:05  </a:t>
            </a:r>
            <a:r>
              <a:rPr lang="he-IL" sz="2800" dirty="0" smtClean="0"/>
              <a:t>היא</a:t>
            </a:r>
            <a:r>
              <a:rPr lang="he-IL" sz="2800" dirty="0" smtClean="0"/>
              <a:t> </a:t>
            </a:r>
            <a:r>
              <a:rPr lang="he-IL" sz="2800" dirty="0"/>
              <a:t>מסתכלת על השעון של דני שנע לאט יותר כי הוא בו מקומי והיא רואה עליו 12:02:30  </a:t>
            </a:r>
          </a:p>
        </p:txBody>
      </p:sp>
    </p:spTree>
    <p:extLst>
      <p:ext uri="{BB962C8B-B14F-4D97-AF65-F5344CB8AC3E}">
        <p14:creationId xmlns:p14="http://schemas.microsoft.com/office/powerpoint/2010/main" val="404181349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39A6-7A08-E5E3-489C-44DE1826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1A70F88C-C89C-DB97-DC73-88384D6D383E}"/>
              </a:ext>
            </a:extLst>
          </p:cNvPr>
          <p:cNvSpPr/>
          <p:nvPr/>
        </p:nvSpPr>
        <p:spPr>
          <a:xfrm>
            <a:off x="577516" y="1417320"/>
            <a:ext cx="10937188" cy="5440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he-IL" sz="6000" b="1" dirty="0"/>
              <a:t>איך זה יכול להיות ששניהם מתסכלים באותו רגע על אותו שעון ורואים זמן אחר </a:t>
            </a:r>
          </a:p>
          <a:p>
            <a:pPr algn="ctr">
              <a:lnSpc>
                <a:spcPct val="150000"/>
              </a:lnSpc>
            </a:pPr>
            <a:endParaRPr lang="he-IL" sz="4000" b="1" dirty="0"/>
          </a:p>
          <a:p>
            <a:pPr algn="ctr">
              <a:lnSpc>
                <a:spcPct val="150000"/>
              </a:lnSpc>
            </a:pPr>
            <a:r>
              <a:rPr lang="he-IL" sz="4000" b="1" dirty="0"/>
              <a:t>הרי אם דני צעיר מגלית </a:t>
            </a:r>
          </a:p>
          <a:p>
            <a:pPr algn="ctr">
              <a:lnSpc>
                <a:spcPct val="150000"/>
              </a:lnSpc>
            </a:pPr>
            <a:r>
              <a:rPr lang="he-IL" sz="4000" b="1" dirty="0"/>
              <a:t>גלית לא יכולה להיות צעירה מדני </a:t>
            </a: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1530758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39A6-7A08-E5E3-489C-44DE1826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1397DB-86AD-E5D1-3AEB-758266B9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עקרון הסימטריה- פתרון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1A70F88C-C89C-DB97-DC73-88384D6D383E}"/>
              </a:ext>
            </a:extLst>
          </p:cNvPr>
          <p:cNvSpPr/>
          <p:nvPr/>
        </p:nvSpPr>
        <p:spPr>
          <a:xfrm>
            <a:off x="529390" y="1417320"/>
            <a:ext cx="10937188" cy="5440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he-IL" sz="4800" b="1" dirty="0">
                <a:solidFill>
                  <a:srgbClr val="FFFF00"/>
                </a:solidFill>
              </a:rPr>
              <a:t>כדי שנוכל לפתור את הבעיה</a:t>
            </a:r>
          </a:p>
          <a:p>
            <a:pPr algn="ctr"/>
            <a:r>
              <a:rPr lang="he-IL" sz="4800" b="1" dirty="0">
                <a:solidFill>
                  <a:srgbClr val="FFFF00"/>
                </a:solidFill>
              </a:rPr>
              <a:t> </a:t>
            </a:r>
          </a:p>
          <a:p>
            <a:pPr algn="ctr"/>
            <a:r>
              <a:rPr lang="he-IL" sz="4800" b="1" dirty="0">
                <a:solidFill>
                  <a:srgbClr val="FFFF00"/>
                </a:solidFill>
              </a:rPr>
              <a:t>יש לחזור לרכבת </a:t>
            </a:r>
          </a:p>
          <a:p>
            <a:endParaRPr lang="he-IL" sz="2800" dirty="0"/>
          </a:p>
          <a:p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360741895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26C0D-25CB-EC1B-D77F-F55D276FD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2F3CEE-86D1-E392-4B38-BBF97A5B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ניסוי הרכבת </a:t>
            </a:r>
            <a:endParaRPr lang="en-US" dirty="0">
              <a:cs typeface="+mn-cs"/>
            </a:endParaRPr>
          </a:p>
        </p:txBody>
      </p:sp>
      <p:grpSp>
        <p:nvGrpSpPr>
          <p:cNvPr id="13" name="קבוצה 12">
            <a:extLst>
              <a:ext uri="{FF2B5EF4-FFF2-40B4-BE49-F238E27FC236}">
                <a16:creationId xmlns:a16="http://schemas.microsoft.com/office/drawing/2014/main" id="{2BC82C46-E281-CF49-4F5D-4BD711A13AF0}"/>
              </a:ext>
            </a:extLst>
          </p:cNvPr>
          <p:cNvGrpSpPr/>
          <p:nvPr/>
        </p:nvGrpSpPr>
        <p:grpSpPr>
          <a:xfrm>
            <a:off x="459648" y="1577729"/>
            <a:ext cx="4398040" cy="1969262"/>
            <a:chOff x="-362644" y="0"/>
            <a:chExt cx="2790681" cy="936346"/>
          </a:xfrm>
        </p:grpSpPr>
        <p:sp>
          <p:nvSpPr>
            <p:cNvPr id="14" name="מלבן 13">
              <a:extLst>
                <a:ext uri="{FF2B5EF4-FFF2-40B4-BE49-F238E27FC236}">
                  <a16:creationId xmlns:a16="http://schemas.microsoft.com/office/drawing/2014/main" id="{658E9B61-E46A-D626-F372-58B62B590CB1}"/>
                </a:ext>
              </a:extLst>
            </p:cNvPr>
            <p:cNvSpPr/>
            <p:nvPr/>
          </p:nvSpPr>
          <p:spPr>
            <a:xfrm>
              <a:off x="7315" y="0"/>
              <a:ext cx="2124000" cy="9363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5" name="מחבר חץ ישר 14">
              <a:extLst>
                <a:ext uri="{FF2B5EF4-FFF2-40B4-BE49-F238E27FC236}">
                  <a16:creationId xmlns:a16="http://schemas.microsoft.com/office/drawing/2014/main" id="{50F1F333-B781-C79D-4AB8-5BD8CFBFD341}"/>
                </a:ext>
              </a:extLst>
            </p:cNvPr>
            <p:cNvCxnSpPr/>
            <p:nvPr/>
          </p:nvCxnSpPr>
          <p:spPr>
            <a:xfrm flipV="1">
              <a:off x="1524" y="866242"/>
              <a:ext cx="1080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מחבר חץ ישר 15">
              <a:extLst>
                <a:ext uri="{FF2B5EF4-FFF2-40B4-BE49-F238E27FC236}">
                  <a16:creationId xmlns:a16="http://schemas.microsoft.com/office/drawing/2014/main" id="{283CF4AC-F356-F6E8-BD75-FDBA1927FC75}"/>
                </a:ext>
              </a:extLst>
            </p:cNvPr>
            <p:cNvCxnSpPr/>
            <p:nvPr/>
          </p:nvCxnSpPr>
          <p:spPr>
            <a:xfrm flipV="1">
              <a:off x="1076859" y="866242"/>
              <a:ext cx="104394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תיבת טקסט 26">
              <a:extLst>
                <a:ext uri="{FF2B5EF4-FFF2-40B4-BE49-F238E27FC236}">
                  <a16:creationId xmlns:a16="http://schemas.microsoft.com/office/drawing/2014/main" id="{0F19AE1C-A88D-7F4D-FE51-3C70B1C222B6}"/>
                </a:ext>
              </a:extLst>
            </p:cNvPr>
            <p:cNvSpPr txBox="1"/>
            <p:nvPr/>
          </p:nvSpPr>
          <p:spPr>
            <a:xfrm>
              <a:off x="358445" y="636422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תיבת טקסט 26">
              <a:extLst>
                <a:ext uri="{FF2B5EF4-FFF2-40B4-BE49-F238E27FC236}">
                  <a16:creationId xmlns:a16="http://schemas.microsoft.com/office/drawing/2014/main" id="{DC931BB8-324B-70C7-E392-2D61A8C92D23}"/>
                </a:ext>
              </a:extLst>
            </p:cNvPr>
            <p:cNvSpPr txBox="1"/>
            <p:nvPr/>
          </p:nvSpPr>
          <p:spPr>
            <a:xfrm>
              <a:off x="1426464" y="636422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אליפסה 19">
              <a:extLst>
                <a:ext uri="{FF2B5EF4-FFF2-40B4-BE49-F238E27FC236}">
                  <a16:creationId xmlns:a16="http://schemas.microsoft.com/office/drawing/2014/main" id="{BC4C6940-7F6E-CFDA-DA85-6108BB531960}"/>
                </a:ext>
              </a:extLst>
            </p:cNvPr>
            <p:cNvSpPr/>
            <p:nvPr/>
          </p:nvSpPr>
          <p:spPr>
            <a:xfrm>
              <a:off x="2011680" y="336499"/>
              <a:ext cx="119075" cy="21214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" name="אליפסה 20">
              <a:extLst>
                <a:ext uri="{FF2B5EF4-FFF2-40B4-BE49-F238E27FC236}">
                  <a16:creationId xmlns:a16="http://schemas.microsoft.com/office/drawing/2014/main" id="{4DDE1F1B-61B8-0802-335D-760E1CBCD5E0}"/>
                </a:ext>
              </a:extLst>
            </p:cNvPr>
            <p:cNvSpPr/>
            <p:nvPr/>
          </p:nvSpPr>
          <p:spPr>
            <a:xfrm flipH="1">
              <a:off x="0" y="292608"/>
              <a:ext cx="117043" cy="21214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" name="תיבת טקסט 26">
              <a:extLst>
                <a:ext uri="{FF2B5EF4-FFF2-40B4-BE49-F238E27FC236}">
                  <a16:creationId xmlns:a16="http://schemas.microsoft.com/office/drawing/2014/main" id="{DC931BB8-324B-70C7-E392-2D61A8C92D23}"/>
                </a:ext>
              </a:extLst>
            </p:cNvPr>
            <p:cNvSpPr txBox="1"/>
            <p:nvPr/>
          </p:nvSpPr>
          <p:spPr>
            <a:xfrm>
              <a:off x="-362644" y="248717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he-IL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א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תיבת טקסט 26">
              <a:extLst>
                <a:ext uri="{FF2B5EF4-FFF2-40B4-BE49-F238E27FC236}">
                  <a16:creationId xmlns:a16="http://schemas.microsoft.com/office/drawing/2014/main" id="{DC931BB8-324B-70C7-E392-2D61A8C92D23}"/>
                </a:ext>
              </a:extLst>
            </p:cNvPr>
            <p:cNvSpPr txBox="1"/>
            <p:nvPr/>
          </p:nvSpPr>
          <p:spPr>
            <a:xfrm>
              <a:off x="2120799" y="314553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he-IL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ב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422" y="1874215"/>
            <a:ext cx="6731817" cy="144740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498" y="4341456"/>
            <a:ext cx="11877600" cy="1323364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0469" y="1965045"/>
            <a:ext cx="816519" cy="135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9582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26C0D-25CB-EC1B-D77F-F55D276FD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2F3CEE-86D1-E392-4B38-BBF97A5B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ניסוי הרכבת </a:t>
            </a:r>
            <a:endParaRPr lang="en-US" dirty="0">
              <a:cs typeface="+mn-cs"/>
            </a:endParaRPr>
          </a:p>
        </p:txBody>
      </p:sp>
      <p:grpSp>
        <p:nvGrpSpPr>
          <p:cNvPr id="13" name="קבוצה 12">
            <a:extLst>
              <a:ext uri="{FF2B5EF4-FFF2-40B4-BE49-F238E27FC236}">
                <a16:creationId xmlns:a16="http://schemas.microsoft.com/office/drawing/2014/main" id="{2BC82C46-E281-CF49-4F5D-4BD711A13AF0}"/>
              </a:ext>
            </a:extLst>
          </p:cNvPr>
          <p:cNvGrpSpPr/>
          <p:nvPr/>
        </p:nvGrpSpPr>
        <p:grpSpPr>
          <a:xfrm>
            <a:off x="459648" y="1577729"/>
            <a:ext cx="4398040" cy="1969262"/>
            <a:chOff x="-362644" y="0"/>
            <a:chExt cx="2790681" cy="936346"/>
          </a:xfrm>
        </p:grpSpPr>
        <p:sp>
          <p:nvSpPr>
            <p:cNvPr id="14" name="מלבן 13">
              <a:extLst>
                <a:ext uri="{FF2B5EF4-FFF2-40B4-BE49-F238E27FC236}">
                  <a16:creationId xmlns:a16="http://schemas.microsoft.com/office/drawing/2014/main" id="{658E9B61-E46A-D626-F372-58B62B590CB1}"/>
                </a:ext>
              </a:extLst>
            </p:cNvPr>
            <p:cNvSpPr/>
            <p:nvPr/>
          </p:nvSpPr>
          <p:spPr>
            <a:xfrm>
              <a:off x="7315" y="0"/>
              <a:ext cx="2124000" cy="9363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5" name="מחבר חץ ישר 14">
              <a:extLst>
                <a:ext uri="{FF2B5EF4-FFF2-40B4-BE49-F238E27FC236}">
                  <a16:creationId xmlns:a16="http://schemas.microsoft.com/office/drawing/2014/main" id="{50F1F333-B781-C79D-4AB8-5BD8CFBFD341}"/>
                </a:ext>
              </a:extLst>
            </p:cNvPr>
            <p:cNvCxnSpPr/>
            <p:nvPr/>
          </p:nvCxnSpPr>
          <p:spPr>
            <a:xfrm flipV="1">
              <a:off x="1524" y="866242"/>
              <a:ext cx="1080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מחבר חץ ישר 15">
              <a:extLst>
                <a:ext uri="{FF2B5EF4-FFF2-40B4-BE49-F238E27FC236}">
                  <a16:creationId xmlns:a16="http://schemas.microsoft.com/office/drawing/2014/main" id="{283CF4AC-F356-F6E8-BD75-FDBA1927FC75}"/>
                </a:ext>
              </a:extLst>
            </p:cNvPr>
            <p:cNvCxnSpPr/>
            <p:nvPr/>
          </p:nvCxnSpPr>
          <p:spPr>
            <a:xfrm flipV="1">
              <a:off x="1076859" y="866242"/>
              <a:ext cx="104394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תיבת טקסט 26">
              <a:extLst>
                <a:ext uri="{FF2B5EF4-FFF2-40B4-BE49-F238E27FC236}">
                  <a16:creationId xmlns:a16="http://schemas.microsoft.com/office/drawing/2014/main" id="{0F19AE1C-A88D-7F4D-FE51-3C70B1C222B6}"/>
                </a:ext>
              </a:extLst>
            </p:cNvPr>
            <p:cNvSpPr txBox="1"/>
            <p:nvPr/>
          </p:nvSpPr>
          <p:spPr>
            <a:xfrm>
              <a:off x="358445" y="636422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תיבת טקסט 26">
              <a:extLst>
                <a:ext uri="{FF2B5EF4-FFF2-40B4-BE49-F238E27FC236}">
                  <a16:creationId xmlns:a16="http://schemas.microsoft.com/office/drawing/2014/main" id="{DC931BB8-324B-70C7-E392-2D61A8C92D23}"/>
                </a:ext>
              </a:extLst>
            </p:cNvPr>
            <p:cNvSpPr txBox="1"/>
            <p:nvPr/>
          </p:nvSpPr>
          <p:spPr>
            <a:xfrm>
              <a:off x="1426464" y="636422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אליפסה 19">
              <a:extLst>
                <a:ext uri="{FF2B5EF4-FFF2-40B4-BE49-F238E27FC236}">
                  <a16:creationId xmlns:a16="http://schemas.microsoft.com/office/drawing/2014/main" id="{BC4C6940-7F6E-CFDA-DA85-6108BB531960}"/>
                </a:ext>
              </a:extLst>
            </p:cNvPr>
            <p:cNvSpPr/>
            <p:nvPr/>
          </p:nvSpPr>
          <p:spPr>
            <a:xfrm>
              <a:off x="2011680" y="336499"/>
              <a:ext cx="119075" cy="21214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" name="אליפסה 20">
              <a:extLst>
                <a:ext uri="{FF2B5EF4-FFF2-40B4-BE49-F238E27FC236}">
                  <a16:creationId xmlns:a16="http://schemas.microsoft.com/office/drawing/2014/main" id="{4DDE1F1B-61B8-0802-335D-760E1CBCD5E0}"/>
                </a:ext>
              </a:extLst>
            </p:cNvPr>
            <p:cNvSpPr/>
            <p:nvPr/>
          </p:nvSpPr>
          <p:spPr>
            <a:xfrm flipH="1">
              <a:off x="0" y="292608"/>
              <a:ext cx="117043" cy="21214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" name="תיבת טקסט 26">
              <a:extLst>
                <a:ext uri="{FF2B5EF4-FFF2-40B4-BE49-F238E27FC236}">
                  <a16:creationId xmlns:a16="http://schemas.microsoft.com/office/drawing/2014/main" id="{DC931BB8-324B-70C7-E392-2D61A8C92D23}"/>
                </a:ext>
              </a:extLst>
            </p:cNvPr>
            <p:cNvSpPr txBox="1"/>
            <p:nvPr/>
          </p:nvSpPr>
          <p:spPr>
            <a:xfrm>
              <a:off x="-362644" y="248717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he-IL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א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תיבת טקסט 26">
              <a:extLst>
                <a:ext uri="{FF2B5EF4-FFF2-40B4-BE49-F238E27FC236}">
                  <a16:creationId xmlns:a16="http://schemas.microsoft.com/office/drawing/2014/main" id="{DC931BB8-324B-70C7-E392-2D61A8C92D23}"/>
                </a:ext>
              </a:extLst>
            </p:cNvPr>
            <p:cNvSpPr txBox="1"/>
            <p:nvPr/>
          </p:nvSpPr>
          <p:spPr>
            <a:xfrm>
              <a:off x="2120799" y="314553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he-IL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ב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9" y="3882897"/>
            <a:ext cx="11926313" cy="175962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540" y="1950758"/>
            <a:ext cx="816519" cy="135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46788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26C0D-25CB-EC1B-D77F-F55D276FD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2F3CEE-86D1-E392-4B38-BBF97A5B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ניסוי הרכבת </a:t>
            </a:r>
            <a:endParaRPr lang="en-US" dirty="0">
              <a:cs typeface="+mn-cs"/>
            </a:endParaRPr>
          </a:p>
        </p:txBody>
      </p:sp>
      <p:grpSp>
        <p:nvGrpSpPr>
          <p:cNvPr id="13" name="קבוצה 12">
            <a:extLst>
              <a:ext uri="{FF2B5EF4-FFF2-40B4-BE49-F238E27FC236}">
                <a16:creationId xmlns:a16="http://schemas.microsoft.com/office/drawing/2014/main" id="{2BC82C46-E281-CF49-4F5D-4BD711A13AF0}"/>
              </a:ext>
            </a:extLst>
          </p:cNvPr>
          <p:cNvGrpSpPr/>
          <p:nvPr/>
        </p:nvGrpSpPr>
        <p:grpSpPr>
          <a:xfrm>
            <a:off x="3845035" y="2072650"/>
            <a:ext cx="4398040" cy="1969262"/>
            <a:chOff x="-362644" y="0"/>
            <a:chExt cx="2790681" cy="936346"/>
          </a:xfrm>
        </p:grpSpPr>
        <p:sp>
          <p:nvSpPr>
            <p:cNvPr id="14" name="מלבן 13">
              <a:extLst>
                <a:ext uri="{FF2B5EF4-FFF2-40B4-BE49-F238E27FC236}">
                  <a16:creationId xmlns:a16="http://schemas.microsoft.com/office/drawing/2014/main" id="{658E9B61-E46A-D626-F372-58B62B590CB1}"/>
                </a:ext>
              </a:extLst>
            </p:cNvPr>
            <p:cNvSpPr/>
            <p:nvPr/>
          </p:nvSpPr>
          <p:spPr>
            <a:xfrm>
              <a:off x="7315" y="0"/>
              <a:ext cx="2124000" cy="9363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5" name="מחבר חץ ישר 14">
              <a:extLst>
                <a:ext uri="{FF2B5EF4-FFF2-40B4-BE49-F238E27FC236}">
                  <a16:creationId xmlns:a16="http://schemas.microsoft.com/office/drawing/2014/main" id="{50F1F333-B781-C79D-4AB8-5BD8CFBFD341}"/>
                </a:ext>
              </a:extLst>
            </p:cNvPr>
            <p:cNvCxnSpPr/>
            <p:nvPr/>
          </p:nvCxnSpPr>
          <p:spPr>
            <a:xfrm flipV="1">
              <a:off x="1524" y="866242"/>
              <a:ext cx="1080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מחבר חץ ישר 15">
              <a:extLst>
                <a:ext uri="{FF2B5EF4-FFF2-40B4-BE49-F238E27FC236}">
                  <a16:creationId xmlns:a16="http://schemas.microsoft.com/office/drawing/2014/main" id="{283CF4AC-F356-F6E8-BD75-FDBA1927FC75}"/>
                </a:ext>
              </a:extLst>
            </p:cNvPr>
            <p:cNvCxnSpPr/>
            <p:nvPr/>
          </p:nvCxnSpPr>
          <p:spPr>
            <a:xfrm flipV="1">
              <a:off x="1076859" y="866242"/>
              <a:ext cx="104394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תיבת טקסט 26">
              <a:extLst>
                <a:ext uri="{FF2B5EF4-FFF2-40B4-BE49-F238E27FC236}">
                  <a16:creationId xmlns:a16="http://schemas.microsoft.com/office/drawing/2014/main" id="{0F19AE1C-A88D-7F4D-FE51-3C70B1C222B6}"/>
                </a:ext>
              </a:extLst>
            </p:cNvPr>
            <p:cNvSpPr txBox="1"/>
            <p:nvPr/>
          </p:nvSpPr>
          <p:spPr>
            <a:xfrm>
              <a:off x="358445" y="636422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תיבת טקסט 26">
              <a:extLst>
                <a:ext uri="{FF2B5EF4-FFF2-40B4-BE49-F238E27FC236}">
                  <a16:creationId xmlns:a16="http://schemas.microsoft.com/office/drawing/2014/main" id="{DC931BB8-324B-70C7-E392-2D61A8C92D23}"/>
                </a:ext>
              </a:extLst>
            </p:cNvPr>
            <p:cNvSpPr txBox="1"/>
            <p:nvPr/>
          </p:nvSpPr>
          <p:spPr>
            <a:xfrm>
              <a:off x="1426464" y="636422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אליפסה 19">
              <a:extLst>
                <a:ext uri="{FF2B5EF4-FFF2-40B4-BE49-F238E27FC236}">
                  <a16:creationId xmlns:a16="http://schemas.microsoft.com/office/drawing/2014/main" id="{BC4C6940-7F6E-CFDA-DA85-6108BB531960}"/>
                </a:ext>
              </a:extLst>
            </p:cNvPr>
            <p:cNvSpPr/>
            <p:nvPr/>
          </p:nvSpPr>
          <p:spPr>
            <a:xfrm>
              <a:off x="2011680" y="336499"/>
              <a:ext cx="119075" cy="21214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" name="אליפסה 20">
              <a:extLst>
                <a:ext uri="{FF2B5EF4-FFF2-40B4-BE49-F238E27FC236}">
                  <a16:creationId xmlns:a16="http://schemas.microsoft.com/office/drawing/2014/main" id="{4DDE1F1B-61B8-0802-335D-760E1CBCD5E0}"/>
                </a:ext>
              </a:extLst>
            </p:cNvPr>
            <p:cNvSpPr/>
            <p:nvPr/>
          </p:nvSpPr>
          <p:spPr>
            <a:xfrm flipH="1">
              <a:off x="0" y="292608"/>
              <a:ext cx="117043" cy="21214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" name="תיבת טקסט 26">
              <a:extLst>
                <a:ext uri="{FF2B5EF4-FFF2-40B4-BE49-F238E27FC236}">
                  <a16:creationId xmlns:a16="http://schemas.microsoft.com/office/drawing/2014/main" id="{DC931BB8-324B-70C7-E392-2D61A8C92D23}"/>
                </a:ext>
              </a:extLst>
            </p:cNvPr>
            <p:cNvSpPr txBox="1"/>
            <p:nvPr/>
          </p:nvSpPr>
          <p:spPr>
            <a:xfrm>
              <a:off x="-362644" y="248717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he-IL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א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תיבת טקסט 26">
              <a:extLst>
                <a:ext uri="{FF2B5EF4-FFF2-40B4-BE49-F238E27FC236}">
                  <a16:creationId xmlns:a16="http://schemas.microsoft.com/office/drawing/2014/main" id="{DC931BB8-324B-70C7-E392-2D61A8C92D23}"/>
                </a:ext>
              </a:extLst>
            </p:cNvPr>
            <p:cNvSpPr txBox="1"/>
            <p:nvPr/>
          </p:nvSpPr>
          <p:spPr>
            <a:xfrm>
              <a:off x="2120799" y="314553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he-IL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ב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2" name="גרפיקה 27" descr="גבר מחזיק ספל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p:blipFill>
        <p:spPr>
          <a:xfrm>
            <a:off x="5852710" y="2419276"/>
            <a:ext cx="482495" cy="1397269"/>
          </a:xfrm>
          <a:prstGeom prst="rect">
            <a:avLst/>
          </a:prstGeom>
        </p:spPr>
      </p:pic>
      <p:grpSp>
        <p:nvGrpSpPr>
          <p:cNvPr id="24" name="קבוצה 12">
            <a:extLst>
              <a:ext uri="{FF2B5EF4-FFF2-40B4-BE49-F238E27FC236}">
                <a16:creationId xmlns:a16="http://schemas.microsoft.com/office/drawing/2014/main" id="{2BC82C46-E281-CF49-4F5D-4BD711A13AF0}"/>
              </a:ext>
            </a:extLst>
          </p:cNvPr>
          <p:cNvGrpSpPr/>
          <p:nvPr/>
        </p:nvGrpSpPr>
        <p:grpSpPr>
          <a:xfrm>
            <a:off x="1412119" y="4446881"/>
            <a:ext cx="3356495" cy="1969262"/>
            <a:chOff x="1524" y="0"/>
            <a:chExt cx="2129791" cy="936346"/>
          </a:xfrm>
        </p:grpSpPr>
        <p:sp>
          <p:nvSpPr>
            <p:cNvPr id="25" name="מלבן 13">
              <a:extLst>
                <a:ext uri="{FF2B5EF4-FFF2-40B4-BE49-F238E27FC236}">
                  <a16:creationId xmlns:a16="http://schemas.microsoft.com/office/drawing/2014/main" id="{658E9B61-E46A-D626-F372-58B62B590CB1}"/>
                </a:ext>
              </a:extLst>
            </p:cNvPr>
            <p:cNvSpPr/>
            <p:nvPr/>
          </p:nvSpPr>
          <p:spPr>
            <a:xfrm>
              <a:off x="7315" y="0"/>
              <a:ext cx="2124000" cy="9363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26" name="מחבר חץ ישר 14">
              <a:extLst>
                <a:ext uri="{FF2B5EF4-FFF2-40B4-BE49-F238E27FC236}">
                  <a16:creationId xmlns:a16="http://schemas.microsoft.com/office/drawing/2014/main" id="{50F1F333-B781-C79D-4AB8-5BD8CFBFD341}"/>
                </a:ext>
              </a:extLst>
            </p:cNvPr>
            <p:cNvCxnSpPr/>
            <p:nvPr/>
          </p:nvCxnSpPr>
          <p:spPr>
            <a:xfrm flipV="1">
              <a:off x="1524" y="866242"/>
              <a:ext cx="1080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מחבר חץ ישר 15">
              <a:extLst>
                <a:ext uri="{FF2B5EF4-FFF2-40B4-BE49-F238E27FC236}">
                  <a16:creationId xmlns:a16="http://schemas.microsoft.com/office/drawing/2014/main" id="{283CF4AC-F356-F6E8-BD75-FDBA1927FC75}"/>
                </a:ext>
              </a:extLst>
            </p:cNvPr>
            <p:cNvCxnSpPr/>
            <p:nvPr/>
          </p:nvCxnSpPr>
          <p:spPr>
            <a:xfrm flipV="1">
              <a:off x="1076859" y="866242"/>
              <a:ext cx="104394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/>
          <p:cNvCxnSpPr>
            <a:stCxn id="25" idx="3"/>
          </p:cNvCxnSpPr>
          <p:nvPr/>
        </p:nvCxnSpPr>
        <p:spPr>
          <a:xfrm>
            <a:off x="4768614" y="5431512"/>
            <a:ext cx="2138107" cy="0"/>
          </a:xfrm>
          <a:prstGeom prst="straightConnector1">
            <a:avLst/>
          </a:prstGeom>
          <a:ln w="41275"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735" y="5997042"/>
            <a:ext cx="6604271" cy="70875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3394" y="2378991"/>
            <a:ext cx="816519" cy="135657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8258" y="5034718"/>
            <a:ext cx="993341" cy="115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43080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26C0D-25CB-EC1B-D77F-F55D276FD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2F3CEE-86D1-E392-4B38-BBF97A5B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ניסוי הרכבת </a:t>
            </a:r>
            <a:endParaRPr lang="en-US" dirty="0">
              <a:cs typeface="+mn-cs"/>
            </a:endParaRPr>
          </a:p>
        </p:txBody>
      </p:sp>
      <p:grpSp>
        <p:nvGrpSpPr>
          <p:cNvPr id="13" name="קבוצה 12">
            <a:extLst>
              <a:ext uri="{FF2B5EF4-FFF2-40B4-BE49-F238E27FC236}">
                <a16:creationId xmlns:a16="http://schemas.microsoft.com/office/drawing/2014/main" id="{2BC82C46-E281-CF49-4F5D-4BD711A13AF0}"/>
              </a:ext>
            </a:extLst>
          </p:cNvPr>
          <p:cNvGrpSpPr/>
          <p:nvPr/>
        </p:nvGrpSpPr>
        <p:grpSpPr>
          <a:xfrm>
            <a:off x="2796820" y="1653549"/>
            <a:ext cx="4398040" cy="1969262"/>
            <a:chOff x="-362644" y="0"/>
            <a:chExt cx="2790681" cy="936346"/>
          </a:xfrm>
        </p:grpSpPr>
        <p:sp>
          <p:nvSpPr>
            <p:cNvPr id="14" name="מלבן 13">
              <a:extLst>
                <a:ext uri="{FF2B5EF4-FFF2-40B4-BE49-F238E27FC236}">
                  <a16:creationId xmlns:a16="http://schemas.microsoft.com/office/drawing/2014/main" id="{658E9B61-E46A-D626-F372-58B62B590CB1}"/>
                </a:ext>
              </a:extLst>
            </p:cNvPr>
            <p:cNvSpPr/>
            <p:nvPr/>
          </p:nvSpPr>
          <p:spPr>
            <a:xfrm>
              <a:off x="7315" y="0"/>
              <a:ext cx="2124000" cy="9363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5" name="מחבר חץ ישר 14">
              <a:extLst>
                <a:ext uri="{FF2B5EF4-FFF2-40B4-BE49-F238E27FC236}">
                  <a16:creationId xmlns:a16="http://schemas.microsoft.com/office/drawing/2014/main" id="{50F1F333-B781-C79D-4AB8-5BD8CFBFD341}"/>
                </a:ext>
              </a:extLst>
            </p:cNvPr>
            <p:cNvCxnSpPr/>
            <p:nvPr/>
          </p:nvCxnSpPr>
          <p:spPr>
            <a:xfrm flipV="1">
              <a:off x="1524" y="866242"/>
              <a:ext cx="1080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מחבר חץ ישר 15">
              <a:extLst>
                <a:ext uri="{FF2B5EF4-FFF2-40B4-BE49-F238E27FC236}">
                  <a16:creationId xmlns:a16="http://schemas.microsoft.com/office/drawing/2014/main" id="{283CF4AC-F356-F6E8-BD75-FDBA1927FC75}"/>
                </a:ext>
              </a:extLst>
            </p:cNvPr>
            <p:cNvCxnSpPr/>
            <p:nvPr/>
          </p:nvCxnSpPr>
          <p:spPr>
            <a:xfrm flipV="1">
              <a:off x="1076859" y="866242"/>
              <a:ext cx="104394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תיבת טקסט 26">
              <a:extLst>
                <a:ext uri="{FF2B5EF4-FFF2-40B4-BE49-F238E27FC236}">
                  <a16:creationId xmlns:a16="http://schemas.microsoft.com/office/drawing/2014/main" id="{0F19AE1C-A88D-7F4D-FE51-3C70B1C222B6}"/>
                </a:ext>
              </a:extLst>
            </p:cNvPr>
            <p:cNvSpPr txBox="1"/>
            <p:nvPr/>
          </p:nvSpPr>
          <p:spPr>
            <a:xfrm>
              <a:off x="358445" y="636422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תיבת טקסט 26">
              <a:extLst>
                <a:ext uri="{FF2B5EF4-FFF2-40B4-BE49-F238E27FC236}">
                  <a16:creationId xmlns:a16="http://schemas.microsoft.com/office/drawing/2014/main" id="{DC931BB8-324B-70C7-E392-2D61A8C92D23}"/>
                </a:ext>
              </a:extLst>
            </p:cNvPr>
            <p:cNvSpPr txBox="1"/>
            <p:nvPr/>
          </p:nvSpPr>
          <p:spPr>
            <a:xfrm>
              <a:off x="1426464" y="636422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אליפסה 19">
              <a:extLst>
                <a:ext uri="{FF2B5EF4-FFF2-40B4-BE49-F238E27FC236}">
                  <a16:creationId xmlns:a16="http://schemas.microsoft.com/office/drawing/2014/main" id="{BC4C6940-7F6E-CFDA-DA85-6108BB531960}"/>
                </a:ext>
              </a:extLst>
            </p:cNvPr>
            <p:cNvSpPr/>
            <p:nvPr/>
          </p:nvSpPr>
          <p:spPr>
            <a:xfrm>
              <a:off x="2011680" y="336499"/>
              <a:ext cx="119075" cy="21214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" name="אליפסה 20">
              <a:extLst>
                <a:ext uri="{FF2B5EF4-FFF2-40B4-BE49-F238E27FC236}">
                  <a16:creationId xmlns:a16="http://schemas.microsoft.com/office/drawing/2014/main" id="{4DDE1F1B-61B8-0802-335D-760E1CBCD5E0}"/>
                </a:ext>
              </a:extLst>
            </p:cNvPr>
            <p:cNvSpPr/>
            <p:nvPr/>
          </p:nvSpPr>
          <p:spPr>
            <a:xfrm flipH="1">
              <a:off x="0" y="292608"/>
              <a:ext cx="117043" cy="21214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" name="תיבת טקסט 26">
              <a:extLst>
                <a:ext uri="{FF2B5EF4-FFF2-40B4-BE49-F238E27FC236}">
                  <a16:creationId xmlns:a16="http://schemas.microsoft.com/office/drawing/2014/main" id="{DC931BB8-324B-70C7-E392-2D61A8C92D23}"/>
                </a:ext>
              </a:extLst>
            </p:cNvPr>
            <p:cNvSpPr txBox="1"/>
            <p:nvPr/>
          </p:nvSpPr>
          <p:spPr>
            <a:xfrm>
              <a:off x="-362644" y="248717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he-IL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א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תיבת טקסט 26">
              <a:extLst>
                <a:ext uri="{FF2B5EF4-FFF2-40B4-BE49-F238E27FC236}">
                  <a16:creationId xmlns:a16="http://schemas.microsoft.com/office/drawing/2014/main" id="{DC931BB8-324B-70C7-E392-2D61A8C92D23}"/>
                </a:ext>
              </a:extLst>
            </p:cNvPr>
            <p:cNvSpPr txBox="1"/>
            <p:nvPr/>
          </p:nvSpPr>
          <p:spPr>
            <a:xfrm>
              <a:off x="2120799" y="314553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he-IL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ב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קבוצה 12">
            <a:extLst>
              <a:ext uri="{FF2B5EF4-FFF2-40B4-BE49-F238E27FC236}">
                <a16:creationId xmlns:a16="http://schemas.microsoft.com/office/drawing/2014/main" id="{2BC82C46-E281-CF49-4F5D-4BD711A13AF0}"/>
              </a:ext>
            </a:extLst>
          </p:cNvPr>
          <p:cNvGrpSpPr/>
          <p:nvPr/>
        </p:nvGrpSpPr>
        <p:grpSpPr>
          <a:xfrm>
            <a:off x="363904" y="4027780"/>
            <a:ext cx="3356495" cy="1969262"/>
            <a:chOff x="1524" y="0"/>
            <a:chExt cx="2129791" cy="936346"/>
          </a:xfrm>
        </p:grpSpPr>
        <p:sp>
          <p:nvSpPr>
            <p:cNvPr id="25" name="מלבן 13">
              <a:extLst>
                <a:ext uri="{FF2B5EF4-FFF2-40B4-BE49-F238E27FC236}">
                  <a16:creationId xmlns:a16="http://schemas.microsoft.com/office/drawing/2014/main" id="{658E9B61-E46A-D626-F372-58B62B590CB1}"/>
                </a:ext>
              </a:extLst>
            </p:cNvPr>
            <p:cNvSpPr/>
            <p:nvPr/>
          </p:nvSpPr>
          <p:spPr>
            <a:xfrm>
              <a:off x="7315" y="0"/>
              <a:ext cx="2124000" cy="9363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26" name="מחבר חץ ישר 14">
              <a:extLst>
                <a:ext uri="{FF2B5EF4-FFF2-40B4-BE49-F238E27FC236}">
                  <a16:creationId xmlns:a16="http://schemas.microsoft.com/office/drawing/2014/main" id="{50F1F333-B781-C79D-4AB8-5BD8CFBFD341}"/>
                </a:ext>
              </a:extLst>
            </p:cNvPr>
            <p:cNvCxnSpPr/>
            <p:nvPr/>
          </p:nvCxnSpPr>
          <p:spPr>
            <a:xfrm flipV="1">
              <a:off x="1524" y="866242"/>
              <a:ext cx="1080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מחבר חץ ישר 15">
              <a:extLst>
                <a:ext uri="{FF2B5EF4-FFF2-40B4-BE49-F238E27FC236}">
                  <a16:creationId xmlns:a16="http://schemas.microsoft.com/office/drawing/2014/main" id="{283CF4AC-F356-F6E8-BD75-FDBA1927FC75}"/>
                </a:ext>
              </a:extLst>
            </p:cNvPr>
            <p:cNvCxnSpPr/>
            <p:nvPr/>
          </p:nvCxnSpPr>
          <p:spPr>
            <a:xfrm flipV="1">
              <a:off x="1076859" y="866242"/>
              <a:ext cx="104394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/>
          <p:cNvCxnSpPr/>
          <p:nvPr/>
        </p:nvCxnSpPr>
        <p:spPr>
          <a:xfrm>
            <a:off x="761576" y="3852685"/>
            <a:ext cx="2138107" cy="0"/>
          </a:xfrm>
          <a:prstGeom prst="straightConnector1">
            <a:avLst/>
          </a:prstGeom>
          <a:ln w="41275"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751530" y="3852685"/>
            <a:ext cx="82587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400" dirty="0"/>
              <a:t>גלית חושבת שהיא במנוחה, ולכן </a:t>
            </a:r>
            <a:r>
              <a:rPr lang="he-IL" sz="2400" b="1" dirty="0"/>
              <a:t>כל התחנה של דני נוסעת שמאלה </a:t>
            </a:r>
          </a:p>
          <a:p>
            <a:r>
              <a:rPr lang="he-IL" sz="2400" dirty="0"/>
              <a:t>היא מסתכלת על האור של דני שמתפשט:</a:t>
            </a:r>
          </a:p>
          <a:p>
            <a:r>
              <a:rPr lang="he-IL" sz="2400" b="1" dirty="0"/>
              <a:t>שעון ב' (הימני):</a:t>
            </a:r>
            <a:r>
              <a:rPr lang="he-IL" sz="2400" dirty="0"/>
              <a:t> נוסע שמאלה, ישירות לקראת האור שנע ימינה. המרחק נסגר מהר והאור מפעיל אותו </a:t>
            </a:r>
            <a:r>
              <a:rPr lang="he-IL" sz="2400" b="1" dirty="0"/>
              <a:t>מוקדם מאוד</a:t>
            </a:r>
            <a:r>
              <a:rPr lang="he-IL" sz="2400" dirty="0"/>
              <a:t>.</a:t>
            </a:r>
          </a:p>
          <a:p>
            <a:r>
              <a:rPr lang="he-IL" sz="2400" b="1" dirty="0"/>
              <a:t>שעון א' (השמאלי):</a:t>
            </a:r>
            <a:r>
              <a:rPr lang="he-IL" sz="2400" dirty="0"/>
              <a:t> בורח שמאלה מהאור שרודף אחריו שמאלה. לוקח לאור זמן להשיג אותו, והוא מופעל </a:t>
            </a:r>
            <a:r>
              <a:rPr lang="he-IL" sz="2400" b="1" dirty="0"/>
              <a:t>באיחור רב</a:t>
            </a:r>
            <a:r>
              <a:rPr lang="he-IL" sz="2400" dirty="0"/>
              <a:t>.</a:t>
            </a:r>
          </a:p>
          <a:p>
            <a:endParaRPr lang="en-US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531" y="2036814"/>
            <a:ext cx="816519" cy="135657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260" y="4615617"/>
            <a:ext cx="993341" cy="115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15777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26C0D-25CB-EC1B-D77F-F55D276FD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2F3CEE-86D1-E392-4B38-BBF97A5B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ניסוי הרכבת </a:t>
            </a:r>
            <a:endParaRPr lang="en-US" dirty="0">
              <a:cs typeface="+mn-cs"/>
            </a:endParaRPr>
          </a:p>
        </p:txBody>
      </p:sp>
      <p:grpSp>
        <p:nvGrpSpPr>
          <p:cNvPr id="13" name="קבוצה 12">
            <a:extLst>
              <a:ext uri="{FF2B5EF4-FFF2-40B4-BE49-F238E27FC236}">
                <a16:creationId xmlns:a16="http://schemas.microsoft.com/office/drawing/2014/main" id="{2BC82C46-E281-CF49-4F5D-4BD711A13AF0}"/>
              </a:ext>
            </a:extLst>
          </p:cNvPr>
          <p:cNvGrpSpPr/>
          <p:nvPr/>
        </p:nvGrpSpPr>
        <p:grpSpPr>
          <a:xfrm>
            <a:off x="2796820" y="1653549"/>
            <a:ext cx="4398040" cy="1969262"/>
            <a:chOff x="-362644" y="0"/>
            <a:chExt cx="2790681" cy="936346"/>
          </a:xfrm>
        </p:grpSpPr>
        <p:sp>
          <p:nvSpPr>
            <p:cNvPr id="14" name="מלבן 13">
              <a:extLst>
                <a:ext uri="{FF2B5EF4-FFF2-40B4-BE49-F238E27FC236}">
                  <a16:creationId xmlns:a16="http://schemas.microsoft.com/office/drawing/2014/main" id="{658E9B61-E46A-D626-F372-58B62B590CB1}"/>
                </a:ext>
              </a:extLst>
            </p:cNvPr>
            <p:cNvSpPr/>
            <p:nvPr/>
          </p:nvSpPr>
          <p:spPr>
            <a:xfrm>
              <a:off x="7315" y="0"/>
              <a:ext cx="2124000" cy="9363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5" name="מחבר חץ ישר 14">
              <a:extLst>
                <a:ext uri="{FF2B5EF4-FFF2-40B4-BE49-F238E27FC236}">
                  <a16:creationId xmlns:a16="http://schemas.microsoft.com/office/drawing/2014/main" id="{50F1F333-B781-C79D-4AB8-5BD8CFBFD341}"/>
                </a:ext>
              </a:extLst>
            </p:cNvPr>
            <p:cNvCxnSpPr/>
            <p:nvPr/>
          </p:nvCxnSpPr>
          <p:spPr>
            <a:xfrm flipV="1">
              <a:off x="1524" y="866242"/>
              <a:ext cx="1080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מחבר חץ ישר 15">
              <a:extLst>
                <a:ext uri="{FF2B5EF4-FFF2-40B4-BE49-F238E27FC236}">
                  <a16:creationId xmlns:a16="http://schemas.microsoft.com/office/drawing/2014/main" id="{283CF4AC-F356-F6E8-BD75-FDBA1927FC75}"/>
                </a:ext>
              </a:extLst>
            </p:cNvPr>
            <p:cNvCxnSpPr/>
            <p:nvPr/>
          </p:nvCxnSpPr>
          <p:spPr>
            <a:xfrm flipV="1">
              <a:off x="1076859" y="866242"/>
              <a:ext cx="104394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תיבת טקסט 26">
              <a:extLst>
                <a:ext uri="{FF2B5EF4-FFF2-40B4-BE49-F238E27FC236}">
                  <a16:creationId xmlns:a16="http://schemas.microsoft.com/office/drawing/2014/main" id="{0F19AE1C-A88D-7F4D-FE51-3C70B1C222B6}"/>
                </a:ext>
              </a:extLst>
            </p:cNvPr>
            <p:cNvSpPr txBox="1"/>
            <p:nvPr/>
          </p:nvSpPr>
          <p:spPr>
            <a:xfrm>
              <a:off x="358445" y="636422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תיבת טקסט 26">
              <a:extLst>
                <a:ext uri="{FF2B5EF4-FFF2-40B4-BE49-F238E27FC236}">
                  <a16:creationId xmlns:a16="http://schemas.microsoft.com/office/drawing/2014/main" id="{DC931BB8-324B-70C7-E392-2D61A8C92D23}"/>
                </a:ext>
              </a:extLst>
            </p:cNvPr>
            <p:cNvSpPr txBox="1"/>
            <p:nvPr/>
          </p:nvSpPr>
          <p:spPr>
            <a:xfrm>
              <a:off x="1426464" y="636422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אליפסה 19">
              <a:extLst>
                <a:ext uri="{FF2B5EF4-FFF2-40B4-BE49-F238E27FC236}">
                  <a16:creationId xmlns:a16="http://schemas.microsoft.com/office/drawing/2014/main" id="{BC4C6940-7F6E-CFDA-DA85-6108BB531960}"/>
                </a:ext>
              </a:extLst>
            </p:cNvPr>
            <p:cNvSpPr/>
            <p:nvPr/>
          </p:nvSpPr>
          <p:spPr>
            <a:xfrm>
              <a:off x="2011680" y="336499"/>
              <a:ext cx="119075" cy="21214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" name="אליפסה 20">
              <a:extLst>
                <a:ext uri="{FF2B5EF4-FFF2-40B4-BE49-F238E27FC236}">
                  <a16:creationId xmlns:a16="http://schemas.microsoft.com/office/drawing/2014/main" id="{4DDE1F1B-61B8-0802-335D-760E1CBCD5E0}"/>
                </a:ext>
              </a:extLst>
            </p:cNvPr>
            <p:cNvSpPr/>
            <p:nvPr/>
          </p:nvSpPr>
          <p:spPr>
            <a:xfrm flipH="1">
              <a:off x="0" y="292608"/>
              <a:ext cx="117043" cy="21214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" name="תיבת טקסט 26">
              <a:extLst>
                <a:ext uri="{FF2B5EF4-FFF2-40B4-BE49-F238E27FC236}">
                  <a16:creationId xmlns:a16="http://schemas.microsoft.com/office/drawing/2014/main" id="{DC931BB8-324B-70C7-E392-2D61A8C92D23}"/>
                </a:ext>
              </a:extLst>
            </p:cNvPr>
            <p:cNvSpPr txBox="1"/>
            <p:nvPr/>
          </p:nvSpPr>
          <p:spPr>
            <a:xfrm>
              <a:off x="-362644" y="248717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he-IL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א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תיבת טקסט 26">
              <a:extLst>
                <a:ext uri="{FF2B5EF4-FFF2-40B4-BE49-F238E27FC236}">
                  <a16:creationId xmlns:a16="http://schemas.microsoft.com/office/drawing/2014/main" id="{DC931BB8-324B-70C7-E392-2D61A8C92D23}"/>
                </a:ext>
              </a:extLst>
            </p:cNvPr>
            <p:cNvSpPr txBox="1"/>
            <p:nvPr/>
          </p:nvSpPr>
          <p:spPr>
            <a:xfrm>
              <a:off x="2120799" y="314553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he-IL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ב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קבוצה 12">
            <a:extLst>
              <a:ext uri="{FF2B5EF4-FFF2-40B4-BE49-F238E27FC236}">
                <a16:creationId xmlns:a16="http://schemas.microsoft.com/office/drawing/2014/main" id="{2BC82C46-E281-CF49-4F5D-4BD711A13AF0}"/>
              </a:ext>
            </a:extLst>
          </p:cNvPr>
          <p:cNvGrpSpPr/>
          <p:nvPr/>
        </p:nvGrpSpPr>
        <p:grpSpPr>
          <a:xfrm>
            <a:off x="363904" y="4027780"/>
            <a:ext cx="3356495" cy="1969262"/>
            <a:chOff x="1524" y="0"/>
            <a:chExt cx="2129791" cy="936346"/>
          </a:xfrm>
        </p:grpSpPr>
        <p:sp>
          <p:nvSpPr>
            <p:cNvPr id="25" name="מלבן 13">
              <a:extLst>
                <a:ext uri="{FF2B5EF4-FFF2-40B4-BE49-F238E27FC236}">
                  <a16:creationId xmlns:a16="http://schemas.microsoft.com/office/drawing/2014/main" id="{658E9B61-E46A-D626-F372-58B62B590CB1}"/>
                </a:ext>
              </a:extLst>
            </p:cNvPr>
            <p:cNvSpPr/>
            <p:nvPr/>
          </p:nvSpPr>
          <p:spPr>
            <a:xfrm>
              <a:off x="7315" y="0"/>
              <a:ext cx="2124000" cy="9363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26" name="מחבר חץ ישר 14">
              <a:extLst>
                <a:ext uri="{FF2B5EF4-FFF2-40B4-BE49-F238E27FC236}">
                  <a16:creationId xmlns:a16="http://schemas.microsoft.com/office/drawing/2014/main" id="{50F1F333-B781-C79D-4AB8-5BD8CFBFD341}"/>
                </a:ext>
              </a:extLst>
            </p:cNvPr>
            <p:cNvCxnSpPr/>
            <p:nvPr/>
          </p:nvCxnSpPr>
          <p:spPr>
            <a:xfrm flipV="1">
              <a:off x="1524" y="866242"/>
              <a:ext cx="1080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מחבר חץ ישר 15">
              <a:extLst>
                <a:ext uri="{FF2B5EF4-FFF2-40B4-BE49-F238E27FC236}">
                  <a16:creationId xmlns:a16="http://schemas.microsoft.com/office/drawing/2014/main" id="{283CF4AC-F356-F6E8-BD75-FDBA1927FC75}"/>
                </a:ext>
              </a:extLst>
            </p:cNvPr>
            <p:cNvCxnSpPr/>
            <p:nvPr/>
          </p:nvCxnSpPr>
          <p:spPr>
            <a:xfrm flipV="1">
              <a:off x="1076859" y="866242"/>
              <a:ext cx="104394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/>
          <p:cNvCxnSpPr/>
          <p:nvPr/>
        </p:nvCxnSpPr>
        <p:spPr>
          <a:xfrm>
            <a:off x="761576" y="3852685"/>
            <a:ext cx="2138107" cy="0"/>
          </a:xfrm>
          <a:prstGeom prst="straightConnector1">
            <a:avLst/>
          </a:prstGeom>
          <a:ln w="41275"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254420" y="3852685"/>
            <a:ext cx="775587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800" b="1" dirty="0"/>
              <a:t>מסקנת הביניים של גלית:</a:t>
            </a:r>
            <a:r>
              <a:rPr lang="he-IL" sz="2800" dirty="0"/>
              <a:t> </a:t>
            </a:r>
          </a:p>
          <a:p>
            <a:r>
              <a:rPr lang="he-IL" sz="2800" dirty="0"/>
              <a:t>השעונים של דני לא מסונכרנים! </a:t>
            </a:r>
          </a:p>
          <a:p>
            <a:r>
              <a:rPr lang="he-IL" sz="2800" dirty="0"/>
              <a:t>השעון הימני (שעון ב') הופעל ראשון, </a:t>
            </a:r>
          </a:p>
          <a:p>
            <a:r>
              <a:rPr lang="he-IL" sz="2800" dirty="0"/>
              <a:t>ולכן הוא תמיד נמצא ב"פור" (קדימה בזמן) לעומת השעון השמאלי (שעון א')</a:t>
            </a:r>
            <a:endParaRPr lang="en-US" sz="280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839" y="2036814"/>
            <a:ext cx="816519" cy="135657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945" y="4546868"/>
            <a:ext cx="993341" cy="11552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994031" y="4783015"/>
            <a:ext cx="7016262" cy="1316439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2302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26C0D-25CB-EC1B-D77F-F55D276FD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2F3CEE-86D1-E392-4B38-BBF97A5B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פתרון הפרדוקס</a:t>
            </a:r>
            <a:endParaRPr lang="en-US" dirty="0">
              <a:cs typeface="+mn-cs"/>
            </a:endParaRPr>
          </a:p>
        </p:txBody>
      </p:sp>
      <p:grpSp>
        <p:nvGrpSpPr>
          <p:cNvPr id="13" name="קבוצה 12">
            <a:extLst>
              <a:ext uri="{FF2B5EF4-FFF2-40B4-BE49-F238E27FC236}">
                <a16:creationId xmlns:a16="http://schemas.microsoft.com/office/drawing/2014/main" id="{2BC82C46-E281-CF49-4F5D-4BD711A13AF0}"/>
              </a:ext>
            </a:extLst>
          </p:cNvPr>
          <p:cNvGrpSpPr/>
          <p:nvPr/>
        </p:nvGrpSpPr>
        <p:grpSpPr>
          <a:xfrm>
            <a:off x="888950" y="1640385"/>
            <a:ext cx="4398040" cy="1969262"/>
            <a:chOff x="-362644" y="0"/>
            <a:chExt cx="2790681" cy="936346"/>
          </a:xfrm>
        </p:grpSpPr>
        <p:sp>
          <p:nvSpPr>
            <p:cNvPr id="14" name="מלבן 13">
              <a:extLst>
                <a:ext uri="{FF2B5EF4-FFF2-40B4-BE49-F238E27FC236}">
                  <a16:creationId xmlns:a16="http://schemas.microsoft.com/office/drawing/2014/main" id="{658E9B61-E46A-D626-F372-58B62B590CB1}"/>
                </a:ext>
              </a:extLst>
            </p:cNvPr>
            <p:cNvSpPr/>
            <p:nvPr/>
          </p:nvSpPr>
          <p:spPr>
            <a:xfrm>
              <a:off x="7315" y="0"/>
              <a:ext cx="2124000" cy="9363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5" name="מחבר חץ ישר 14">
              <a:extLst>
                <a:ext uri="{FF2B5EF4-FFF2-40B4-BE49-F238E27FC236}">
                  <a16:creationId xmlns:a16="http://schemas.microsoft.com/office/drawing/2014/main" id="{50F1F333-B781-C79D-4AB8-5BD8CFBFD341}"/>
                </a:ext>
              </a:extLst>
            </p:cNvPr>
            <p:cNvCxnSpPr/>
            <p:nvPr/>
          </p:nvCxnSpPr>
          <p:spPr>
            <a:xfrm flipV="1">
              <a:off x="1524" y="866242"/>
              <a:ext cx="1080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מחבר חץ ישר 15">
              <a:extLst>
                <a:ext uri="{FF2B5EF4-FFF2-40B4-BE49-F238E27FC236}">
                  <a16:creationId xmlns:a16="http://schemas.microsoft.com/office/drawing/2014/main" id="{283CF4AC-F356-F6E8-BD75-FDBA1927FC75}"/>
                </a:ext>
              </a:extLst>
            </p:cNvPr>
            <p:cNvCxnSpPr/>
            <p:nvPr/>
          </p:nvCxnSpPr>
          <p:spPr>
            <a:xfrm flipV="1">
              <a:off x="1076859" y="866242"/>
              <a:ext cx="104394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תיבת טקסט 26">
              <a:extLst>
                <a:ext uri="{FF2B5EF4-FFF2-40B4-BE49-F238E27FC236}">
                  <a16:creationId xmlns:a16="http://schemas.microsoft.com/office/drawing/2014/main" id="{0F19AE1C-A88D-7F4D-FE51-3C70B1C222B6}"/>
                </a:ext>
              </a:extLst>
            </p:cNvPr>
            <p:cNvSpPr txBox="1"/>
            <p:nvPr/>
          </p:nvSpPr>
          <p:spPr>
            <a:xfrm>
              <a:off x="358445" y="636422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תיבת טקסט 26">
              <a:extLst>
                <a:ext uri="{FF2B5EF4-FFF2-40B4-BE49-F238E27FC236}">
                  <a16:creationId xmlns:a16="http://schemas.microsoft.com/office/drawing/2014/main" id="{DC931BB8-324B-70C7-E392-2D61A8C92D23}"/>
                </a:ext>
              </a:extLst>
            </p:cNvPr>
            <p:cNvSpPr txBox="1"/>
            <p:nvPr/>
          </p:nvSpPr>
          <p:spPr>
            <a:xfrm>
              <a:off x="1426464" y="636422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אליפסה 19">
              <a:extLst>
                <a:ext uri="{FF2B5EF4-FFF2-40B4-BE49-F238E27FC236}">
                  <a16:creationId xmlns:a16="http://schemas.microsoft.com/office/drawing/2014/main" id="{BC4C6940-7F6E-CFDA-DA85-6108BB531960}"/>
                </a:ext>
              </a:extLst>
            </p:cNvPr>
            <p:cNvSpPr/>
            <p:nvPr/>
          </p:nvSpPr>
          <p:spPr>
            <a:xfrm>
              <a:off x="2011680" y="336499"/>
              <a:ext cx="119075" cy="21214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" name="אליפסה 20">
              <a:extLst>
                <a:ext uri="{FF2B5EF4-FFF2-40B4-BE49-F238E27FC236}">
                  <a16:creationId xmlns:a16="http://schemas.microsoft.com/office/drawing/2014/main" id="{4DDE1F1B-61B8-0802-335D-760E1CBCD5E0}"/>
                </a:ext>
              </a:extLst>
            </p:cNvPr>
            <p:cNvSpPr/>
            <p:nvPr/>
          </p:nvSpPr>
          <p:spPr>
            <a:xfrm flipH="1">
              <a:off x="0" y="292608"/>
              <a:ext cx="117043" cy="21214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" name="תיבת טקסט 26">
              <a:extLst>
                <a:ext uri="{FF2B5EF4-FFF2-40B4-BE49-F238E27FC236}">
                  <a16:creationId xmlns:a16="http://schemas.microsoft.com/office/drawing/2014/main" id="{DC931BB8-324B-70C7-E392-2D61A8C92D23}"/>
                </a:ext>
              </a:extLst>
            </p:cNvPr>
            <p:cNvSpPr txBox="1"/>
            <p:nvPr/>
          </p:nvSpPr>
          <p:spPr>
            <a:xfrm>
              <a:off x="-362644" y="248717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he-IL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א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תיבת טקסט 26">
              <a:extLst>
                <a:ext uri="{FF2B5EF4-FFF2-40B4-BE49-F238E27FC236}">
                  <a16:creationId xmlns:a16="http://schemas.microsoft.com/office/drawing/2014/main" id="{DC931BB8-324B-70C7-E392-2D61A8C92D23}"/>
                </a:ext>
              </a:extLst>
            </p:cNvPr>
            <p:cNvSpPr txBox="1"/>
            <p:nvPr/>
          </p:nvSpPr>
          <p:spPr>
            <a:xfrm>
              <a:off x="2120799" y="314553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he-IL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ב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קבוצה 12">
            <a:extLst>
              <a:ext uri="{FF2B5EF4-FFF2-40B4-BE49-F238E27FC236}">
                <a16:creationId xmlns:a16="http://schemas.microsoft.com/office/drawing/2014/main" id="{2BC82C46-E281-CF49-4F5D-4BD711A13AF0}"/>
              </a:ext>
            </a:extLst>
          </p:cNvPr>
          <p:cNvGrpSpPr/>
          <p:nvPr/>
        </p:nvGrpSpPr>
        <p:grpSpPr>
          <a:xfrm>
            <a:off x="363904" y="4027780"/>
            <a:ext cx="3356495" cy="1969262"/>
            <a:chOff x="1524" y="0"/>
            <a:chExt cx="2129791" cy="936346"/>
          </a:xfrm>
        </p:grpSpPr>
        <p:sp>
          <p:nvSpPr>
            <p:cNvPr id="25" name="מלבן 13">
              <a:extLst>
                <a:ext uri="{FF2B5EF4-FFF2-40B4-BE49-F238E27FC236}">
                  <a16:creationId xmlns:a16="http://schemas.microsoft.com/office/drawing/2014/main" id="{658E9B61-E46A-D626-F372-58B62B590CB1}"/>
                </a:ext>
              </a:extLst>
            </p:cNvPr>
            <p:cNvSpPr/>
            <p:nvPr/>
          </p:nvSpPr>
          <p:spPr>
            <a:xfrm>
              <a:off x="7315" y="0"/>
              <a:ext cx="2124000" cy="9363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26" name="מחבר חץ ישר 14">
              <a:extLst>
                <a:ext uri="{FF2B5EF4-FFF2-40B4-BE49-F238E27FC236}">
                  <a16:creationId xmlns:a16="http://schemas.microsoft.com/office/drawing/2014/main" id="{50F1F333-B781-C79D-4AB8-5BD8CFBFD341}"/>
                </a:ext>
              </a:extLst>
            </p:cNvPr>
            <p:cNvCxnSpPr/>
            <p:nvPr/>
          </p:nvCxnSpPr>
          <p:spPr>
            <a:xfrm flipV="1">
              <a:off x="1524" y="866242"/>
              <a:ext cx="1080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מחבר חץ ישר 15">
              <a:extLst>
                <a:ext uri="{FF2B5EF4-FFF2-40B4-BE49-F238E27FC236}">
                  <a16:creationId xmlns:a16="http://schemas.microsoft.com/office/drawing/2014/main" id="{283CF4AC-F356-F6E8-BD75-FDBA1927FC75}"/>
                </a:ext>
              </a:extLst>
            </p:cNvPr>
            <p:cNvCxnSpPr/>
            <p:nvPr/>
          </p:nvCxnSpPr>
          <p:spPr>
            <a:xfrm flipV="1">
              <a:off x="1076859" y="866242"/>
              <a:ext cx="104394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/>
          <p:cNvCxnSpPr/>
          <p:nvPr/>
        </p:nvCxnSpPr>
        <p:spPr>
          <a:xfrm>
            <a:off x="761576" y="3852685"/>
            <a:ext cx="2138107" cy="0"/>
          </a:xfrm>
          <a:prstGeom prst="straightConnector1">
            <a:avLst/>
          </a:prstGeom>
          <a:ln w="41275"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353759" y="2003305"/>
            <a:ext cx="6705600" cy="4783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he-IL" sz="2400" b="1" dirty="0">
                <a:solidFill>
                  <a:srgbClr val="FFFF00"/>
                </a:solidFill>
              </a:rPr>
              <a:t>הניסוי מתחיל (אירוע הזינוק בשמאל)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גלית חולפת על פני שעון א' (שמאל). 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השעון שלה וגם שעון א' של דני מראים </a:t>
            </a:r>
            <a:r>
              <a:rPr lang="he-IL" sz="2400" b="1" dirty="0"/>
              <a:t>12:00</a:t>
            </a:r>
            <a:r>
              <a:rPr lang="he-IL" sz="2400" dirty="0"/>
              <a:t> </a:t>
            </a:r>
          </a:p>
          <a:p>
            <a:pPr>
              <a:lnSpc>
                <a:spcPct val="150000"/>
              </a:lnSpc>
            </a:pPr>
            <a:r>
              <a:rPr lang="he-IL" sz="2400" b="1" dirty="0"/>
              <a:t>מה דני חושב כרגע?</a:t>
            </a:r>
            <a:r>
              <a:rPr lang="he-IL" sz="2400" dirty="0"/>
              <a:t> דני בטוח שהשעונים שלו מסונכרנים, ולכן גם שעון ב' (הימני) מראה עכשיו 12:00</a:t>
            </a:r>
          </a:p>
          <a:p>
            <a:pPr>
              <a:lnSpc>
                <a:spcPct val="150000"/>
              </a:lnSpc>
            </a:pPr>
            <a:r>
              <a:rPr lang="he-IL" sz="2400" b="1" dirty="0"/>
              <a:t>מה גלית יודעת כרגע?</a:t>
            </a:r>
            <a:r>
              <a:rPr lang="he-IL" sz="2400" dirty="0"/>
              <a:t> גלית זוכרת את שלב 1. היא יודעת ששעון ב' הימני הופעל מזמן, ולכן ברגע זה ממש הוא לא מראה 12:00, אלא כבר מראה 12:07:30 </a:t>
            </a:r>
            <a:endParaRPr lang="en-US" sz="240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787" y="2068186"/>
            <a:ext cx="816519" cy="135657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224" y="4656081"/>
            <a:ext cx="993341" cy="115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77465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26C0D-25CB-EC1B-D77F-F55D276FD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2F3CEE-86D1-E392-4B38-BBF97A5B3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12120" y="291744"/>
            <a:ext cx="10515600" cy="1325563"/>
          </a:xfrm>
        </p:spPr>
        <p:txBody>
          <a:bodyPr/>
          <a:lstStyle/>
          <a:p>
            <a:pPr algn="ctr"/>
            <a:r>
              <a:rPr lang="he-IL" dirty="0">
                <a:cs typeface="+mn-cs"/>
              </a:rPr>
              <a:t>פתרון הפרדוקס</a:t>
            </a:r>
            <a:endParaRPr lang="en-US" dirty="0">
              <a:cs typeface="+mn-cs"/>
            </a:endParaRPr>
          </a:p>
        </p:txBody>
      </p:sp>
      <p:grpSp>
        <p:nvGrpSpPr>
          <p:cNvPr id="13" name="קבוצה 12">
            <a:extLst>
              <a:ext uri="{FF2B5EF4-FFF2-40B4-BE49-F238E27FC236}">
                <a16:creationId xmlns:a16="http://schemas.microsoft.com/office/drawing/2014/main" id="{2BC82C46-E281-CF49-4F5D-4BD711A13AF0}"/>
              </a:ext>
            </a:extLst>
          </p:cNvPr>
          <p:cNvGrpSpPr/>
          <p:nvPr/>
        </p:nvGrpSpPr>
        <p:grpSpPr>
          <a:xfrm>
            <a:off x="888950" y="1640385"/>
            <a:ext cx="4398040" cy="1969262"/>
            <a:chOff x="-362644" y="0"/>
            <a:chExt cx="2790681" cy="936346"/>
          </a:xfrm>
        </p:grpSpPr>
        <p:sp>
          <p:nvSpPr>
            <p:cNvPr id="14" name="מלבן 13">
              <a:extLst>
                <a:ext uri="{FF2B5EF4-FFF2-40B4-BE49-F238E27FC236}">
                  <a16:creationId xmlns:a16="http://schemas.microsoft.com/office/drawing/2014/main" id="{658E9B61-E46A-D626-F372-58B62B590CB1}"/>
                </a:ext>
              </a:extLst>
            </p:cNvPr>
            <p:cNvSpPr/>
            <p:nvPr/>
          </p:nvSpPr>
          <p:spPr>
            <a:xfrm>
              <a:off x="7315" y="0"/>
              <a:ext cx="2124000" cy="9363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5" name="מחבר חץ ישר 14">
              <a:extLst>
                <a:ext uri="{FF2B5EF4-FFF2-40B4-BE49-F238E27FC236}">
                  <a16:creationId xmlns:a16="http://schemas.microsoft.com/office/drawing/2014/main" id="{50F1F333-B781-C79D-4AB8-5BD8CFBFD341}"/>
                </a:ext>
              </a:extLst>
            </p:cNvPr>
            <p:cNvCxnSpPr/>
            <p:nvPr/>
          </p:nvCxnSpPr>
          <p:spPr>
            <a:xfrm flipV="1">
              <a:off x="1524" y="866242"/>
              <a:ext cx="1080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מחבר חץ ישר 15">
              <a:extLst>
                <a:ext uri="{FF2B5EF4-FFF2-40B4-BE49-F238E27FC236}">
                  <a16:creationId xmlns:a16="http://schemas.microsoft.com/office/drawing/2014/main" id="{283CF4AC-F356-F6E8-BD75-FDBA1927FC75}"/>
                </a:ext>
              </a:extLst>
            </p:cNvPr>
            <p:cNvCxnSpPr/>
            <p:nvPr/>
          </p:nvCxnSpPr>
          <p:spPr>
            <a:xfrm flipV="1">
              <a:off x="1076859" y="866242"/>
              <a:ext cx="104394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תיבת טקסט 26">
              <a:extLst>
                <a:ext uri="{FF2B5EF4-FFF2-40B4-BE49-F238E27FC236}">
                  <a16:creationId xmlns:a16="http://schemas.microsoft.com/office/drawing/2014/main" id="{0F19AE1C-A88D-7F4D-FE51-3C70B1C222B6}"/>
                </a:ext>
              </a:extLst>
            </p:cNvPr>
            <p:cNvSpPr txBox="1"/>
            <p:nvPr/>
          </p:nvSpPr>
          <p:spPr>
            <a:xfrm>
              <a:off x="358445" y="636422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תיבת טקסט 26">
              <a:extLst>
                <a:ext uri="{FF2B5EF4-FFF2-40B4-BE49-F238E27FC236}">
                  <a16:creationId xmlns:a16="http://schemas.microsoft.com/office/drawing/2014/main" id="{DC931BB8-324B-70C7-E392-2D61A8C92D23}"/>
                </a:ext>
              </a:extLst>
            </p:cNvPr>
            <p:cNvSpPr txBox="1"/>
            <p:nvPr/>
          </p:nvSpPr>
          <p:spPr>
            <a:xfrm>
              <a:off x="1426464" y="636422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אליפסה 19">
              <a:extLst>
                <a:ext uri="{FF2B5EF4-FFF2-40B4-BE49-F238E27FC236}">
                  <a16:creationId xmlns:a16="http://schemas.microsoft.com/office/drawing/2014/main" id="{BC4C6940-7F6E-CFDA-DA85-6108BB531960}"/>
                </a:ext>
              </a:extLst>
            </p:cNvPr>
            <p:cNvSpPr/>
            <p:nvPr/>
          </p:nvSpPr>
          <p:spPr>
            <a:xfrm>
              <a:off x="2011680" y="336499"/>
              <a:ext cx="119075" cy="21214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" name="אליפסה 20">
              <a:extLst>
                <a:ext uri="{FF2B5EF4-FFF2-40B4-BE49-F238E27FC236}">
                  <a16:creationId xmlns:a16="http://schemas.microsoft.com/office/drawing/2014/main" id="{4DDE1F1B-61B8-0802-335D-760E1CBCD5E0}"/>
                </a:ext>
              </a:extLst>
            </p:cNvPr>
            <p:cNvSpPr/>
            <p:nvPr/>
          </p:nvSpPr>
          <p:spPr>
            <a:xfrm flipH="1">
              <a:off x="0" y="292608"/>
              <a:ext cx="117043" cy="21214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" name="תיבת טקסט 26">
              <a:extLst>
                <a:ext uri="{FF2B5EF4-FFF2-40B4-BE49-F238E27FC236}">
                  <a16:creationId xmlns:a16="http://schemas.microsoft.com/office/drawing/2014/main" id="{DC931BB8-324B-70C7-E392-2D61A8C92D23}"/>
                </a:ext>
              </a:extLst>
            </p:cNvPr>
            <p:cNvSpPr txBox="1"/>
            <p:nvPr/>
          </p:nvSpPr>
          <p:spPr>
            <a:xfrm>
              <a:off x="-362644" y="248717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he-IL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א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תיבת טקסט 26">
              <a:extLst>
                <a:ext uri="{FF2B5EF4-FFF2-40B4-BE49-F238E27FC236}">
                  <a16:creationId xmlns:a16="http://schemas.microsoft.com/office/drawing/2014/main" id="{DC931BB8-324B-70C7-E392-2D61A8C92D23}"/>
                </a:ext>
              </a:extLst>
            </p:cNvPr>
            <p:cNvSpPr txBox="1"/>
            <p:nvPr/>
          </p:nvSpPr>
          <p:spPr>
            <a:xfrm>
              <a:off x="2120799" y="314553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he-IL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ב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קבוצה 12">
            <a:extLst>
              <a:ext uri="{FF2B5EF4-FFF2-40B4-BE49-F238E27FC236}">
                <a16:creationId xmlns:a16="http://schemas.microsoft.com/office/drawing/2014/main" id="{2BC82C46-E281-CF49-4F5D-4BD711A13AF0}"/>
              </a:ext>
            </a:extLst>
          </p:cNvPr>
          <p:cNvGrpSpPr/>
          <p:nvPr/>
        </p:nvGrpSpPr>
        <p:grpSpPr>
          <a:xfrm>
            <a:off x="363904" y="4027780"/>
            <a:ext cx="3356495" cy="1969262"/>
            <a:chOff x="1524" y="0"/>
            <a:chExt cx="2129791" cy="936346"/>
          </a:xfrm>
        </p:grpSpPr>
        <p:sp>
          <p:nvSpPr>
            <p:cNvPr id="25" name="מלבן 13">
              <a:extLst>
                <a:ext uri="{FF2B5EF4-FFF2-40B4-BE49-F238E27FC236}">
                  <a16:creationId xmlns:a16="http://schemas.microsoft.com/office/drawing/2014/main" id="{658E9B61-E46A-D626-F372-58B62B590CB1}"/>
                </a:ext>
              </a:extLst>
            </p:cNvPr>
            <p:cNvSpPr/>
            <p:nvPr/>
          </p:nvSpPr>
          <p:spPr>
            <a:xfrm>
              <a:off x="7315" y="0"/>
              <a:ext cx="2124000" cy="9363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26" name="מחבר חץ ישר 14">
              <a:extLst>
                <a:ext uri="{FF2B5EF4-FFF2-40B4-BE49-F238E27FC236}">
                  <a16:creationId xmlns:a16="http://schemas.microsoft.com/office/drawing/2014/main" id="{50F1F333-B781-C79D-4AB8-5BD8CFBFD341}"/>
                </a:ext>
              </a:extLst>
            </p:cNvPr>
            <p:cNvCxnSpPr/>
            <p:nvPr/>
          </p:nvCxnSpPr>
          <p:spPr>
            <a:xfrm flipV="1">
              <a:off x="1524" y="866242"/>
              <a:ext cx="1080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מחבר חץ ישר 15">
              <a:extLst>
                <a:ext uri="{FF2B5EF4-FFF2-40B4-BE49-F238E27FC236}">
                  <a16:creationId xmlns:a16="http://schemas.microsoft.com/office/drawing/2014/main" id="{283CF4AC-F356-F6E8-BD75-FDBA1927FC75}"/>
                </a:ext>
              </a:extLst>
            </p:cNvPr>
            <p:cNvCxnSpPr/>
            <p:nvPr/>
          </p:nvCxnSpPr>
          <p:spPr>
            <a:xfrm flipV="1">
              <a:off x="1076859" y="866242"/>
              <a:ext cx="104394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/>
          <p:cNvCxnSpPr/>
          <p:nvPr/>
        </p:nvCxnSpPr>
        <p:spPr>
          <a:xfrm>
            <a:off x="761576" y="3852685"/>
            <a:ext cx="2138107" cy="0"/>
          </a:xfrm>
          <a:prstGeom prst="straightConnector1">
            <a:avLst/>
          </a:prstGeom>
          <a:ln w="41275"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353759" y="892098"/>
            <a:ext cx="6705600" cy="58946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he-IL" sz="2400" b="1" dirty="0">
                <a:solidFill>
                  <a:srgbClr val="FFFF00"/>
                </a:solidFill>
              </a:rPr>
              <a:t>מהלך הטיסה והחשבון של גלית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גלית יושבת בכיסא שלה ומודדת זמן בעזרת שעון היד הבודד שלה ( זמן עצמי). היא טסה משמאל לימין עד שהיא מגיעה לשעון ב'.</a:t>
            </a:r>
          </a:p>
          <a:p>
            <a:pPr>
              <a:lnSpc>
                <a:spcPct val="150000"/>
              </a:lnSpc>
            </a:pPr>
            <a:r>
              <a:rPr lang="he-IL" sz="2400" b="1" dirty="0"/>
              <a:t>בשעון של גלית:</a:t>
            </a:r>
            <a:r>
              <a:rPr lang="he-IL" sz="2400" dirty="0"/>
              <a:t> עברו בדיוק </a:t>
            </a:r>
            <a:r>
              <a:rPr lang="he-IL" sz="2400" b="1" dirty="0"/>
              <a:t>5 דקות</a:t>
            </a:r>
            <a:r>
              <a:rPr lang="he-IL" sz="2400" dirty="0"/>
              <a:t> (</a:t>
            </a:r>
            <a:r>
              <a:rPr lang="he-IL" sz="2400" b="1" dirty="0"/>
              <a:t>12:05</a:t>
            </a:r>
            <a:r>
              <a:rPr lang="he-IL" sz="2400" dirty="0"/>
              <a:t>).</a:t>
            </a:r>
          </a:p>
          <a:p>
            <a:pPr>
              <a:lnSpc>
                <a:spcPct val="150000"/>
              </a:lnSpc>
            </a:pPr>
            <a:r>
              <a:rPr lang="he-IL" sz="2400" b="1" dirty="0"/>
              <a:t>בשעון של דני (שעון ב'):</a:t>
            </a:r>
            <a:r>
              <a:rPr lang="he-IL" sz="2400" dirty="0"/>
              <a:t> מכיוון שהתחנה של דני זזה שמאלה מבחינתה, השעון שלו נמצא בתנועה ומתקתק לאט פי 2.</a:t>
            </a:r>
          </a:p>
          <a:p>
            <a:pPr>
              <a:lnSpc>
                <a:spcPct val="150000"/>
              </a:lnSpc>
            </a:pPr>
            <a:r>
              <a:rPr lang="he-IL" sz="2400" b="1" dirty="0"/>
              <a:t>החישוב של גלית:</a:t>
            </a:r>
            <a:r>
              <a:rPr lang="he-IL" sz="2400" dirty="0"/>
              <a:t> אם אצלה עברו 5 דקות, והשעון של דני תיקתק בחצי מהמהירות, הוא הספיק להתקדם בפועל רק: 2.5 דקות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375" y="2035440"/>
            <a:ext cx="816519" cy="135657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924" y="4668081"/>
            <a:ext cx="993341" cy="115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8290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26C0D-25CB-EC1B-D77F-F55D276FD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2F3CEE-86D1-E392-4B38-BBF97A5B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פתרון הפרדוקס</a:t>
            </a:r>
            <a:endParaRPr lang="en-US" dirty="0">
              <a:cs typeface="+mn-cs"/>
            </a:endParaRPr>
          </a:p>
        </p:txBody>
      </p:sp>
      <p:grpSp>
        <p:nvGrpSpPr>
          <p:cNvPr id="13" name="קבוצה 12">
            <a:extLst>
              <a:ext uri="{FF2B5EF4-FFF2-40B4-BE49-F238E27FC236}">
                <a16:creationId xmlns:a16="http://schemas.microsoft.com/office/drawing/2014/main" id="{2BC82C46-E281-CF49-4F5D-4BD711A13AF0}"/>
              </a:ext>
            </a:extLst>
          </p:cNvPr>
          <p:cNvGrpSpPr/>
          <p:nvPr/>
        </p:nvGrpSpPr>
        <p:grpSpPr>
          <a:xfrm>
            <a:off x="888950" y="1640385"/>
            <a:ext cx="4398040" cy="1969262"/>
            <a:chOff x="-362644" y="0"/>
            <a:chExt cx="2790681" cy="936346"/>
          </a:xfrm>
        </p:grpSpPr>
        <p:sp>
          <p:nvSpPr>
            <p:cNvPr id="14" name="מלבן 13">
              <a:extLst>
                <a:ext uri="{FF2B5EF4-FFF2-40B4-BE49-F238E27FC236}">
                  <a16:creationId xmlns:a16="http://schemas.microsoft.com/office/drawing/2014/main" id="{658E9B61-E46A-D626-F372-58B62B590CB1}"/>
                </a:ext>
              </a:extLst>
            </p:cNvPr>
            <p:cNvSpPr/>
            <p:nvPr/>
          </p:nvSpPr>
          <p:spPr>
            <a:xfrm>
              <a:off x="7315" y="0"/>
              <a:ext cx="2124000" cy="9363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5" name="מחבר חץ ישר 14">
              <a:extLst>
                <a:ext uri="{FF2B5EF4-FFF2-40B4-BE49-F238E27FC236}">
                  <a16:creationId xmlns:a16="http://schemas.microsoft.com/office/drawing/2014/main" id="{50F1F333-B781-C79D-4AB8-5BD8CFBFD341}"/>
                </a:ext>
              </a:extLst>
            </p:cNvPr>
            <p:cNvCxnSpPr/>
            <p:nvPr/>
          </p:nvCxnSpPr>
          <p:spPr>
            <a:xfrm flipV="1">
              <a:off x="1524" y="866242"/>
              <a:ext cx="1080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מחבר חץ ישר 15">
              <a:extLst>
                <a:ext uri="{FF2B5EF4-FFF2-40B4-BE49-F238E27FC236}">
                  <a16:creationId xmlns:a16="http://schemas.microsoft.com/office/drawing/2014/main" id="{283CF4AC-F356-F6E8-BD75-FDBA1927FC75}"/>
                </a:ext>
              </a:extLst>
            </p:cNvPr>
            <p:cNvCxnSpPr/>
            <p:nvPr/>
          </p:nvCxnSpPr>
          <p:spPr>
            <a:xfrm flipV="1">
              <a:off x="1076859" y="866242"/>
              <a:ext cx="104394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תיבת טקסט 26">
              <a:extLst>
                <a:ext uri="{FF2B5EF4-FFF2-40B4-BE49-F238E27FC236}">
                  <a16:creationId xmlns:a16="http://schemas.microsoft.com/office/drawing/2014/main" id="{0F19AE1C-A88D-7F4D-FE51-3C70B1C222B6}"/>
                </a:ext>
              </a:extLst>
            </p:cNvPr>
            <p:cNvSpPr txBox="1"/>
            <p:nvPr/>
          </p:nvSpPr>
          <p:spPr>
            <a:xfrm>
              <a:off x="358445" y="636422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תיבת טקסט 26">
              <a:extLst>
                <a:ext uri="{FF2B5EF4-FFF2-40B4-BE49-F238E27FC236}">
                  <a16:creationId xmlns:a16="http://schemas.microsoft.com/office/drawing/2014/main" id="{DC931BB8-324B-70C7-E392-2D61A8C92D23}"/>
                </a:ext>
              </a:extLst>
            </p:cNvPr>
            <p:cNvSpPr txBox="1"/>
            <p:nvPr/>
          </p:nvSpPr>
          <p:spPr>
            <a:xfrm>
              <a:off x="1426464" y="636422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אליפסה 19">
              <a:extLst>
                <a:ext uri="{FF2B5EF4-FFF2-40B4-BE49-F238E27FC236}">
                  <a16:creationId xmlns:a16="http://schemas.microsoft.com/office/drawing/2014/main" id="{BC4C6940-7F6E-CFDA-DA85-6108BB531960}"/>
                </a:ext>
              </a:extLst>
            </p:cNvPr>
            <p:cNvSpPr/>
            <p:nvPr/>
          </p:nvSpPr>
          <p:spPr>
            <a:xfrm>
              <a:off x="2011680" y="336499"/>
              <a:ext cx="119075" cy="21214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" name="אליפסה 20">
              <a:extLst>
                <a:ext uri="{FF2B5EF4-FFF2-40B4-BE49-F238E27FC236}">
                  <a16:creationId xmlns:a16="http://schemas.microsoft.com/office/drawing/2014/main" id="{4DDE1F1B-61B8-0802-335D-760E1CBCD5E0}"/>
                </a:ext>
              </a:extLst>
            </p:cNvPr>
            <p:cNvSpPr/>
            <p:nvPr/>
          </p:nvSpPr>
          <p:spPr>
            <a:xfrm flipH="1">
              <a:off x="0" y="292608"/>
              <a:ext cx="117043" cy="21214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" name="תיבת טקסט 26">
              <a:extLst>
                <a:ext uri="{FF2B5EF4-FFF2-40B4-BE49-F238E27FC236}">
                  <a16:creationId xmlns:a16="http://schemas.microsoft.com/office/drawing/2014/main" id="{DC931BB8-324B-70C7-E392-2D61A8C92D23}"/>
                </a:ext>
              </a:extLst>
            </p:cNvPr>
            <p:cNvSpPr txBox="1"/>
            <p:nvPr/>
          </p:nvSpPr>
          <p:spPr>
            <a:xfrm>
              <a:off x="-362644" y="248717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he-IL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א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תיבת טקסט 26">
              <a:extLst>
                <a:ext uri="{FF2B5EF4-FFF2-40B4-BE49-F238E27FC236}">
                  <a16:creationId xmlns:a16="http://schemas.microsoft.com/office/drawing/2014/main" id="{DC931BB8-324B-70C7-E392-2D61A8C92D23}"/>
                </a:ext>
              </a:extLst>
            </p:cNvPr>
            <p:cNvSpPr txBox="1"/>
            <p:nvPr/>
          </p:nvSpPr>
          <p:spPr>
            <a:xfrm>
              <a:off x="2120799" y="314553"/>
              <a:ext cx="307238" cy="2560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he-IL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ב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קבוצה 12">
            <a:extLst>
              <a:ext uri="{FF2B5EF4-FFF2-40B4-BE49-F238E27FC236}">
                <a16:creationId xmlns:a16="http://schemas.microsoft.com/office/drawing/2014/main" id="{2BC82C46-E281-CF49-4F5D-4BD711A13AF0}"/>
              </a:ext>
            </a:extLst>
          </p:cNvPr>
          <p:cNvGrpSpPr/>
          <p:nvPr/>
        </p:nvGrpSpPr>
        <p:grpSpPr>
          <a:xfrm>
            <a:off x="363904" y="4027780"/>
            <a:ext cx="3356495" cy="1969262"/>
            <a:chOff x="1524" y="0"/>
            <a:chExt cx="2129791" cy="936346"/>
          </a:xfrm>
        </p:grpSpPr>
        <p:sp>
          <p:nvSpPr>
            <p:cNvPr id="25" name="מלבן 13">
              <a:extLst>
                <a:ext uri="{FF2B5EF4-FFF2-40B4-BE49-F238E27FC236}">
                  <a16:creationId xmlns:a16="http://schemas.microsoft.com/office/drawing/2014/main" id="{658E9B61-E46A-D626-F372-58B62B590CB1}"/>
                </a:ext>
              </a:extLst>
            </p:cNvPr>
            <p:cNvSpPr/>
            <p:nvPr/>
          </p:nvSpPr>
          <p:spPr>
            <a:xfrm>
              <a:off x="7315" y="0"/>
              <a:ext cx="2124000" cy="9363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26" name="מחבר חץ ישר 14">
              <a:extLst>
                <a:ext uri="{FF2B5EF4-FFF2-40B4-BE49-F238E27FC236}">
                  <a16:creationId xmlns:a16="http://schemas.microsoft.com/office/drawing/2014/main" id="{50F1F333-B781-C79D-4AB8-5BD8CFBFD341}"/>
                </a:ext>
              </a:extLst>
            </p:cNvPr>
            <p:cNvCxnSpPr/>
            <p:nvPr/>
          </p:nvCxnSpPr>
          <p:spPr>
            <a:xfrm flipV="1">
              <a:off x="1524" y="866242"/>
              <a:ext cx="1080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מחבר חץ ישר 15">
              <a:extLst>
                <a:ext uri="{FF2B5EF4-FFF2-40B4-BE49-F238E27FC236}">
                  <a16:creationId xmlns:a16="http://schemas.microsoft.com/office/drawing/2014/main" id="{283CF4AC-F356-F6E8-BD75-FDBA1927FC75}"/>
                </a:ext>
              </a:extLst>
            </p:cNvPr>
            <p:cNvCxnSpPr/>
            <p:nvPr/>
          </p:nvCxnSpPr>
          <p:spPr>
            <a:xfrm flipV="1">
              <a:off x="1076859" y="866242"/>
              <a:ext cx="104394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/>
          <p:cNvCxnSpPr/>
          <p:nvPr/>
        </p:nvCxnSpPr>
        <p:spPr>
          <a:xfrm>
            <a:off x="761576" y="3852685"/>
            <a:ext cx="2138107" cy="0"/>
          </a:xfrm>
          <a:prstGeom prst="straightConnector1">
            <a:avLst/>
          </a:prstGeom>
          <a:ln w="41275"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353759" y="1271239"/>
            <a:ext cx="6705600" cy="5515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he-IL" sz="2400" b="1" dirty="0">
                <a:solidFill>
                  <a:srgbClr val="FFFF00"/>
                </a:solidFill>
              </a:rPr>
              <a:t>המפגש בקצה ויציאה מהסתירה (הסוף)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גלית מגיעה פיזית לשעון ב' . 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שניהם מסתכלים על השעון ב' ורואים שהשעה: </a:t>
            </a:r>
            <a:r>
              <a:rPr lang="he-IL" sz="2400" b="1" dirty="0"/>
              <a:t>12:10</a:t>
            </a:r>
            <a:r>
              <a:rPr lang="he-IL" sz="2400" dirty="0"/>
              <a:t>.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אין שום סתירה במציאות הפיזית, אבל לכל אחד יש סיפור קוהרנטי אחר איך השעון הגיע לשעה הזו</a:t>
            </a:r>
          </a:p>
          <a:p>
            <a:pPr>
              <a:lnSpc>
                <a:spcPct val="150000"/>
              </a:lnSpc>
            </a:pPr>
            <a:r>
              <a:rPr lang="he-IL" sz="2400" b="1" dirty="0"/>
              <a:t>הסיפור של דני:</a:t>
            </a:r>
            <a:r>
              <a:rPr lang="he-IL" sz="2400" dirty="0"/>
              <a:t> השעון הימני שלי התחיל ב-12:00, ותיקתק בקצב רגיל במשך 10 דקות של טיסה</a:t>
            </a:r>
          </a:p>
          <a:p>
            <a:pPr>
              <a:lnSpc>
                <a:spcPct val="150000"/>
              </a:lnSpc>
            </a:pPr>
            <a:r>
              <a:rPr lang="he-IL" sz="2400" b="1" dirty="0"/>
              <a:t>הסיפור של גלית:</a:t>
            </a:r>
            <a:r>
              <a:rPr lang="he-IL" sz="2400" dirty="0"/>
              <a:t> "השעון הימני </a:t>
            </a:r>
            <a:r>
              <a:rPr lang="he-IL" sz="2400" dirty="0" smtClean="0"/>
              <a:t>שלך (דני)  </a:t>
            </a:r>
            <a:r>
              <a:rPr lang="he-IL" sz="2400" dirty="0"/>
              <a:t>התחיל ב-12:07.5 ותיקתק בהילוך איטי רק 2.5 דקות במהלך הטיסה שלי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661" y="2085284"/>
            <a:ext cx="816519" cy="135657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285" y="4546868"/>
            <a:ext cx="993341" cy="115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57958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26C0D-25CB-EC1B-D77F-F55D276FD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2F3CEE-86D1-E392-4B38-BBF97A5B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סיכום</a:t>
            </a:r>
            <a:endParaRPr lang="en-US" dirty="0"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690688"/>
            <a:ext cx="12059359" cy="5096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8251" y="1690687"/>
          <a:ext cx="11772000" cy="5255440"/>
        </p:xfrm>
        <a:graphic>
          <a:graphicData uri="http://schemas.openxmlformats.org/drawingml/2006/table">
            <a:tbl>
              <a:tblPr rtl="1"/>
              <a:tblGrid>
                <a:gridCol w="3924000">
                  <a:extLst>
                    <a:ext uri="{9D8B030D-6E8A-4147-A177-3AD203B41FA5}">
                      <a16:colId xmlns:a16="http://schemas.microsoft.com/office/drawing/2014/main" val="932235598"/>
                    </a:ext>
                  </a:extLst>
                </a:gridCol>
                <a:gridCol w="3924000">
                  <a:extLst>
                    <a:ext uri="{9D8B030D-6E8A-4147-A177-3AD203B41FA5}">
                      <a16:colId xmlns:a16="http://schemas.microsoft.com/office/drawing/2014/main" val="543732590"/>
                    </a:ext>
                  </a:extLst>
                </a:gridCol>
                <a:gridCol w="3924000">
                  <a:extLst>
                    <a:ext uri="{9D8B030D-6E8A-4147-A177-3AD203B41FA5}">
                      <a16:colId xmlns:a16="http://schemas.microsoft.com/office/drawing/2014/main" val="1640751802"/>
                    </a:ext>
                  </a:extLst>
                </a:gridCol>
              </a:tblGrid>
              <a:tr h="723106">
                <a:tc>
                  <a:txBody>
                    <a:bodyPr/>
                    <a:lstStyle/>
                    <a:p>
                      <a:pPr rtl="1"/>
                      <a:r>
                        <a:rPr lang="he-IL" sz="24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המאפיין</a:t>
                      </a:r>
                      <a:endParaRPr lang="he-IL" sz="24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109" marR="114109" marT="76072" marB="7607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דני (בתחנה, שני שעונים)</a:t>
                      </a:r>
                      <a:endParaRPr lang="he-IL" sz="2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109" marR="114109" marT="76072" marB="7607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גלית (בחללית, שעון אחד)</a:t>
                      </a:r>
                      <a:endParaRPr lang="he-IL" sz="2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109" marR="114109" marT="76072" marB="7607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832000"/>
                  </a:ext>
                </a:extLst>
              </a:tr>
              <a:tr h="913008">
                <a:tc>
                  <a:txBody>
                    <a:bodyPr/>
                    <a:lstStyle/>
                    <a:p>
                      <a:pPr rtl="1"/>
                      <a:r>
                        <a:rPr lang="he-IL" sz="24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מצב תנועה</a:t>
                      </a:r>
                      <a:endParaRPr lang="he-IL" sz="24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109" marR="114109" marT="76072" marB="7607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4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מרגיש במנוחה, רואה את גלית טסה ימינה.</a:t>
                      </a:r>
                    </a:p>
                  </a:txBody>
                  <a:tcPr marL="114109" marR="114109" marT="76072" marB="7607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4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מרגישה במנוחה, רואה את התחנה טסה שמאלה.</a:t>
                      </a:r>
                    </a:p>
                  </a:txBody>
                  <a:tcPr marL="114109" marR="114109" marT="76072" marB="7607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771788"/>
                  </a:ext>
                </a:extLst>
              </a:tr>
              <a:tr h="913008">
                <a:tc>
                  <a:txBody>
                    <a:bodyPr/>
                    <a:lstStyle/>
                    <a:p>
                      <a:pPr rtl="1"/>
                      <a:r>
                        <a:rPr lang="he-IL" sz="24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מצב השעונים של דני בתחילה</a:t>
                      </a:r>
                      <a:endParaRPr lang="he-IL" sz="24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109" marR="114109" marT="76072" marB="7607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40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מסונכרנים פיקס. שניהם מראים 12:00</a:t>
                      </a:r>
                    </a:p>
                  </a:txBody>
                  <a:tcPr marL="114109" marR="114109" marT="76072" marB="7607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40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לא מסונכרנים! שעון ב' הימני קיבל </a:t>
                      </a:r>
                      <a:r>
                        <a:rPr lang="he-IL" sz="2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פור</a:t>
                      </a:r>
                      <a:r>
                        <a:rPr lang="he-IL" sz="240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 ומראה 12:07.30.</a:t>
                      </a:r>
                    </a:p>
                  </a:txBody>
                  <a:tcPr marL="114109" marR="114109" marT="76072" marB="7607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4435101"/>
                  </a:ext>
                </a:extLst>
              </a:tr>
              <a:tr h="535102">
                <a:tc>
                  <a:txBody>
                    <a:bodyPr/>
                    <a:lstStyle/>
                    <a:p>
                      <a:pPr rtl="1"/>
                      <a:r>
                        <a:rPr lang="he-IL" sz="24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קצב השעון של השני</a:t>
                      </a:r>
                      <a:endParaRPr lang="he-IL" sz="24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109" marR="114109" marT="76072" marB="7607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4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השעון של גלית זז לאט פי 2.</a:t>
                      </a:r>
                    </a:p>
                  </a:txBody>
                  <a:tcPr marL="114109" marR="114109" marT="76072" marB="7607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4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השעונים של דני זזים לאט פי 2.</a:t>
                      </a:r>
                    </a:p>
                  </a:txBody>
                  <a:tcPr marL="114109" marR="114109" marT="76072" marB="7607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7172599"/>
                  </a:ext>
                </a:extLst>
              </a:tr>
              <a:tr h="723106">
                <a:tc>
                  <a:txBody>
                    <a:bodyPr/>
                    <a:lstStyle/>
                    <a:p>
                      <a:pPr rtl="1"/>
                      <a:r>
                        <a:rPr lang="he-IL" sz="2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כמה השעון של השני התקדם?</a:t>
                      </a:r>
                      <a:endParaRPr lang="he-IL" sz="2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109" marR="114109" marT="76072" marB="7607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40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השעון של גלית תיקתק </a:t>
                      </a:r>
                      <a:r>
                        <a:rPr lang="he-IL" sz="2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5 ד'</a:t>
                      </a:r>
                      <a:endParaRPr lang="he-IL" sz="2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109" marR="114109" marT="76072" marB="7607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40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השעון של דני  (ב') 2.5 ד'</a:t>
                      </a:r>
                    </a:p>
                  </a:txBody>
                  <a:tcPr marL="114109" marR="114109" marT="76072" marB="7607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078175"/>
                  </a:ext>
                </a:extLst>
              </a:tr>
              <a:tr h="535102">
                <a:tc>
                  <a:txBody>
                    <a:bodyPr/>
                    <a:lstStyle/>
                    <a:p>
                      <a:pPr rtl="1"/>
                      <a:r>
                        <a:rPr lang="he-IL" sz="24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השעה בשעון גלית בסוף</a:t>
                      </a:r>
                      <a:endParaRPr lang="he-IL" sz="24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109" marR="114109" marT="76072" marB="7607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12:05</a:t>
                      </a:r>
                      <a:endParaRPr lang="en-IL" sz="2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109" marR="114109" marT="76072" marB="7607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40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12:05</a:t>
                      </a:r>
                    </a:p>
                  </a:txBody>
                  <a:tcPr marL="114109" marR="114109" marT="76072" marB="7607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6241220"/>
                  </a:ext>
                </a:extLst>
              </a:tr>
              <a:tr h="913008">
                <a:tc>
                  <a:txBody>
                    <a:bodyPr/>
                    <a:lstStyle/>
                    <a:p>
                      <a:pPr rtl="1"/>
                      <a:r>
                        <a:rPr lang="he-IL" sz="2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השעה בשעון ב' של דני בסוף</a:t>
                      </a:r>
                      <a:endParaRPr lang="he-IL" sz="2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109" marR="114109" marT="76072" marB="7607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12:10 (12:00 + 10ד')</a:t>
                      </a:r>
                      <a:endParaRPr lang="he-IL" sz="2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109" marR="114109" marT="76072" marB="7607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12:10 (12:07.30 + 2.5 ד')</a:t>
                      </a:r>
                      <a:endParaRPr lang="he-IL" sz="2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109" marR="114109" marT="76072" marB="7607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321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748021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26C0D-25CB-EC1B-D77F-F55D276FD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2F3CEE-86D1-E392-4B38-BBF97A5B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סיכום</a:t>
            </a:r>
            <a:endParaRPr lang="en-US" dirty="0">
              <a:cs typeface="+mn-cs"/>
            </a:endParaRPr>
          </a:p>
        </p:txBody>
      </p:sp>
      <p:sp>
        <p:nvSpPr>
          <p:cNvPr id="28" name="מלבן: פינות מעוגלות 7">
            <a:extLst>
              <a:ext uri="{FF2B5EF4-FFF2-40B4-BE49-F238E27FC236}">
                <a16:creationId xmlns:a16="http://schemas.microsoft.com/office/drawing/2014/main" id="{1A70F88C-C89C-DB97-DC73-88384D6D383E}"/>
              </a:ext>
            </a:extLst>
          </p:cNvPr>
          <p:cNvSpPr/>
          <p:nvPr/>
        </p:nvSpPr>
        <p:spPr>
          <a:xfrm>
            <a:off x="627406" y="1471960"/>
            <a:ext cx="10937188" cy="5270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he-IL" sz="2800" dirty="0"/>
          </a:p>
          <a:p>
            <a:endParaRPr lang="he-IL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019407" y="1390361"/>
            <a:ext cx="10153185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r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he-IL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התארכות הזמן (טרנספורמציית לורנץ)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מי שמסתכל על שעון בו מקומי שבתנועה ביחס אליו, יראה אותו מתקתק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לאט יותר- הזמן שלו</a:t>
            </a:r>
            <a:r>
              <a:rPr kumimoji="0" lang="he-IL" altLang="en-US" sz="2800" b="1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ארוך יותר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he-IL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r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he-IL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חוסר סימולטניות (ניסוי הרכבת והפלאש)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אירועים שקורים באותו זמן עבור צופה א', קורים בזמנים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שונים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עבור צופה ב' שנמצא בתנועה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he-IL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r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he-IL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השעון הבודד מול שני השעונים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לצופה בעל השעון הבודד (גלית) תמיד עובר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פחות זמן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(זמן עצמי) מאשר לצופה שמודד אותה בעזרת שני שעונים מסונכרנים (דני)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293270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26C0D-25CB-EC1B-D77F-F55D276FD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2F3CEE-86D1-E392-4B38-BBF97A5B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פרדוקס התאומים </a:t>
            </a:r>
            <a:endParaRPr lang="en-US" dirty="0">
              <a:cs typeface="+mn-cs"/>
            </a:endParaRPr>
          </a:p>
        </p:txBody>
      </p:sp>
      <p:sp>
        <p:nvSpPr>
          <p:cNvPr id="28" name="מלבן: פינות מעוגלות 7">
            <a:extLst>
              <a:ext uri="{FF2B5EF4-FFF2-40B4-BE49-F238E27FC236}">
                <a16:creationId xmlns:a16="http://schemas.microsoft.com/office/drawing/2014/main" id="{1A70F88C-C89C-DB97-DC73-88384D6D383E}"/>
              </a:ext>
            </a:extLst>
          </p:cNvPr>
          <p:cNvSpPr/>
          <p:nvPr/>
        </p:nvSpPr>
        <p:spPr>
          <a:xfrm>
            <a:off x="627406" y="1471960"/>
            <a:ext cx="10937188" cy="5270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he-IL" sz="2800" dirty="0"/>
              <a:t>נניח שיש שני תאומים (ראובן ושמעון) הנמצאים על </a:t>
            </a:r>
            <a:r>
              <a:rPr lang="he-IL" sz="2800" dirty="0" err="1"/>
              <a:t>כדוה"א</a:t>
            </a:r>
            <a:r>
              <a:rPr lang="he-IL" sz="2800" dirty="0"/>
              <a:t>. </a:t>
            </a:r>
          </a:p>
          <a:p>
            <a:r>
              <a:rPr lang="he-IL" sz="2800" dirty="0"/>
              <a:t>שמעון עולה על חללית שנעה במהירות </a:t>
            </a:r>
            <a:r>
              <a:rPr lang="en-US" sz="2800" dirty="0"/>
              <a:t>0.8c</a:t>
            </a:r>
            <a:endParaRPr lang="he-IL" sz="2800" dirty="0"/>
          </a:p>
          <a:p>
            <a:endParaRPr lang="he-IL" sz="2800" dirty="0"/>
          </a:p>
          <a:p>
            <a:endParaRPr lang="he-IL" sz="2800" dirty="0"/>
          </a:p>
          <a:p>
            <a:endParaRPr lang="he-IL" sz="2800" dirty="0"/>
          </a:p>
          <a:p>
            <a:r>
              <a:rPr lang="he-IL" sz="2800" dirty="0"/>
              <a:t>ולכן ראובן חושב שכאשר עברו אצלו 10 שנים אצל שמעון עברו רק 6 </a:t>
            </a:r>
          </a:p>
          <a:p>
            <a:r>
              <a:rPr lang="he-IL" sz="2800" dirty="0"/>
              <a:t>אבל שמעון חושב את אותו הדבר </a:t>
            </a:r>
          </a:p>
          <a:p>
            <a:r>
              <a:rPr lang="he-IL" sz="2800" dirty="0"/>
              <a:t>מה ייקרה כאשר שמעון יינחת </a:t>
            </a:r>
            <a:r>
              <a:rPr lang="he-IL" sz="2800" dirty="0" err="1"/>
              <a:t>בכדוה"א</a:t>
            </a:r>
            <a:r>
              <a:rPr lang="he-IL" sz="2800" dirty="0"/>
              <a:t> ? מי יהיה יותר זקן ? </a:t>
            </a:r>
          </a:p>
          <a:p>
            <a:r>
              <a:rPr lang="he-IL" sz="2800" dirty="0"/>
              <a:t>הפתרון : ראובן יהיה זקן יותר כי רק מערכת אחת היא אינרציאלית ואילו החללית איצה ומאטה ולכן המערכות לא שקולות ואכן שמעון יגיע צעיר בארבע שנים מראובן. </a:t>
            </a:r>
          </a:p>
          <a:p>
            <a:endParaRPr lang="he-IL" sz="2800" dirty="0"/>
          </a:p>
          <a:p>
            <a:endParaRPr lang="he-IL" sz="2800" dirty="0"/>
          </a:p>
          <a:p>
            <a:endParaRPr lang="he-IL" sz="2800" dirty="0"/>
          </a:p>
          <a:p>
            <a:endParaRPr lang="he-IL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019407" y="3692433"/>
            <a:ext cx="10153185" cy="658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r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125393" y="2797523"/>
                <a:ext cx="4901875" cy="9573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den>
                                  </m:f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66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5393" y="2797523"/>
                <a:ext cx="4901875" cy="9573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488871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DA520-B83C-88CE-6940-2AC41DE8F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46B919E-58AA-3FE2-4440-B2CC5B386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התקצרות האורך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97AE976D-5A33-0B91-BDA7-819E1FB03D57}"/>
                  </a:ext>
                </a:extLst>
              </p:cNvPr>
              <p:cNvSpPr/>
              <p:nvPr/>
            </p:nvSpPr>
            <p:spPr>
              <a:xfrm>
                <a:off x="194553" y="1508759"/>
                <a:ext cx="11272023" cy="534924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150000"/>
                  </a:lnSpc>
                </a:pPr>
                <a:r>
                  <a:rPr lang="he-IL" sz="2400" dirty="0"/>
                  <a:t>נניח ששוב </a:t>
                </a:r>
                <a:r>
                  <a:rPr lang="he-IL" sz="2400" b="1" dirty="0"/>
                  <a:t>דני</a:t>
                </a:r>
                <a:r>
                  <a:rPr lang="he-IL" sz="2400" dirty="0"/>
                  <a:t> נמצא בתחנת חלל (במנוחה). דני מודד את </a:t>
                </a:r>
                <a:r>
                  <a:rPr lang="he-IL" sz="2400" dirty="0">
                    <a:solidFill>
                      <a:srgbClr val="FFFF00"/>
                    </a:solidFill>
                  </a:rPr>
                  <a:t>אורכה העצמי </a:t>
                </a:r>
                <a:r>
                  <a:rPr lang="he-IL" sz="2400" dirty="0"/>
                  <a:t>של התחנה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he-IL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 sz="2400" dirty="0"/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b="1" dirty="0"/>
                  <a:t>גלית</a:t>
                </a:r>
                <a:r>
                  <a:rPr lang="he-IL" sz="2400" dirty="0"/>
                  <a:t> חולפת על פניו בחללית במהירות של </a:t>
                </a:r>
                <a:r>
                  <a:rPr lang="en-US" sz="2400" dirty="0"/>
                  <a:t>0.8c</a:t>
                </a:r>
                <a:r>
                  <a:rPr lang="he-IL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/>
                </a:r>
                <a:br>
                  <a:rPr lang="en-US" sz="2400" dirty="0"/>
                </a:br>
                <a:endParaRPr lang="he-IL" sz="2400" dirty="0"/>
              </a:p>
              <a:p>
                <a:pPr>
                  <a:lnSpc>
                    <a:spcPct val="150000"/>
                  </a:lnSpc>
                </a:pPr>
                <a:endParaRPr lang="en-US" sz="2400" dirty="0"/>
              </a:p>
              <a:p>
                <a:pPr>
                  <a:lnSpc>
                    <a:spcPct val="150000"/>
                  </a:lnSpc>
                </a:pPr>
                <a:endParaRPr lang="en-US" sz="3200" dirty="0"/>
              </a:p>
            </p:txBody>
          </p:sp>
        </mc:Choice>
        <mc:Fallback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97AE976D-5A33-0B91-BDA7-819E1FB03D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53" y="1508759"/>
                <a:ext cx="11272023" cy="534924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53238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DA520-B83C-88CE-6940-2AC41DE8F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46B919E-58AA-3FE2-4440-B2CC5B386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התקצרות האורך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97AE976D-5A33-0B91-BDA7-819E1FB03D57}"/>
                  </a:ext>
                </a:extLst>
              </p:cNvPr>
              <p:cNvSpPr/>
              <p:nvPr/>
            </p:nvSpPr>
            <p:spPr>
              <a:xfrm>
                <a:off x="194553" y="1508759"/>
                <a:ext cx="11272023" cy="534924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150000"/>
                  </a:lnSpc>
                </a:pPr>
                <a:r>
                  <a:rPr lang="he-IL" sz="2400" dirty="0"/>
                  <a:t>נניח ששוב </a:t>
                </a:r>
                <a:r>
                  <a:rPr lang="he-IL" sz="2400" b="1" dirty="0"/>
                  <a:t>דני</a:t>
                </a:r>
                <a:r>
                  <a:rPr lang="he-IL" sz="2400" dirty="0"/>
                  <a:t> נמצא בתחנת חלל (במנוחה). דני מודד את </a:t>
                </a:r>
                <a:r>
                  <a:rPr lang="he-IL" sz="2400" dirty="0">
                    <a:solidFill>
                      <a:srgbClr val="FFFF00"/>
                    </a:solidFill>
                  </a:rPr>
                  <a:t>אורכה העצמי </a:t>
                </a:r>
                <a:r>
                  <a:rPr lang="he-IL" sz="2400" dirty="0"/>
                  <a:t>של התחנה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he-IL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 sz="2400" dirty="0"/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b="1" dirty="0"/>
                  <a:t>גלית</a:t>
                </a:r>
                <a:r>
                  <a:rPr lang="he-IL" sz="2400" dirty="0"/>
                  <a:t> חולפת על פניו בחללית במהירות של </a:t>
                </a:r>
                <a:r>
                  <a:rPr lang="en-US" sz="2400" dirty="0"/>
                  <a:t>0.8c</a:t>
                </a:r>
                <a:r>
                  <a:rPr lang="he-IL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b="1" dirty="0">
                    <a:solidFill>
                      <a:srgbClr val="FFFF00"/>
                    </a:solidFill>
                  </a:rPr>
                  <a:t>מנקודת מבטו של דני </a:t>
                </a:r>
                <a:endParaRPr lang="en-US" sz="2400" b="1" dirty="0">
                  <a:solidFill>
                    <a:srgbClr val="FFFF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לקח לגלית 10 דקות עד שגלית עברה את תחנת החלל . ולכן הוא מבין ש: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he-IL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he-IL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/>
                </a:r>
                <a:br>
                  <a:rPr lang="en-US" sz="2400" dirty="0"/>
                </a:br>
                <a:endParaRPr lang="he-IL" sz="2400" dirty="0"/>
              </a:p>
              <a:p>
                <a:pPr>
                  <a:lnSpc>
                    <a:spcPct val="150000"/>
                  </a:lnSpc>
                </a:pPr>
                <a:endParaRPr lang="en-US" sz="2400" dirty="0"/>
              </a:p>
              <a:p>
                <a:pPr>
                  <a:lnSpc>
                    <a:spcPct val="150000"/>
                  </a:lnSpc>
                </a:pPr>
                <a:endParaRPr lang="en-US" sz="3200" dirty="0"/>
              </a:p>
            </p:txBody>
          </p:sp>
        </mc:Choice>
        <mc:Fallback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97AE976D-5A33-0B91-BDA7-819E1FB03D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53" y="1508759"/>
                <a:ext cx="11272023" cy="534924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939014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DA520-B83C-88CE-6940-2AC41DE8F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46B919E-58AA-3FE2-4440-B2CC5B386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התקצרות האורך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97AE976D-5A33-0B91-BDA7-819E1FB03D57}"/>
                  </a:ext>
                </a:extLst>
              </p:cNvPr>
              <p:cNvSpPr/>
              <p:nvPr/>
            </p:nvSpPr>
            <p:spPr>
              <a:xfrm>
                <a:off x="194553" y="1508759"/>
                <a:ext cx="11272023" cy="534924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150000"/>
                  </a:lnSpc>
                </a:pPr>
                <a:r>
                  <a:rPr lang="he-IL" sz="2400" dirty="0"/>
                  <a:t>נניח ששוב </a:t>
                </a:r>
                <a:r>
                  <a:rPr lang="he-IL" sz="2400" b="1" dirty="0"/>
                  <a:t>דני</a:t>
                </a:r>
                <a:r>
                  <a:rPr lang="he-IL" sz="2400" dirty="0"/>
                  <a:t> נמצא בתחנת חלל (במנוחה). דני מודד את </a:t>
                </a:r>
                <a:r>
                  <a:rPr lang="he-IL" sz="2400" dirty="0">
                    <a:solidFill>
                      <a:srgbClr val="FFFF00"/>
                    </a:solidFill>
                  </a:rPr>
                  <a:t>אורכה העצמי </a:t>
                </a:r>
                <a:r>
                  <a:rPr lang="he-IL" sz="2400" dirty="0"/>
                  <a:t>של התחנה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he-IL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 sz="2400" dirty="0"/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b="1" dirty="0"/>
                  <a:t>גלית</a:t>
                </a:r>
                <a:r>
                  <a:rPr lang="he-IL" sz="2400" dirty="0"/>
                  <a:t> חולפת על פניו בחללית במהירות של </a:t>
                </a:r>
                <a:r>
                  <a:rPr lang="en-US" sz="2400" dirty="0"/>
                  <a:t>0.8c</a:t>
                </a:r>
                <a:r>
                  <a:rPr lang="he-IL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b="1" dirty="0">
                    <a:solidFill>
                      <a:srgbClr val="FFFF00"/>
                    </a:solidFill>
                  </a:rPr>
                  <a:t>מנקודת מבטו של דני </a:t>
                </a:r>
                <a:endParaRPr lang="en-US" sz="2400" b="1" dirty="0">
                  <a:solidFill>
                    <a:srgbClr val="FFFF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לקח לגלית 10 דקות עד שגלית עברה את תחנת החלל . ולכן הוא מבין ש: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he-IL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he-IL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he-IL" sz="2400" b="1" dirty="0" smtClean="0">
                    <a:solidFill>
                      <a:srgbClr val="FFFF00"/>
                    </a:solidFill>
                  </a:rPr>
                  <a:t>מנקודת מבטה של גלית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התחנה של דני חולפת על פניה ימינה. גלית רוצה למדוד את אורכה של תחנת החלל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he-IL" sz="2400" dirty="0"/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היא בודקת כמה זמן לקח לתחנה לחלוף על פניה (שעון יחיד), ומכפילה במהירות התנועה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בשעון שלה (</a:t>
                </a:r>
                <a:r>
                  <a:rPr lang="he-IL" sz="2400" dirty="0">
                    <a:solidFill>
                      <a:srgbClr val="FFFF00"/>
                    </a:solidFill>
                  </a:rPr>
                  <a:t>זמן עצמי</a:t>
                </a:r>
                <a:r>
                  <a:rPr lang="he-IL" sz="2400" dirty="0"/>
                  <a:t>) עברו רק 5 דק' 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he-IL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L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IL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 sz="2400" dirty="0"/>
                  <a:t> ומכיוון שמהירות החללית ידועה אז כל אחד מהם מודד אורך אחר . גלית מודדת אורך קטן פי 2 </a:t>
                </a:r>
                <a:r>
                  <a:rPr lang="he-IL" sz="2400" dirty="0">
                    <a:solidFill>
                      <a:srgbClr val="FFFF00"/>
                    </a:solidFill>
                  </a:rPr>
                  <a:t>מהאורך העצמי </a:t>
                </a:r>
                <a:r>
                  <a:rPr lang="he-IL" sz="2400" dirty="0"/>
                  <a:t>שדני מדד</a:t>
                </a:r>
                <a:r>
                  <a:rPr lang="en-US" sz="2400" dirty="0"/>
                  <a:t/>
                </a:r>
                <a:br>
                  <a:rPr lang="en-US" sz="2400" dirty="0"/>
                </a:br>
                <a:endParaRPr lang="he-IL" sz="2400" dirty="0"/>
              </a:p>
              <a:p>
                <a:pPr>
                  <a:lnSpc>
                    <a:spcPct val="150000"/>
                  </a:lnSpc>
                </a:pPr>
                <a:endParaRPr lang="en-US" sz="2400" dirty="0"/>
              </a:p>
              <a:p>
                <a:pPr>
                  <a:lnSpc>
                    <a:spcPct val="150000"/>
                  </a:lnSpc>
                </a:pPr>
                <a:endParaRPr lang="en-US" sz="3200" dirty="0"/>
              </a:p>
            </p:txBody>
          </p:sp>
        </mc:Choice>
        <mc:Fallback xmlns="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97AE976D-5A33-0B91-BDA7-819E1FB03D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53" y="1508759"/>
                <a:ext cx="11272023" cy="5349241"/>
              </a:xfrm>
              <a:prstGeom prst="roundRect">
                <a:avLst/>
              </a:prstGeom>
              <a:blipFill>
                <a:blip r:embed="rId2"/>
                <a:stretch>
                  <a:fillRect b="-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382688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DA520-B83C-88CE-6940-2AC41DE8F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46B919E-58AA-3FE2-4440-B2CC5B386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התקצרות האורך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97AE976D-5A33-0B91-BDA7-819E1FB03D57}"/>
                  </a:ext>
                </a:extLst>
              </p:cNvPr>
              <p:cNvSpPr/>
              <p:nvPr/>
            </p:nvSpPr>
            <p:spPr>
              <a:xfrm>
                <a:off x="194553" y="1508759"/>
                <a:ext cx="11272023" cy="534924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150000"/>
                  </a:lnSpc>
                </a:pPr>
                <a:r>
                  <a:rPr lang="he-IL" sz="2400" dirty="0" smtClean="0"/>
                  <a:t>נניח ששוב </a:t>
                </a:r>
                <a:r>
                  <a:rPr lang="he-IL" sz="2400" b="1" dirty="0"/>
                  <a:t>דני</a:t>
                </a:r>
                <a:r>
                  <a:rPr lang="he-IL" sz="2400" dirty="0"/>
                  <a:t> נמצא בתחנת חלל (במנוחה). דני מודד את </a:t>
                </a:r>
                <a:r>
                  <a:rPr lang="he-IL" sz="2400" dirty="0">
                    <a:solidFill>
                      <a:srgbClr val="FFFF00"/>
                    </a:solidFill>
                  </a:rPr>
                  <a:t>אורכה העצמי </a:t>
                </a:r>
                <a:r>
                  <a:rPr lang="he-IL" sz="2400" dirty="0"/>
                  <a:t>של התחנה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he-IL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 sz="2400" dirty="0"/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b="1" dirty="0"/>
                  <a:t>גלית</a:t>
                </a:r>
                <a:r>
                  <a:rPr lang="he-IL" sz="2400" dirty="0"/>
                  <a:t> חולפת על פניו בחללית במהירות של </a:t>
                </a:r>
                <a:r>
                  <a:rPr lang="en-US" sz="2400" dirty="0" smtClean="0"/>
                  <a:t>0.866c</a:t>
                </a:r>
                <a:r>
                  <a:rPr lang="he-IL" sz="2400" dirty="0" smtClean="0"/>
                  <a:t> </a:t>
                </a:r>
                <a:endParaRPr lang="he-IL" sz="2400" dirty="0"/>
              </a:p>
              <a:p>
                <a:pPr>
                  <a:lnSpc>
                    <a:spcPct val="150000"/>
                  </a:lnSpc>
                </a:pPr>
                <a:r>
                  <a:rPr lang="he-IL" sz="2400" b="1" dirty="0">
                    <a:solidFill>
                      <a:srgbClr val="FFFF00"/>
                    </a:solidFill>
                  </a:rPr>
                  <a:t>מנקודת מבטו של דני </a:t>
                </a:r>
                <a:endParaRPr lang="en-US" sz="2400" b="1" dirty="0">
                  <a:solidFill>
                    <a:srgbClr val="FFFF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לקח לגלית 10 דקות עד שגלית עברה את תחנת החלל . ולכן הוא מבין ש: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he-IL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he-IL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he-IL" sz="2400" b="1" dirty="0" smtClean="0">
                    <a:solidFill>
                      <a:srgbClr val="FFFF00"/>
                    </a:solidFill>
                  </a:rPr>
                  <a:t>ז"א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he-IL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he-IL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L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he-I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he-I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he-I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he-I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866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he-I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he-I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𝑚𝑖𝑛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he-IL" sz="2400" b="1" dirty="0" smtClean="0">
                    <a:solidFill>
                      <a:srgbClr val="FFFF00"/>
                    </a:solidFill>
                  </a:rPr>
                  <a:t>מנקודת מבטה של גלית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התחנה של דני חולפת על פניה ימינה. גלית רוצה למדוד את אורכה של תחנת החלל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he-IL" sz="2400" dirty="0"/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היא בודקת כמה זמן לקח לתחנה לחלוף על פניה (שעון יחיד), ומכפילה במהירות התנועה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בשעון שלה (</a:t>
                </a:r>
                <a:r>
                  <a:rPr lang="he-IL" sz="2400" dirty="0">
                    <a:solidFill>
                      <a:srgbClr val="FFFF00"/>
                    </a:solidFill>
                  </a:rPr>
                  <a:t>זמן עצמי</a:t>
                </a:r>
                <a:r>
                  <a:rPr lang="he-IL" sz="2400" dirty="0"/>
                  <a:t>) עברו רק 5 דק' 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he-IL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L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IL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 sz="2400" dirty="0"/>
                  <a:t> ומכיוון שמהירות החללית ידועה אז כל אחד מהם מודד אורך אחר . גלית מודדת אורך קטן פי 2 </a:t>
                </a:r>
                <a:r>
                  <a:rPr lang="he-IL" sz="2400" dirty="0">
                    <a:solidFill>
                      <a:srgbClr val="FFFF00"/>
                    </a:solidFill>
                  </a:rPr>
                  <a:t>מהאורך העצמי </a:t>
                </a:r>
                <a:r>
                  <a:rPr lang="he-IL" sz="2400" dirty="0"/>
                  <a:t>שדני מדד</a:t>
                </a:r>
                <a:r>
                  <a:rPr lang="en-US" sz="2400" dirty="0"/>
                  <a:t/>
                </a:r>
                <a:br>
                  <a:rPr lang="en-US" sz="2400" dirty="0"/>
                </a:br>
                <a:endParaRPr lang="he-IL" sz="2400" dirty="0"/>
              </a:p>
              <a:p>
                <a:pPr>
                  <a:lnSpc>
                    <a:spcPct val="150000"/>
                  </a:lnSpc>
                </a:pPr>
                <a:endParaRPr lang="en-US" sz="2400" dirty="0"/>
              </a:p>
              <a:p>
                <a:pPr>
                  <a:lnSpc>
                    <a:spcPct val="150000"/>
                  </a:lnSpc>
                </a:pPr>
                <a:endParaRPr lang="en-US" sz="3200" dirty="0"/>
              </a:p>
            </p:txBody>
          </p:sp>
        </mc:Choice>
        <mc:Fallback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97AE976D-5A33-0B91-BDA7-819E1FB03D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53" y="1508759"/>
                <a:ext cx="11272023" cy="5349241"/>
              </a:xfrm>
              <a:prstGeom prst="roundRect">
                <a:avLst/>
              </a:prstGeom>
              <a:blipFill>
                <a:blip r:embed="rId2"/>
                <a:stretch>
                  <a:fillRect b="-10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771072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DA520-B83C-88CE-6940-2AC41DE8F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46B919E-58AA-3FE2-4440-B2CC5B386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התקצרות האורך</a:t>
            </a:r>
            <a:endParaRPr lang="en-US" dirty="0"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97AE976D-5A33-0B91-BDA7-819E1FB03D57}"/>
                  </a:ext>
                </a:extLst>
              </p:cNvPr>
              <p:cNvSpPr/>
              <p:nvPr/>
            </p:nvSpPr>
            <p:spPr>
              <a:xfrm>
                <a:off x="194553" y="1508759"/>
                <a:ext cx="11272023" cy="534924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150000"/>
                  </a:lnSpc>
                </a:pPr>
                <a:r>
                  <a:rPr lang="he-IL" sz="2400" b="1" dirty="0" smtClean="0">
                    <a:solidFill>
                      <a:srgbClr val="FFFF00"/>
                    </a:solidFill>
                  </a:rPr>
                  <a:t>מנקודת </a:t>
                </a:r>
                <a:r>
                  <a:rPr lang="he-IL" sz="2400" b="1" dirty="0">
                    <a:solidFill>
                      <a:srgbClr val="FFFF00"/>
                    </a:solidFill>
                  </a:rPr>
                  <a:t>מבטו של דני </a:t>
                </a:r>
                <a:endParaRPr lang="en-US" sz="2400" b="1" dirty="0">
                  <a:solidFill>
                    <a:srgbClr val="FFFF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לקח לגלית 10 דקות עד שגלית עברה את תחנת החלל . ולכן הוא מבין ש: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he-IL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he-IL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he-IL" sz="2400" b="1" dirty="0" smtClean="0">
                    <a:solidFill>
                      <a:srgbClr val="FFFF00"/>
                    </a:solidFill>
                  </a:rPr>
                  <a:t>ז"א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he-IL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he-IL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L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he-I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he-I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he-I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he-I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866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he-I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he-I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𝑚𝑖𝑛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he-IL" sz="2400" b="1" dirty="0" smtClean="0">
                    <a:solidFill>
                      <a:srgbClr val="FFFF00"/>
                    </a:solidFill>
                  </a:rPr>
                  <a:t>מנקודת מבטה של גלית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התחנה של דני חולפת על פניה ימינה. גלית רוצה למדוד את אורכה של תחנת החלל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he-IL" sz="2400" dirty="0"/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היא בודקת כמה זמן לקח לתחנה לחלוף על פניה (שעון יחיד), ומכפילה במהירות התנועה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sz="2400" dirty="0"/>
                  <a:t>בשעון שלה (</a:t>
                </a:r>
                <a:r>
                  <a:rPr lang="he-IL" sz="2400" dirty="0">
                    <a:solidFill>
                      <a:srgbClr val="FFFF00"/>
                    </a:solidFill>
                  </a:rPr>
                  <a:t>זמן עצמי</a:t>
                </a:r>
                <a:r>
                  <a:rPr lang="he-IL" sz="2400" dirty="0"/>
                  <a:t>) עברו רק 5 דק' 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he-IL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866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𝑚𝑖𝑛</m:t>
                    </m:r>
                  </m:oMath>
                </a14:m>
                <a:r>
                  <a:rPr lang="he-IL" sz="2400" dirty="0"/>
                  <a:t> ומכיוון שמהירות החללית ידועה אז כל אחד מהם מודד אורך אחר . </a:t>
                </a:r>
                <a:endParaRPr lang="en-US" sz="2400" dirty="0" smtClean="0"/>
              </a:p>
              <a:p>
                <a:pPr>
                  <a:lnSpc>
                    <a:spcPct val="150000"/>
                  </a:lnSpc>
                </a:pPr>
                <a:r>
                  <a:rPr lang="he-IL" sz="2400" dirty="0" smtClean="0"/>
                  <a:t>גלית </a:t>
                </a:r>
                <a:r>
                  <a:rPr lang="he-IL" sz="2400" dirty="0"/>
                  <a:t>מודדת אורך קטן פי 2 </a:t>
                </a:r>
                <a:r>
                  <a:rPr lang="he-IL" sz="2400" dirty="0">
                    <a:solidFill>
                      <a:srgbClr val="FFFF00"/>
                    </a:solidFill>
                  </a:rPr>
                  <a:t>מהאורך העצמי </a:t>
                </a:r>
                <a:r>
                  <a:rPr lang="he-IL" sz="2400" dirty="0"/>
                  <a:t>שדני מדד</a:t>
                </a:r>
                <a:r>
                  <a:rPr lang="en-US" sz="2400" dirty="0"/>
                  <a:t/>
                </a:r>
                <a:br>
                  <a:rPr lang="en-US" sz="2400" dirty="0"/>
                </a:br>
                <a:endParaRPr lang="he-IL" sz="2400" dirty="0"/>
              </a:p>
              <a:p>
                <a:pPr>
                  <a:lnSpc>
                    <a:spcPct val="150000"/>
                  </a:lnSpc>
                </a:pPr>
                <a:endParaRPr lang="en-US" sz="2400" dirty="0"/>
              </a:p>
              <a:p>
                <a:pPr>
                  <a:lnSpc>
                    <a:spcPct val="150000"/>
                  </a:lnSpc>
                </a:pPr>
                <a:endParaRPr lang="en-US" sz="3200" dirty="0"/>
              </a:p>
            </p:txBody>
          </p:sp>
        </mc:Choice>
        <mc:Fallback>
          <p:sp>
            <p:nvSpPr>
              <p:cNvPr id="8" name="מלבן: פינות מעוגלות 7">
                <a:extLst>
                  <a:ext uri="{FF2B5EF4-FFF2-40B4-BE49-F238E27FC236}">
                    <a16:creationId xmlns:a16="http://schemas.microsoft.com/office/drawing/2014/main" id="{97AE976D-5A33-0B91-BDA7-819E1FB03D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53" y="1508759"/>
                <a:ext cx="11272023" cy="5349241"/>
              </a:xfrm>
              <a:prstGeom prst="roundRect">
                <a:avLst/>
              </a:prstGeom>
              <a:blipFill>
                <a:blip r:embed="rId2"/>
                <a:stretch>
                  <a:fillRect b="-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34795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DA520-B83C-88CE-6940-2AC41DE8F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46B919E-58AA-3FE2-4440-B2CC5B386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התקצרות האורך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97AE976D-5A33-0B91-BDA7-819E1FB03D57}"/>
              </a:ext>
            </a:extLst>
          </p:cNvPr>
          <p:cNvSpPr/>
          <p:nvPr/>
        </p:nvSpPr>
        <p:spPr>
          <a:xfrm>
            <a:off x="194553" y="1508759"/>
            <a:ext cx="11272023" cy="53492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he-IL" sz="2800" b="1" dirty="0">
                <a:solidFill>
                  <a:srgbClr val="FFFF00"/>
                </a:solidFill>
              </a:rPr>
              <a:t>דני מסביר את הניסוי דרך הזמן:</a:t>
            </a:r>
            <a:r>
              <a:rPr lang="he-IL" sz="2800" dirty="0">
                <a:solidFill>
                  <a:srgbClr val="FFFF00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he-IL" sz="2800" dirty="0"/>
              <a:t>לקח לגלית 10 דקות לעבור את התחנה שלי, אבל בגלל שהזמן שלה זז לאט, שעון היד שלה הספיק לתקתק רק 5 דקות.</a:t>
            </a:r>
          </a:p>
          <a:p>
            <a:pPr>
              <a:lnSpc>
                <a:spcPct val="150000"/>
              </a:lnSpc>
            </a:pPr>
            <a:r>
              <a:rPr lang="he-IL" sz="2800" b="1" dirty="0">
                <a:solidFill>
                  <a:srgbClr val="FFFF00"/>
                </a:solidFill>
              </a:rPr>
              <a:t>גלית מסבירה את הניסוי דרך המרחב:</a:t>
            </a:r>
            <a:r>
              <a:rPr lang="he-IL" sz="2800" dirty="0">
                <a:solidFill>
                  <a:srgbClr val="FFFF00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he-IL" sz="2800" dirty="0"/>
              <a:t>בשעון שלי עברו 5 דקות רגילות לחלוטין, והסיבה שהספקתי לעבור את כל התחנה בזמן הזה היא שהתחנה של דני התקצרה במרחב.</a:t>
            </a:r>
          </a:p>
          <a:p>
            <a:endParaRPr lang="he-IL" sz="2800" dirty="0"/>
          </a:p>
          <a:p>
            <a:r>
              <a:rPr lang="he-IL" sz="2800" dirty="0"/>
              <a:t>		שתי הפרשנויות נכונות לחלוטין ומשלימות זו את זו.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/>
            </a:r>
            <a:br>
              <a:rPr lang="en-US" sz="2400" dirty="0"/>
            </a:br>
            <a:endParaRPr lang="he-IL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3928088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28C4D-10AB-422A-0382-EE2B63C49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E0361E7-CF32-E63B-BA88-C91B86E3B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cs typeface="+mn-cs"/>
              </a:rPr>
              <a:t>האם גם </a:t>
            </a:r>
            <a:r>
              <a:rPr lang="he-IL" dirty="0" err="1">
                <a:cs typeface="+mn-cs"/>
              </a:rPr>
              <a:t>המימד</a:t>
            </a:r>
            <a:r>
              <a:rPr lang="he-IL" dirty="0">
                <a:cs typeface="+mn-cs"/>
              </a:rPr>
              <a:t> הניצב למהירות מתקצר ?</a:t>
            </a:r>
            <a:endParaRPr lang="en-US" dirty="0">
              <a:cs typeface="+mn-cs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B06D8467-7F4A-3A61-A566-9554A8D2EAA0}"/>
              </a:ext>
            </a:extLst>
          </p:cNvPr>
          <p:cNvSpPr/>
          <p:nvPr/>
        </p:nvSpPr>
        <p:spPr>
          <a:xfrm>
            <a:off x="194553" y="1403231"/>
            <a:ext cx="11272023" cy="54547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he-IL" sz="2800" b="1" dirty="0">
                <a:solidFill>
                  <a:schemeClr val="bg1"/>
                </a:solidFill>
              </a:rPr>
              <a:t>עד כה ראינו </a:t>
            </a:r>
            <a:r>
              <a:rPr lang="he-IL" sz="2800" b="1" dirty="0" err="1">
                <a:solidFill>
                  <a:schemeClr val="bg1"/>
                </a:solidFill>
              </a:rPr>
              <a:t>שהמימד</a:t>
            </a:r>
            <a:r>
              <a:rPr lang="he-IL" sz="2800" b="1" dirty="0">
                <a:solidFill>
                  <a:schemeClr val="bg1"/>
                </a:solidFill>
              </a:rPr>
              <a:t> שמקביל לכיוון ההתקדמות מתקצר</a:t>
            </a:r>
          </a:p>
          <a:p>
            <a:pPr algn="ctr">
              <a:lnSpc>
                <a:spcPct val="150000"/>
              </a:lnSpc>
            </a:pPr>
            <a:r>
              <a:rPr lang="he-IL" sz="3200" b="1" dirty="0">
                <a:solidFill>
                  <a:srgbClr val="FFFF00"/>
                </a:solidFill>
              </a:rPr>
              <a:t>ומה על </a:t>
            </a:r>
            <a:r>
              <a:rPr lang="he-IL" sz="3200" b="1" dirty="0" err="1">
                <a:solidFill>
                  <a:srgbClr val="FFFF00"/>
                </a:solidFill>
              </a:rPr>
              <a:t>המימד</a:t>
            </a:r>
            <a:r>
              <a:rPr lang="he-IL" sz="3200" b="1" dirty="0">
                <a:solidFill>
                  <a:srgbClr val="FFFF00"/>
                </a:solidFill>
              </a:rPr>
              <a:t> שמאונך לכיוון ההתקדמות ? </a:t>
            </a:r>
            <a:endParaRPr lang="he-IL" sz="3200" dirty="0"/>
          </a:p>
          <a:p>
            <a:pPr>
              <a:lnSpc>
                <a:spcPct val="150000"/>
              </a:lnSpc>
            </a:pPr>
            <a:r>
              <a:rPr lang="he-IL" sz="2400" dirty="0"/>
              <a:t>נניח שהגובה מתקצר 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נתאר לעצמנו רכבת שנעה לעבר מנהרה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מנקודת המבט של הרכבת המנהרה מתנמכת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מנקודת המבט של המנהרה הרכבת מתנמכת 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ולכן לכאורה הרכבת תתנגש בתקרה משתי 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נקודות המבט. ומכיוון שהאירוע הפיסי (התנגשות) אינו תלוי מערכת אלא מציאות הרי שכנראה שלא </a:t>
            </a:r>
            <a:r>
              <a:rPr lang="he-IL" sz="2400" dirty="0" err="1"/>
              <a:t>היתה</a:t>
            </a:r>
            <a:r>
              <a:rPr lang="he-IL" sz="2400" dirty="0"/>
              <a:t> התכווצות כלל . כאן ההתנגשות היא בו זמנית ולא לא ניתן להתווכח .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3200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365B27A7-02D3-D2EE-1E7F-5A3187BB0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30" y="3429000"/>
            <a:ext cx="4055853" cy="243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52362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טיפים לפתרון בעיות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446" y="1825625"/>
            <a:ext cx="11315700" cy="4351338"/>
          </a:xfrm>
        </p:spPr>
        <p:txBody>
          <a:bodyPr/>
          <a:lstStyle/>
          <a:p>
            <a:pPr marL="0" indent="0">
              <a:buNone/>
            </a:pPr>
            <a:r>
              <a:rPr lang="he-IL" sz="3200" b="1" dirty="0" smtClean="0"/>
              <a:t>זמן עצמי </a:t>
            </a:r>
          </a:p>
          <a:p>
            <a:pPr marL="0" indent="0">
              <a:buNone/>
            </a:pPr>
            <a:r>
              <a:rPr lang="he-IL" b="1" dirty="0"/>
              <a:t>חוק </a:t>
            </a:r>
            <a:r>
              <a:rPr lang="he-IL" b="1" dirty="0" smtClean="0"/>
              <a:t>השעון הבודד</a:t>
            </a:r>
            <a:r>
              <a:rPr lang="he-IL" dirty="0" smtClean="0"/>
              <a:t>: הזמן הנמדד בשעון שנמצא באותו מקום בתחילת הניסוי ובסופו</a:t>
            </a:r>
          </a:p>
          <a:p>
            <a:pPr marL="0" indent="0">
              <a:buNone/>
            </a:pPr>
            <a:endParaRPr lang="he-IL" sz="3200" b="1" dirty="0" smtClean="0"/>
          </a:p>
          <a:p>
            <a:pPr marL="0" indent="0">
              <a:buNone/>
            </a:pPr>
            <a:r>
              <a:rPr lang="he-IL" sz="3200" b="1" dirty="0" smtClean="0"/>
              <a:t>אורך עצמי </a:t>
            </a:r>
            <a:r>
              <a:rPr lang="he-IL" dirty="0" smtClean="0"/>
              <a:t> </a:t>
            </a:r>
          </a:p>
          <a:p>
            <a:pPr marL="0" indent="0">
              <a:buNone/>
            </a:pPr>
            <a:r>
              <a:rPr lang="he-IL" b="1" dirty="0" smtClean="0"/>
              <a:t>חוק הסרגל המונח: </a:t>
            </a:r>
            <a:r>
              <a:rPr lang="he-IL" dirty="0" smtClean="0"/>
              <a:t>האורך הנמדד במערכת שאינה נעה יחסית לעצם הנמדד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sz="3200" b="1" dirty="0" smtClean="0"/>
              <a:t>המהירות היחסית </a:t>
            </a:r>
          </a:p>
          <a:p>
            <a:pPr marL="0" indent="0">
              <a:buNone/>
            </a:pPr>
            <a:r>
              <a:rPr lang="he-IL" dirty="0" smtClean="0"/>
              <a:t>שווה בגודלה והפוכה בכיוונה לשתי המערכות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732672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2804</TotalTime>
  <Words>7209</Words>
  <Application>Microsoft Office PowerPoint</Application>
  <PresentationFormat>Widescreen</PresentationFormat>
  <Paragraphs>684</Paragraphs>
  <Slides>102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10" baseType="lpstr">
      <vt:lpstr>Aptos</vt:lpstr>
      <vt:lpstr>Aptos Display</vt:lpstr>
      <vt:lpstr>Arial</vt:lpstr>
      <vt:lpstr>Calibri</vt:lpstr>
      <vt:lpstr>Cambria Math</vt:lpstr>
      <vt:lpstr>Google Sans Text</vt:lpstr>
      <vt:lpstr>Times New Roman</vt:lpstr>
      <vt:lpstr>ערכת נושא Office</vt:lpstr>
      <vt:lpstr>שיעור 1 יחסות פרטית </vt:lpstr>
      <vt:lpstr>מדידת מהירות האור ע"י רומר (1675)</vt:lpstr>
      <vt:lpstr>מדידת מהירות האור ע"י ברדלי (1675)</vt:lpstr>
      <vt:lpstr>מדידת מהירות האור ע"י ברדלי (1675)</vt:lpstr>
      <vt:lpstr>מדידת מהירות האור ע"י ברדלי (1675)</vt:lpstr>
      <vt:lpstr>מדידת מהירות האור ע"י ברדלי (1675)</vt:lpstr>
      <vt:lpstr>מדידת מהירות האור ע"י ברדלי (1675)</vt:lpstr>
      <vt:lpstr>מדידת מהירות האור ע"י ברדלי (1675)</vt:lpstr>
      <vt:lpstr>טרנספורמצית גלילאו</vt:lpstr>
      <vt:lpstr>טרנספורמצית גלילאו</vt:lpstr>
      <vt:lpstr>מערכות ייחוס</vt:lpstr>
      <vt:lpstr>מערכות ייחוס</vt:lpstr>
      <vt:lpstr>מערכות ייחוס</vt:lpstr>
      <vt:lpstr>דוגמאות למערכות ייחוס</vt:lpstr>
      <vt:lpstr>מערכת ייחוס מוחלטת</vt:lpstr>
      <vt:lpstr>מערכת ייחוס מוחלטת</vt:lpstr>
      <vt:lpstr>מדידת מהירות</vt:lpstr>
      <vt:lpstr>מדידת מהירות</vt:lpstr>
      <vt:lpstr>משוואות מקסוול</vt:lpstr>
      <vt:lpstr>האתר </vt:lpstr>
      <vt:lpstr>ניסוי מייקלסון מורלי-1887 </vt:lpstr>
      <vt:lpstr>ניסוי מייקלסון מורלי-מערך הניסוי </vt:lpstr>
      <vt:lpstr>ניסוי מייקלסון מורלי-מערך הניסוי </vt:lpstr>
      <vt:lpstr>ניסוי מייקלסון מורלי-תוצאות מצופות</vt:lpstr>
      <vt:lpstr>ניסוי מייקלסון מורלי-תוצאות מצופות</vt:lpstr>
      <vt:lpstr>ניסוי מייקלסון מורלי-תוצאות מצופות</vt:lpstr>
      <vt:lpstr>ניסוי מייקלסון מורלי-תוצאות מצופות</vt:lpstr>
      <vt:lpstr>ניסוי מייקלסון מורלי-תוצאות מצופות</vt:lpstr>
      <vt:lpstr>ניסוי מייקלסון מורלי-תוצאות מצופות</vt:lpstr>
      <vt:lpstr>ניסוי מייקלסון מורלי-תוצאות מצופות</vt:lpstr>
      <vt:lpstr>ניסוי מייקלסון מורלי-תוצאות מצופות</vt:lpstr>
      <vt:lpstr>ניסוי מייקלסון מורלי-הפרש הדרכים</vt:lpstr>
      <vt:lpstr>ניסוי מייקלסון מורלי-הפרש הדרכים</vt:lpstr>
      <vt:lpstr>ניסוי מייקלסון מורלי-הפרש הדרכים</vt:lpstr>
      <vt:lpstr>ניסוי מייקלסון מורלי-פסי התאבכות</vt:lpstr>
      <vt:lpstr>ניסוי מייקלסון מורלי-פסי התאבכות</vt:lpstr>
      <vt:lpstr>ניסוי מייקלסון מורלי-מסקנות</vt:lpstr>
      <vt:lpstr>אז אין אתר ?</vt:lpstr>
      <vt:lpstr>הסברים אפשריים לתוצאה</vt:lpstr>
      <vt:lpstr>הסברים אפשריים לתוצאה</vt:lpstr>
      <vt:lpstr>התכווצות לורנץ</vt:lpstr>
      <vt:lpstr>התכווצות לורנץ</vt:lpstr>
      <vt:lpstr>התכווצות לורנץ</vt:lpstr>
      <vt:lpstr>אינשטיין</vt:lpstr>
      <vt:lpstr>אינשטיין</vt:lpstr>
      <vt:lpstr>PowerPoint Presentation</vt:lpstr>
      <vt:lpstr>סימולטניות</vt:lpstr>
      <vt:lpstr>סימולטניות</vt:lpstr>
      <vt:lpstr>סימולטניות</vt:lpstr>
      <vt:lpstr>סימולטניות</vt:lpstr>
      <vt:lpstr>PowerPoint Presentation</vt:lpstr>
      <vt:lpstr>התארכות הזמן</vt:lpstr>
      <vt:lpstr>התארכות הזמן</vt:lpstr>
      <vt:lpstr>התארכות הזמן</vt:lpstr>
      <vt:lpstr>התארכות הזמן</vt:lpstr>
      <vt:lpstr>התארכות הזמן</vt:lpstr>
      <vt:lpstr>התארכות הזמן</vt:lpstr>
      <vt:lpstr>התארכות הזמן</vt:lpstr>
      <vt:lpstr>זמן עצמי ומערכת עצמית</vt:lpstr>
      <vt:lpstr>התארכות הזמן - דגשים </vt:lpstr>
      <vt:lpstr>התארכות הזמן - דגשים </vt:lpstr>
      <vt:lpstr>התארכות הזמן - דגשים </vt:lpstr>
      <vt:lpstr>ניסוי המיואונים – Muons </vt:lpstr>
      <vt:lpstr>עקרון הסימטריה</vt:lpstr>
      <vt:lpstr>עקרון הסימטריה</vt:lpstr>
      <vt:lpstr>עקרון הסימטריה- פתרון אינטואיטיבי</vt:lpstr>
      <vt:lpstr>עקרון הסימטריה- פתרון אינטואיטיבי</vt:lpstr>
      <vt:lpstr>עקרון הסימטריה- פתרון אינטואיטיבי</vt:lpstr>
      <vt:lpstr>עקרון הסימטריה- פתרון פיסיקאלי</vt:lpstr>
      <vt:lpstr>עקרון הסימטריה- פתרון פיסיקאלי</vt:lpstr>
      <vt:lpstr>עקרון הסימטריה- פתרון פיסיקאלי</vt:lpstr>
      <vt:lpstr>עקרון הסימטריה- פתרון פיסיקאלי</vt:lpstr>
      <vt:lpstr>עקרון הסימטריה- פתרון פיסיקאלי</vt:lpstr>
      <vt:lpstr>PowerPoint Presentation</vt:lpstr>
      <vt:lpstr>עקרון הסימטריה- פתרון פיסיקאלי</vt:lpstr>
      <vt:lpstr>עקרון הסימטריה- פתרון פיסיקאלי</vt:lpstr>
      <vt:lpstr>עקרון הסימטריה- פתרון פיסיקאלי</vt:lpstr>
      <vt:lpstr>עקרון הסימטריה</vt:lpstr>
      <vt:lpstr>עקרון הסימטריה- דוגמא מספרית</vt:lpstr>
      <vt:lpstr>עקרון הסימטריה- דוגמא מספרית</vt:lpstr>
      <vt:lpstr>עקרון הסימטריה- דוגמא מספרית</vt:lpstr>
      <vt:lpstr>PowerPoint Presentation</vt:lpstr>
      <vt:lpstr>עקרון הסימטריה- פתרון</vt:lpstr>
      <vt:lpstr>ניסוי הרכבת </vt:lpstr>
      <vt:lpstr>ניסוי הרכבת </vt:lpstr>
      <vt:lpstr>ניסוי הרכבת </vt:lpstr>
      <vt:lpstr>ניסוי הרכבת </vt:lpstr>
      <vt:lpstr>ניסוי הרכבת </vt:lpstr>
      <vt:lpstr>פתרון הפרדוקס</vt:lpstr>
      <vt:lpstr>פתרון הפרדוקס</vt:lpstr>
      <vt:lpstr>פתרון הפרדוקס</vt:lpstr>
      <vt:lpstr>סיכום</vt:lpstr>
      <vt:lpstr>סיכום</vt:lpstr>
      <vt:lpstr>פרדוקס התאומים </vt:lpstr>
      <vt:lpstr>התקצרות האורך</vt:lpstr>
      <vt:lpstr>התקצרות האורך</vt:lpstr>
      <vt:lpstr>התקצרות האורך</vt:lpstr>
      <vt:lpstr>התקצרות האורך</vt:lpstr>
      <vt:lpstr>התקצרות האורך</vt:lpstr>
      <vt:lpstr>התקצרות האורך</vt:lpstr>
      <vt:lpstr>האם גם המימד הניצב למהירות מתקצר ?</vt:lpstr>
      <vt:lpstr>טיפים לפתרון בעיות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Menashe Puterkovsay</dc:creator>
  <cp:lastModifiedBy>Menashe Puterkovsky</cp:lastModifiedBy>
  <cp:revision>59</cp:revision>
  <dcterms:created xsi:type="dcterms:W3CDTF">2026-05-25T13:48:03Z</dcterms:created>
  <dcterms:modified xsi:type="dcterms:W3CDTF">2026-05-31T10:05:33Z</dcterms:modified>
</cp:coreProperties>
</file>